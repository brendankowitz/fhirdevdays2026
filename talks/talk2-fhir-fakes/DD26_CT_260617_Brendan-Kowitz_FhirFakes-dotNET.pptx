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31" r:id="rId17"/>
    <p:sldId id="316" r:id="rId18"/>
    <p:sldId id="317" r:id="rId19"/>
    <p:sldId id="318" r:id="rId20"/>
    <p:sldId id="319" r:id="rId21"/>
    <p:sldId id="330" r:id="rId22"/>
    <p:sldId id="320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960"/>
    <a:srgbClr val="FCE32D"/>
    <a:srgbClr val="A72931"/>
    <a:srgbClr val="B6B6B6"/>
    <a:srgbClr val="0091B9"/>
    <a:srgbClr val="F8E12B"/>
    <a:srgbClr val="0092B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EE691E-302B-45FB-BD4D-4E4300111568}" v="6" dt="2026-06-14T23:32:45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5000"/>
  </p:normalViewPr>
  <p:slideViewPr>
    <p:cSldViewPr snapToGrid="0" snapToObjects="1" showGuides="1">
      <p:cViewPr varScale="1">
        <p:scale>
          <a:sx n="101" d="100"/>
          <a:sy n="101" d="100"/>
        </p:scale>
        <p:origin x="144" y="222"/>
      </p:cViewPr>
      <p:guideLst>
        <p:guide orient="horz" pos="2160"/>
        <p:guide pos="3840"/>
      </p:guideLst>
    </p:cSldViewPr>
  </p:slideViewPr>
  <p:notesTextViewPr>
    <p:cViewPr>
      <p:scale>
        <a:sx n="85" d="100"/>
        <a:sy n="85" d="100"/>
      </p:scale>
      <p:origin x="0" y="0"/>
    </p:cViewPr>
  </p:notesTextViewPr>
  <p:notesViewPr>
    <p:cSldViewPr snapToGrid="0" snapToObjects="1" showGuides="1">
      <p:cViewPr varScale="1">
        <p:scale>
          <a:sx n="159" d="100"/>
          <a:sy n="159" d="100"/>
        </p:scale>
        <p:origin x="2624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Kowitz" userId="78f460ffbb23f3a5" providerId="LiveId" clId="{9B7601C6-B36E-4F0B-A9E1-9E7E69A268BF}"/>
    <pc:docChg chg="custSel addSld delSld modSld">
      <pc:chgData name="Brendan Kowitz" userId="78f460ffbb23f3a5" providerId="LiveId" clId="{9B7601C6-B36E-4F0B-A9E1-9E7E69A268BF}" dt="2026-06-14T23:32:54.866" v="45" actId="207"/>
      <pc:docMkLst>
        <pc:docMk/>
      </pc:docMkLst>
      <pc:sldChg chg="modSp mod">
        <pc:chgData name="Brendan Kowitz" userId="78f460ffbb23f3a5" providerId="LiveId" clId="{9B7601C6-B36E-4F0B-A9E1-9E7E69A268BF}" dt="2026-06-14T20:09:28.876" v="28" actId="27636"/>
        <pc:sldMkLst>
          <pc:docMk/>
          <pc:sldMk cId="30502263" sldId="300"/>
        </pc:sldMkLst>
        <pc:spChg chg="mod">
          <ac:chgData name="Brendan Kowitz" userId="78f460ffbb23f3a5" providerId="LiveId" clId="{9B7601C6-B36E-4F0B-A9E1-9E7E69A268BF}" dt="2026-06-14T20:09:28.876" v="28" actId="27636"/>
          <ac:spMkLst>
            <pc:docMk/>
            <pc:sldMk cId="30502263" sldId="300"/>
            <ac:spMk id="2" creationId="{2E96588F-E356-15BC-F4EC-039964E9AF3F}"/>
          </ac:spMkLst>
        </pc:spChg>
      </pc:sldChg>
      <pc:sldChg chg="delSp mod">
        <pc:chgData name="Brendan Kowitz" userId="78f460ffbb23f3a5" providerId="LiveId" clId="{9B7601C6-B36E-4F0B-A9E1-9E7E69A268BF}" dt="2026-06-14T20:05:22.712" v="0" actId="478"/>
        <pc:sldMkLst>
          <pc:docMk/>
          <pc:sldMk cId="0" sldId="305"/>
        </pc:sldMkLst>
        <pc:spChg chg="del">
          <ac:chgData name="Brendan Kowitz" userId="78f460ffbb23f3a5" providerId="LiveId" clId="{9B7601C6-B36E-4F0B-A9E1-9E7E69A268BF}" dt="2026-06-14T20:05:22.712" v="0" actId="478"/>
          <ac:spMkLst>
            <pc:docMk/>
            <pc:sldMk cId="0" sldId="305"/>
            <ac:spMk id="410" creationId="{00000000-0000-0000-0000-000000000000}"/>
          </ac:spMkLst>
        </pc:spChg>
      </pc:sldChg>
      <pc:sldChg chg="delSp modSp mod">
        <pc:chgData name="Brendan Kowitz" userId="78f460ffbb23f3a5" providerId="LiveId" clId="{9B7601C6-B36E-4F0B-A9E1-9E7E69A268BF}" dt="2026-06-14T20:07:05.811" v="6" actId="478"/>
        <pc:sldMkLst>
          <pc:docMk/>
          <pc:sldMk cId="0" sldId="310"/>
        </pc:sldMkLst>
        <pc:spChg chg="mod">
          <ac:chgData name="Brendan Kowitz" userId="78f460ffbb23f3a5" providerId="LiveId" clId="{9B7601C6-B36E-4F0B-A9E1-9E7E69A268BF}" dt="2026-06-14T20:06:43.952" v="5" actId="20577"/>
          <ac:spMkLst>
            <pc:docMk/>
            <pc:sldMk cId="0" sldId="310"/>
            <ac:spMk id="584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0:07:05.811" v="6" actId="478"/>
          <ac:spMkLst>
            <pc:docMk/>
            <pc:sldMk cId="0" sldId="310"/>
            <ac:spMk id="644" creationId="{00000000-0000-0000-0000-000000000000}"/>
          </ac:spMkLst>
        </pc:spChg>
      </pc:sldChg>
      <pc:sldChg chg="delSp modSp mod">
        <pc:chgData name="Brendan Kowitz" userId="78f460ffbb23f3a5" providerId="LiveId" clId="{9B7601C6-B36E-4F0B-A9E1-9E7E69A268BF}" dt="2026-06-14T20:08:17.871" v="27" actId="20577"/>
        <pc:sldMkLst>
          <pc:docMk/>
          <pc:sldMk cId="0" sldId="311"/>
        </pc:sldMkLst>
        <pc:spChg chg="mod">
          <ac:chgData name="Brendan Kowitz" userId="78f460ffbb23f3a5" providerId="LiveId" clId="{9B7601C6-B36E-4F0B-A9E1-9E7E69A268BF}" dt="2026-06-14T20:07:25.467" v="7" actId="20577"/>
          <ac:spMkLst>
            <pc:docMk/>
            <pc:sldMk cId="0" sldId="311"/>
            <ac:spMk id="650" creationId="{00000000-0000-0000-0000-000000000000}"/>
          </ac:spMkLst>
        </pc:spChg>
        <pc:spChg chg="mod">
          <ac:chgData name="Brendan Kowitz" userId="78f460ffbb23f3a5" providerId="LiveId" clId="{9B7601C6-B36E-4F0B-A9E1-9E7E69A268BF}" dt="2026-06-14T20:08:17.871" v="27" actId="20577"/>
          <ac:spMkLst>
            <pc:docMk/>
            <pc:sldMk cId="0" sldId="311"/>
            <ac:spMk id="664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0:07:51.102" v="8" actId="478"/>
          <ac:spMkLst>
            <pc:docMk/>
            <pc:sldMk cId="0" sldId="311"/>
            <ac:spMk id="666" creationId="{00000000-0000-0000-0000-000000000000}"/>
          </ac:spMkLst>
        </pc:spChg>
      </pc:sldChg>
      <pc:sldChg chg="del">
        <pc:chgData name="Brendan Kowitz" userId="78f460ffbb23f3a5" providerId="LiveId" clId="{9B7601C6-B36E-4F0B-A9E1-9E7E69A268BF}" dt="2026-06-14T20:14:11.883" v="30"/>
        <pc:sldMkLst>
          <pc:docMk/>
          <pc:sldMk cId="0" sldId="315"/>
        </pc:sldMkLst>
      </pc:sldChg>
      <pc:sldChg chg="modSp mod">
        <pc:chgData name="Brendan Kowitz" userId="78f460ffbb23f3a5" providerId="LiveId" clId="{9B7601C6-B36E-4F0B-A9E1-9E7E69A268BF}" dt="2026-06-14T23:30:41.185" v="37" actId="20577"/>
        <pc:sldMkLst>
          <pc:docMk/>
          <pc:sldMk cId="0" sldId="319"/>
        </pc:sldMkLst>
        <pc:spChg chg="mod">
          <ac:chgData name="Brendan Kowitz" userId="78f460ffbb23f3a5" providerId="LiveId" clId="{9B7601C6-B36E-4F0B-A9E1-9E7E69A268BF}" dt="2026-06-14T23:30:26.862" v="33" actId="20577"/>
          <ac:spMkLst>
            <pc:docMk/>
            <pc:sldMk cId="0" sldId="319"/>
            <ac:spMk id="878" creationId="{00000000-0000-0000-0000-000000000000}"/>
          </ac:spMkLst>
        </pc:spChg>
        <pc:spChg chg="mod">
          <ac:chgData name="Brendan Kowitz" userId="78f460ffbb23f3a5" providerId="LiveId" clId="{9B7601C6-B36E-4F0B-A9E1-9E7E69A268BF}" dt="2026-06-14T23:30:41.185" v="37" actId="20577"/>
          <ac:spMkLst>
            <pc:docMk/>
            <pc:sldMk cId="0" sldId="319"/>
            <ac:spMk id="880" creationId="{00000000-0000-0000-0000-000000000000}"/>
          </ac:spMkLst>
        </pc:spChg>
      </pc:sldChg>
      <pc:sldChg chg="addSp delSp mod">
        <pc:chgData name="Brendan Kowitz" userId="78f460ffbb23f3a5" providerId="LiveId" clId="{9B7601C6-B36E-4F0B-A9E1-9E7E69A268BF}" dt="2026-06-14T23:30:08.373" v="32" actId="22"/>
        <pc:sldMkLst>
          <pc:docMk/>
          <pc:sldMk cId="0" sldId="330"/>
        </pc:sldMkLst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3" creationId="{A5986C1D-2F4D-6C4D-1948-D4732F423D6C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15" creationId="{73D4D013-B4FA-07AA-06D2-5540B48A230C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19" creationId="{FA9E4395-8E0A-1555-0EC9-3625323B1B4A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21" creationId="{705D5A98-A206-AC50-7F73-1DB20B181157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23" creationId="{7C151271-B6E0-0229-60AD-303AA0CDEC4E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25" creationId="{7C52DF00-B5AD-5A83-62AC-49A734A15CD7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29" creationId="{918BF176-7706-1F57-F633-22F772A55B85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35" creationId="{B2FE08B8-4A42-A26E-C89C-98B67D900CE5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37" creationId="{2D5CBABA-8FC5-0A21-CB85-AF515814D3CC}"/>
          </ac:spMkLst>
        </pc:spChg>
        <pc:spChg chg="add">
          <ac:chgData name="Brendan Kowitz" userId="78f460ffbb23f3a5" providerId="LiveId" clId="{9B7601C6-B36E-4F0B-A9E1-9E7E69A268BF}" dt="2026-06-14T23:30:08.373" v="32" actId="22"/>
          <ac:spMkLst>
            <pc:docMk/>
            <pc:sldMk cId="0" sldId="330"/>
            <ac:spMk id="43" creationId="{02BB85DA-2110-E8AD-BE40-3C8713C8DFD9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61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62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66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68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70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71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72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73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75" creationId="{00000000-0000-0000-0000-000000000000}"/>
          </ac:spMkLst>
        </pc:spChg>
        <pc:spChg chg="del">
          <ac:chgData name="Brendan Kowitz" userId="78f460ffbb23f3a5" providerId="LiveId" clId="{9B7601C6-B36E-4F0B-A9E1-9E7E69A268BF}" dt="2026-06-14T23:30:08.064" v="31" actId="478"/>
          <ac:spMkLst>
            <pc:docMk/>
            <pc:sldMk cId="0" sldId="330"/>
            <ac:spMk id="376" creationId="{00000000-0000-0000-0000-000000000000}"/>
          </ac:spMkLst>
        </pc:spChg>
      </pc:sldChg>
      <pc:sldChg chg="modSp add mod">
        <pc:chgData name="Brendan Kowitz" userId="78f460ffbb23f3a5" providerId="LiveId" clId="{9B7601C6-B36E-4F0B-A9E1-9E7E69A268BF}" dt="2026-06-14T23:32:54.866" v="45" actId="207"/>
        <pc:sldMkLst>
          <pc:docMk/>
          <pc:sldMk cId="118742918" sldId="331"/>
        </pc:sldMkLst>
        <pc:spChg chg="mod">
          <ac:chgData name="Brendan Kowitz" userId="78f460ffbb23f3a5" providerId="LiveId" clId="{9B7601C6-B36E-4F0B-A9E1-9E7E69A268BF}" dt="2026-06-14T23:32:49.957" v="44" actId="207"/>
          <ac:spMkLst>
            <pc:docMk/>
            <pc:sldMk cId="118742918" sldId="331"/>
            <ac:spMk id="756" creationId="{00000000-0000-0000-0000-000000000000}"/>
          </ac:spMkLst>
        </pc:spChg>
        <pc:spChg chg="mod">
          <ac:chgData name="Brendan Kowitz" userId="78f460ffbb23f3a5" providerId="LiveId" clId="{9B7601C6-B36E-4F0B-A9E1-9E7E69A268BF}" dt="2026-06-14T23:32:54.866" v="45" actId="207"/>
          <ac:spMkLst>
            <pc:docMk/>
            <pc:sldMk cId="118742918" sldId="331"/>
            <ac:spMk id="76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b="1" dirty="0">
              <a:latin typeface="Open Sans Semibold" panose="020B0606030504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FAFB1-094A-5D42-8886-B282110F4595}" type="datetimeFigureOut">
              <a:rPr lang="en-US" b="1" smtClean="0">
                <a:latin typeface="Open Sans Semibold" panose="020B0606030504020204" pitchFamily="34" charset="0"/>
              </a:rPr>
              <a:t>6/14/2026</a:t>
            </a:fld>
            <a:endParaRPr lang="en-US" b="1" dirty="0">
              <a:latin typeface="Open Sans Semibold" panose="020B0606030504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b="1" dirty="0">
              <a:latin typeface="Open Sans Semibold" panose="020B0606030504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82984-3105-B544-B3D7-84F0E25761C1}" type="slidenum">
              <a:rPr lang="en-US" b="1" smtClean="0">
                <a:latin typeface="Open Sans Semibold" panose="020B0606030504020204" pitchFamily="34" charset="0"/>
              </a:rPr>
              <a:t>‹#›</a:t>
            </a:fld>
            <a:endParaRPr lang="en-US" b="1" dirty="0">
              <a:latin typeface="Open Sans Semibold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299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Open Sans Semibold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Open Sans Semibold" panose="020B0606030504020204" pitchFamily="34" charset="0"/>
              </a:defRPr>
            </a:lvl1pPr>
          </a:lstStyle>
          <a:p>
            <a:fld id="{E128261A-6A60-FE4F-8563-E0524938461B}" type="datetimeFigureOut">
              <a:rPr lang="en-US" smtClean="0"/>
              <a:pPr/>
              <a:t>6/14/2026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Open Sans Semibold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Open Sans Semibold" panose="020B0606030504020204" pitchFamily="34" charset="0"/>
              </a:defRPr>
            </a:lvl1pPr>
          </a:lstStyle>
          <a:p>
            <a:fld id="{A69C946F-C9B2-9B49-8DCA-D38D97C43A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0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5EDDA-3C0D-1241-AC8F-D017C7E79D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2338987"/>
            <a:ext cx="12191999" cy="4190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D37FFF-18DE-4F4D-B77B-22BABB2CEC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46315" y="280459"/>
            <a:ext cx="4198193" cy="65895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938C624-0D8D-7E41-BEF0-C701F9C77C76}"/>
              </a:ext>
            </a:extLst>
          </p:cNvPr>
          <p:cNvSpPr/>
          <p:nvPr userDrawn="1"/>
        </p:nvSpPr>
        <p:spPr>
          <a:xfrm>
            <a:off x="0" y="5309666"/>
            <a:ext cx="12192000" cy="15737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Open Sans Semibold" panose="020B0606030504020204" pitchFamily="34" charset="0"/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2AE1739-E845-8A25-C071-BFCF66D89432}"/>
              </a:ext>
            </a:extLst>
          </p:cNvPr>
          <p:cNvSpPr txBox="1">
            <a:spLocks/>
          </p:cNvSpPr>
          <p:nvPr userDrawn="1"/>
        </p:nvSpPr>
        <p:spPr>
          <a:xfrm>
            <a:off x="1253486" y="2867666"/>
            <a:ext cx="10515600" cy="784225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i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HL7 FHIR </a:t>
            </a:r>
            <a:r>
              <a:rPr lang="en-GB" b="1" i="0" dirty="0" err="1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DevDays</a:t>
            </a:r>
            <a:br>
              <a:rPr lang="en-GB" b="1" i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</a:br>
            <a:endParaRPr lang="en-GB" b="1" i="0" dirty="0">
              <a:solidFill>
                <a:srgbClr val="FFD82D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9CB3B69-12B6-1B0A-646D-2C474C59C4A1}"/>
              </a:ext>
            </a:extLst>
          </p:cNvPr>
          <p:cNvSpPr txBox="1">
            <a:spLocks/>
          </p:cNvSpPr>
          <p:nvPr userDrawn="1"/>
        </p:nvSpPr>
        <p:spPr>
          <a:xfrm>
            <a:off x="1253486" y="3324866"/>
            <a:ext cx="10515600" cy="784225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400" b="1" i="0" baseline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The largest FHIR-only</a:t>
            </a:r>
            <a:br>
              <a:rPr lang="en-GB" sz="2400" b="1" i="0" baseline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</a:br>
            <a:r>
              <a:rPr lang="en-GB" sz="2400" b="1" i="0" baseline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event in the world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C5BFA46-7080-1DEA-3859-6133A3941FDC}"/>
              </a:ext>
            </a:extLst>
          </p:cNvPr>
          <p:cNvSpPr txBox="1">
            <a:spLocks/>
          </p:cNvSpPr>
          <p:nvPr userDrawn="1"/>
        </p:nvSpPr>
        <p:spPr>
          <a:xfrm>
            <a:off x="1253486" y="4317266"/>
            <a:ext cx="10515600" cy="784225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b="1" i="0" baseline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Minneapolis, MN</a:t>
            </a:r>
          </a:p>
          <a:p>
            <a:pPr algn="l"/>
            <a:r>
              <a:rPr lang="en-GB" sz="1600" b="1" i="0" baseline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www.devdays.com</a:t>
            </a:r>
            <a:endParaRPr lang="en-GB" sz="1600" b="1" i="0" baseline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en-GB" sz="1600" b="1" i="0" baseline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13B5BC-5A3A-5E7B-D634-363F86ED6400}"/>
              </a:ext>
            </a:extLst>
          </p:cNvPr>
          <p:cNvSpPr/>
          <p:nvPr userDrawn="1"/>
        </p:nvSpPr>
        <p:spPr>
          <a:xfrm>
            <a:off x="0" y="1189104"/>
            <a:ext cx="12192000" cy="1245362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419FCED-BCF4-C294-3CAC-6C7CD9BF8B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213327"/>
            <a:ext cx="10515600" cy="9421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8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26BFC-6193-4960-BEFB-D9E780D5811F}"/>
              </a:ext>
            </a:extLst>
          </p:cNvPr>
          <p:cNvSpPr/>
          <p:nvPr userDrawn="1"/>
        </p:nvSpPr>
        <p:spPr>
          <a:xfrm>
            <a:off x="0" y="1957609"/>
            <a:ext cx="12192000" cy="52429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0831A5-20BF-2D6A-9E54-D1EA71399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58943"/>
            <a:ext cx="10515600" cy="441529"/>
          </a:xfrm>
          <a:prstGeom prst="rect">
            <a:avLst/>
          </a:prstGeom>
        </p:spPr>
        <p:txBody>
          <a:bodyPr tIns="54000" anchor="ctr" anchorCtr="0"/>
          <a:lstStyle>
            <a:lvl1pPr>
              <a:defRPr sz="2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Speaker Name and Company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6F7A54-E6A3-4D0E-841C-58885BF71A68}"/>
              </a:ext>
            </a:extLst>
          </p:cNvPr>
          <p:cNvSpPr/>
          <p:nvPr userDrawn="1"/>
        </p:nvSpPr>
        <p:spPr>
          <a:xfrm>
            <a:off x="0" y="1182730"/>
            <a:ext cx="12192000" cy="125999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7682B1-9E20-27B0-3334-3126914A2BC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29A9AC-BDE6-650D-878E-FF451464206F}"/>
              </a:ext>
            </a:extLst>
          </p:cNvPr>
          <p:cNvSpPr txBox="1"/>
          <p:nvPr userDrawn="1"/>
        </p:nvSpPr>
        <p:spPr>
          <a:xfrm>
            <a:off x="0" y="6581436"/>
            <a:ext cx="12191999" cy="2462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kern="1200" dirty="0">
                <a:solidFill>
                  <a:schemeClr val="bg2">
                    <a:lumMod val="50000"/>
                  </a:schemeClr>
                </a:solidFill>
                <a:effectLst/>
                <a:latin typeface="Calibri" charset="0"/>
                <a:ea typeface="Calibri" charset="0"/>
                <a:cs typeface="Calibri" charset="0"/>
              </a:rPr>
              <a:t>HL7®, FHIR® and the flame Design mark are the registered trademarks of Health Level Seven International and are used with permission.</a:t>
            </a:r>
            <a:endParaRPr lang="en-US" sz="1000" b="0" i="0" dirty="0">
              <a:solidFill>
                <a:schemeClr val="bg2">
                  <a:lumMod val="50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0B8E78-F0FA-1A3A-7572-7E734F03781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592706" y="5822612"/>
            <a:ext cx="3175825" cy="711384"/>
          </a:xfrm>
          <a:prstGeom prst="rect">
            <a:avLst/>
          </a:prstGeom>
        </p:spPr>
      </p:pic>
      <p:sp>
        <p:nvSpPr>
          <p:cNvPr id="21" name="Tekstvak 1">
            <a:extLst>
              <a:ext uri="{FF2B5EF4-FFF2-40B4-BE49-F238E27FC236}">
                <a16:creationId xmlns:a16="http://schemas.microsoft.com/office/drawing/2014/main" id="{AFDAE317-0BEB-F21D-A488-DBC5AA7E361D}"/>
              </a:ext>
            </a:extLst>
          </p:cNvPr>
          <p:cNvSpPr txBox="1"/>
          <p:nvPr userDrawn="1"/>
        </p:nvSpPr>
        <p:spPr>
          <a:xfrm>
            <a:off x="1399062" y="5401066"/>
            <a:ext cx="9817578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HL7 FHIR </a:t>
            </a:r>
            <a:r>
              <a:rPr lang="nl-NL" sz="12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DevDays</a:t>
            </a:r>
            <a:r>
              <a:rPr lang="nl-NL"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2026  |  Minneapolis, MN 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|  </a:t>
            </a:r>
            <a:r>
              <a:rPr lang="nl-NL" sz="1200" b="0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June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15-18, 2026  |  @</a:t>
            </a:r>
            <a:r>
              <a:rPr lang="nl-NL"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HL7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|  </a:t>
            </a:r>
            <a:r>
              <a:rPr lang="nl-NL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@</a:t>
            </a:r>
            <a:r>
              <a:rPr lang="nl-NL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FirelyTeam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|  </a:t>
            </a:r>
            <a:r>
              <a:rPr lang="nl-NL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#</a:t>
            </a:r>
            <a:r>
              <a:rPr lang="nl-NL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fhirdevdays</a:t>
            </a:r>
            <a:r>
              <a:rPr lang="nl-NL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|  </a:t>
            </a:r>
            <a:r>
              <a:rPr lang="nl-NL" sz="12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www.devdays.com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nl-NL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2F4CE1-E321-1F28-7B27-B44F0E5EE1A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5932923" y="2670499"/>
            <a:ext cx="4294442" cy="263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12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FBB214-C2A2-7641-AE6E-2E5B971EA3CE}"/>
              </a:ext>
            </a:extLst>
          </p:cNvPr>
          <p:cNvSpPr/>
          <p:nvPr userDrawn="1"/>
        </p:nvSpPr>
        <p:spPr>
          <a:xfrm>
            <a:off x="0" y="591018"/>
            <a:ext cx="12192000" cy="62669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F21769-7EBA-03AE-D43C-3F05485EE5D7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49B3CA-8180-BFEB-4A85-03AB957B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753"/>
            <a:ext cx="10515600" cy="886732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0091B9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07B795F-28F6-A753-5499-3725E1154B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5464629" cy="42251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BFF9F7D-FA7B-6608-810C-30B43C2521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8588" y="1997075"/>
            <a:ext cx="4875212" cy="4225925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AA2F9-B0A6-2E87-161D-34625E875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6A02E-5A10-9A79-1C53-14963C2BD546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‹#›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EE912B-46AA-E548-E5A3-EFF80CFC7A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DFC2A5-549C-6529-C346-087B457EF727}"/>
              </a:ext>
            </a:extLst>
          </p:cNvPr>
          <p:cNvSpPr/>
          <p:nvPr userDrawn="1"/>
        </p:nvSpPr>
        <p:spPr>
          <a:xfrm>
            <a:off x="0" y="6357257"/>
            <a:ext cx="12192000" cy="5007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F49E0-5585-8AFA-C6B1-717C0403E394}"/>
              </a:ext>
            </a:extLst>
          </p:cNvPr>
          <p:cNvSpPr/>
          <p:nvPr userDrawn="1"/>
        </p:nvSpPr>
        <p:spPr>
          <a:xfrm>
            <a:off x="0" y="591018"/>
            <a:ext cx="12192000" cy="6020722"/>
          </a:xfrm>
          <a:prstGeom prst="rect">
            <a:avLst/>
          </a:prstGeom>
          <a:solidFill>
            <a:srgbClr val="009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FDD8AE-FA25-A668-9A1E-0B907959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753"/>
            <a:ext cx="10515600" cy="886732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08E6911-6621-D8EB-BFD9-4E06B28965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5464629" cy="42251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D969B-58C4-BC43-E46E-4704E7A6DD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9EBDE0-AF7D-701F-436A-53DC92CACC55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ADB96-BBC5-AE1A-BF37-422A9AADD0E4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‹#›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D073C91-7DFD-C016-C70D-F54BD7C1B2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8588" y="1997075"/>
            <a:ext cx="4875212" cy="4225925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CA3FF-8A92-3CBA-B049-08973DD1F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1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E36E0A-7CE4-2C29-FD0C-99C5F3D29A94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1A63BA-96AA-95A2-6BEA-1D267E6682D8}"/>
              </a:ext>
            </a:extLst>
          </p:cNvPr>
          <p:cNvSpPr/>
          <p:nvPr userDrawn="1"/>
        </p:nvSpPr>
        <p:spPr>
          <a:xfrm>
            <a:off x="0" y="6357257"/>
            <a:ext cx="12192000" cy="5007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F4A87-FEAD-8913-FDFE-E3B2D7761837}"/>
              </a:ext>
            </a:extLst>
          </p:cNvPr>
          <p:cNvSpPr/>
          <p:nvPr userDrawn="1"/>
        </p:nvSpPr>
        <p:spPr>
          <a:xfrm>
            <a:off x="0" y="591018"/>
            <a:ext cx="12192000" cy="6020722"/>
          </a:xfrm>
          <a:prstGeom prst="rect">
            <a:avLst/>
          </a:prstGeom>
          <a:solidFill>
            <a:srgbClr val="009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B6AEEBF-F2CE-8A22-701A-07BD4AB4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753"/>
            <a:ext cx="10515600" cy="886732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69FD6D5-1630-A8D0-1EB3-CEF908F41C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10515600" cy="42251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456878-A438-1B5E-9F39-FF5F0C7477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3FF62D-9A17-3B3D-CF3D-2DFB2BACF05C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F97CCD-3ED8-82F2-78C1-44930238F0A9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‹#›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70ABC6-4C42-ECC4-BD89-9E45C5E5AB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5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F21769-7EBA-03AE-D43C-3F05485EE5D7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AA2F9-B0A6-2E87-161D-34625E875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6A02E-5A10-9A79-1C53-14963C2BD546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‹#›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1D9488-ADE3-D885-CDD2-3798BEAE7C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12601" y="2908940"/>
            <a:ext cx="4643392" cy="10401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0F6C9C-2808-9A59-B3CE-BDEDE4F8D7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51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F21769-7EBA-03AE-D43C-3F05485EE5D7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AA2F9-B0A6-2E87-161D-34625E875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6A02E-5A10-9A79-1C53-14963C2BD546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‹#›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D4B5E0-A57F-F038-1862-4E7381A05A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09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80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6" r:id="rId2"/>
    <p:sldLayoutId id="2147483659" r:id="rId3"/>
    <p:sldLayoutId id="2147483660" r:id="rId4"/>
    <p:sldLayoutId id="2147483661" r:id="rId5"/>
    <p:sldLayoutId id="2147483662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devdays.com/feedback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96588F-E356-15BC-F4EC-039964E9AF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89104"/>
            <a:ext cx="10515600" cy="768505"/>
          </a:xfrm>
          <a:prstGeom prst="rect">
            <a:avLst/>
          </a:prstGeom>
        </p:spPr>
        <p:txBody>
          <a:bodyPr anchor="ctr" anchorCtr="0">
            <a:normAutofit lnSpcReduction="10000"/>
          </a:bodyPr>
          <a:lstStyle/>
          <a:p>
            <a:pPr algn="ctr"/>
            <a:r>
              <a:rPr lang="en-US" sz="2800" b="1" dirty="0">
                <a:solidFill>
                  <a:srgbClr val="0B1F33"/>
                </a:solidFill>
              </a:rPr>
              <a:t>Fluent, Fast, and Fake</a:t>
            </a:r>
          </a:p>
          <a:p>
            <a:pPr algn="ctr">
              <a:spcBef>
                <a:spcPts val="500"/>
              </a:spcBef>
            </a:pPr>
            <a:r>
              <a:rPr lang="en-US" sz="1400" b="0" dirty="0">
                <a:solidFill>
                  <a:srgbClr val="0B1F33"/>
                </a:solidFill>
              </a:rPr>
              <a:t>.NET Synthetic FHIR Data for Developer Happiness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301C68-73F3-5DE9-B720-FFD53931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Brendan Kowitz — Principal Software Engineering Manager, Microsoft (Azure FHIR Server)</a:t>
            </a:r>
          </a:p>
        </p:txBody>
      </p:sp>
    </p:spTree>
    <p:extLst>
      <p:ext uri="{BB962C8B-B14F-4D97-AF65-F5344CB8AC3E}">
        <p14:creationId xmlns:p14="http://schemas.microsoft.com/office/powerpoint/2010/main" val="3050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5430-5185-BD8E-9E91-9A36C6F2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31C22-AF4D-A00D-32C4-8149E6DBFC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8000000" cy="4300000"/>
          </a:xfrm>
        </p:spPr>
        <p:txBody>
          <a:bodyPr/>
          <a:lstStyle/>
          <a:p>
            <a:r>
              <a:rPr lang="en-US" b="1" dirty="0"/>
              <a:t>Brendan Kowitz</a:t>
            </a:r>
          </a:p>
          <a:p>
            <a:r>
              <a:rPr lang="en-US" dirty="0"/>
              <a:t>Principal Software Engineering Manager, Microsoft — open-source &amp; hosted FHIR Server for Azure</a:t>
            </a:r>
          </a:p>
          <a:p>
            <a:r>
              <a:rPr lang="en-US" dirty="0"/>
              <a:t>Creator of Ignixa — a .NET-native FHIR ecosystem (server, SQL-on-FHIR, FhirFakes)</a:t>
            </a:r>
          </a:p>
          <a:p>
            <a:r>
              <a:rPr lang="en-US" dirty="0"/>
              <a:t>Originally from Australia; now in the Pacific Northwest</a:t>
            </a:r>
          </a:p>
          <a:p>
            <a:r>
              <a:rPr lang="en-US" dirty="0"/>
              <a:t>github.com/brendankowitz/ignixa-fhir</a:t>
            </a:r>
          </a:p>
        </p:txBody>
      </p:sp>
      <p:pic>
        <p:nvPicPr>
          <p:cNvPr id="91" name="Speaker Photo"/>
          <p:cNvPicPr/>
          <p:nvPr/>
        </p:nvPicPr>
        <p:blipFill>
          <a:blip r:embed="rId2"/>
          <a:stretch>
            <a:fillRect/>
          </a:stretch>
        </p:blipFill>
        <p:spPr>
          <a:xfrm>
            <a:off x="9300000" y="2100000"/>
            <a:ext cx="1850000" cy="1850000"/>
          </a:xfrm>
          <a:prstGeom prst="ellipse">
            <a:avLst/>
          </a:prstGeom>
          <a:ln w="28575">
            <a:solidFill>
              <a:srgbClr val="0091B9"/>
            </a:solidFill>
          </a:ln>
        </p:spPr>
      </p:pic>
    </p:spTree>
    <p:extLst>
      <p:ext uri="{BB962C8B-B14F-4D97-AF65-F5344CB8AC3E}">
        <p14:creationId xmlns:p14="http://schemas.microsoft.com/office/powerpoint/2010/main" val="388647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201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F2A93B"/>
                </a:solidFill>
                <a:latin typeface="Trebuchet MS"/>
                <a:cs typeface="Trebuchet MS"/>
              </a:rPr>
              <a:t>THE PROBLEM</a:t>
            </a:r>
          </a:p>
        </p:txBody>
      </p:sp>
      <p:sp>
        <p:nvSpPr>
          <p:cNvPr id="204" name="t203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Every FHIR dev hits this wall.</a:t>
            </a:r>
          </a:p>
        </p:txBody>
      </p:sp>
      <p:sp>
        <p:nvSpPr>
          <p:cNvPr id="206" name="t205"/>
          <p:cNvSpPr txBox="1"/>
          <p:nvPr/>
        </p:nvSpPr>
        <p:spPr>
          <a:xfrm>
            <a:off x="566928" y="178308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500" b="0" dirty="0">
                <a:solidFill>
                  <a:srgbClr val="33485A"/>
                </a:solidFill>
                <a:latin typeface="Calibri"/>
                <a:cs typeface="Calibri"/>
              </a:rPr>
              <a:t>You’re writing a test. You need a Patient with type-2 diabetes — 3 conditions, 2 medications, realistic vitals over 5 years. </a:t>
            </a:r>
            <a:r>
              <a:rPr lang="en-US" sz="1500" b="1" dirty="0">
                <a:solidFill>
                  <a:srgbClr val="0B1F33"/>
                </a:solidFill>
                <a:latin typeface="Calibri"/>
                <a:cs typeface="Calibri"/>
              </a:rPr>
              <a:t>Every option in front of you is unsatisfying.</a:t>
            </a:r>
          </a:p>
        </p:txBody>
      </p:sp>
      <p:sp>
        <p:nvSpPr>
          <p:cNvPr id="208" name="r207"/>
          <p:cNvSpPr/>
          <p:nvPr/>
        </p:nvSpPr>
        <p:spPr>
          <a:xfrm>
            <a:off x="566928" y="2706624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0" name="r209"/>
          <p:cNvSpPr/>
          <p:nvPr/>
        </p:nvSpPr>
        <p:spPr>
          <a:xfrm>
            <a:off x="566928" y="2706624"/>
            <a:ext cx="3456432" cy="777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</p:spPr>
        <p:txBody>
          <a:bodyPr/>
          <a:lstStyle/>
          <a:p>
            <a:endParaRPr/>
          </a:p>
        </p:txBody>
      </p:sp>
      <p:sp>
        <p:nvSpPr>
          <p:cNvPr id="212" name="r211"/>
          <p:cNvSpPr/>
          <p:nvPr/>
        </p:nvSpPr>
        <p:spPr>
          <a:xfrm>
            <a:off x="877824" y="3035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A93B"/>
          </a:solidFill>
        </p:spPr>
        <p:txBody>
          <a:bodyPr/>
          <a:lstStyle/>
          <a:p>
            <a:endParaRPr/>
          </a:p>
        </p:txBody>
      </p:sp>
      <p:sp>
        <p:nvSpPr>
          <p:cNvPr id="214" name="t213"/>
          <p:cNvSpPr txBox="1"/>
          <p:nvPr/>
        </p:nvSpPr>
        <p:spPr>
          <a:xfrm>
            <a:off x="877824" y="30403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</a:p>
        </p:txBody>
      </p:sp>
      <p:sp>
        <p:nvSpPr>
          <p:cNvPr id="216" name="t215"/>
          <p:cNvSpPr txBox="1"/>
          <p:nvPr/>
        </p:nvSpPr>
        <p:spPr>
          <a:xfrm>
            <a:off x="877824" y="367588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B1F33"/>
                </a:solidFill>
                <a:latin typeface="Trebuchet MS"/>
                <a:cs typeface="Trebuchet MS"/>
              </a:rPr>
              <a:t>Hand-craft JSON</a:t>
            </a:r>
          </a:p>
        </p:txBody>
      </p:sp>
      <p:sp>
        <p:nvSpPr>
          <p:cNvPr id="218" name="t217"/>
          <p:cNvSpPr txBox="1"/>
          <p:nvPr/>
        </p:nvSpPr>
        <p:spPr>
          <a:xfrm>
            <a:off x="877824" y="4334256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Hours of work. Breaks on every model change. Zero clinical realism.</a:t>
            </a:r>
          </a:p>
        </p:txBody>
      </p:sp>
      <p:sp>
        <p:nvSpPr>
          <p:cNvPr id="220" name="r219"/>
          <p:cNvSpPr/>
          <p:nvPr/>
        </p:nvSpPr>
        <p:spPr>
          <a:xfrm>
            <a:off x="4297680" y="2706624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2" name="r221"/>
          <p:cNvSpPr/>
          <p:nvPr/>
        </p:nvSpPr>
        <p:spPr>
          <a:xfrm>
            <a:off x="4297680" y="2706624"/>
            <a:ext cx="3456432" cy="77724"/>
          </a:xfrm>
          <a:prstGeom prst="roundRect">
            <a:avLst>
              <a:gd name="adj" fmla="val 50000"/>
            </a:avLst>
          </a:prstGeom>
          <a:solidFill>
            <a:srgbClr val="D9534F"/>
          </a:solidFill>
        </p:spPr>
        <p:txBody>
          <a:bodyPr/>
          <a:lstStyle/>
          <a:p>
            <a:endParaRPr/>
          </a:p>
        </p:txBody>
      </p:sp>
      <p:sp>
        <p:nvSpPr>
          <p:cNvPr id="224" name="r223"/>
          <p:cNvSpPr/>
          <p:nvPr/>
        </p:nvSpPr>
        <p:spPr>
          <a:xfrm>
            <a:off x="4608576" y="3035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9534F"/>
          </a:solidFill>
        </p:spPr>
        <p:txBody>
          <a:bodyPr/>
          <a:lstStyle/>
          <a:p>
            <a:endParaRPr/>
          </a:p>
        </p:txBody>
      </p:sp>
      <p:sp>
        <p:nvSpPr>
          <p:cNvPr id="226" name="t225"/>
          <p:cNvSpPr txBox="1"/>
          <p:nvPr/>
        </p:nvSpPr>
        <p:spPr>
          <a:xfrm>
            <a:off x="4608576" y="30403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</a:p>
        </p:txBody>
      </p:sp>
      <p:sp>
        <p:nvSpPr>
          <p:cNvPr id="228" name="t227"/>
          <p:cNvSpPr txBox="1"/>
          <p:nvPr/>
        </p:nvSpPr>
        <p:spPr>
          <a:xfrm>
            <a:off x="4608576" y="367588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B1F33"/>
                </a:solidFill>
                <a:latin typeface="Trebuchet MS"/>
                <a:cs typeface="Trebuchet MS"/>
              </a:rPr>
              <a:t>Copy from production</a:t>
            </a:r>
          </a:p>
        </p:txBody>
      </p:sp>
      <p:sp>
        <p:nvSpPr>
          <p:cNvPr id="230" name="t229"/>
          <p:cNvSpPr txBox="1"/>
          <p:nvPr/>
        </p:nvSpPr>
        <p:spPr>
          <a:xfrm>
            <a:off x="4608576" y="4334256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Compliance nightmare. PHI risk. Can’t run in CI — ever.</a:t>
            </a:r>
          </a:p>
        </p:txBody>
      </p:sp>
      <p:sp>
        <p:nvSpPr>
          <p:cNvPr id="232" name="r231"/>
          <p:cNvSpPr/>
          <p:nvPr/>
        </p:nvSpPr>
        <p:spPr>
          <a:xfrm>
            <a:off x="8028432" y="2706624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4" name="r233"/>
          <p:cNvSpPr/>
          <p:nvPr/>
        </p:nvSpPr>
        <p:spPr>
          <a:xfrm>
            <a:off x="8028432" y="2706624"/>
            <a:ext cx="3456432" cy="77724"/>
          </a:xfrm>
          <a:prstGeom prst="roundRect">
            <a:avLst>
              <a:gd name="adj" fmla="val 50000"/>
            </a:avLst>
          </a:prstGeom>
          <a:solidFill>
            <a:srgbClr val="8A6BF0"/>
          </a:solidFill>
        </p:spPr>
        <p:txBody>
          <a:bodyPr/>
          <a:lstStyle/>
          <a:p>
            <a:endParaRPr/>
          </a:p>
        </p:txBody>
      </p:sp>
      <p:sp>
        <p:nvSpPr>
          <p:cNvPr id="236" name="r235"/>
          <p:cNvSpPr/>
          <p:nvPr/>
        </p:nvSpPr>
        <p:spPr>
          <a:xfrm>
            <a:off x="8339328" y="3035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8A6BF0"/>
          </a:solidFill>
        </p:spPr>
        <p:txBody>
          <a:bodyPr/>
          <a:lstStyle/>
          <a:p>
            <a:endParaRPr/>
          </a:p>
        </p:txBody>
      </p:sp>
      <p:sp>
        <p:nvSpPr>
          <p:cNvPr id="238" name="t237"/>
          <p:cNvSpPr txBox="1"/>
          <p:nvPr/>
        </p:nvSpPr>
        <p:spPr>
          <a:xfrm>
            <a:off x="8339328" y="30403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</a:p>
        </p:txBody>
      </p:sp>
      <p:sp>
        <p:nvSpPr>
          <p:cNvPr id="240" name="t239"/>
          <p:cNvSpPr txBox="1"/>
          <p:nvPr/>
        </p:nvSpPr>
        <p:spPr>
          <a:xfrm>
            <a:off x="8339328" y="3675888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B1F33"/>
                </a:solidFill>
                <a:latin typeface="Trebuchet MS"/>
                <a:cs typeface="Trebuchet MS"/>
              </a:rPr>
              <a:t>Fire up Synthea</a:t>
            </a:r>
          </a:p>
        </p:txBody>
      </p:sp>
      <p:sp>
        <p:nvSpPr>
          <p:cNvPr id="242" name="t241"/>
          <p:cNvSpPr txBox="1"/>
          <p:nvPr/>
        </p:nvSpPr>
        <p:spPr>
          <a:xfrm>
            <a:off x="8339328" y="4334256"/>
            <a:ext cx="283464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JVM dependency. Minutes per run. Built for cohorts, not unit tests.</a:t>
            </a:r>
          </a:p>
        </p:txBody>
      </p:sp>
      <p:sp>
        <p:nvSpPr>
          <p:cNvPr id="244" name="t243"/>
          <p:cNvSpPr txBox="1"/>
          <p:nvPr/>
        </p:nvSpPr>
        <p:spPr>
          <a:xfrm>
            <a:off x="566928" y="60533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5E7382"/>
                </a:solidFill>
                <a:latin typeface="Calibri"/>
                <a:cs typeface="Calibri"/>
              </a:rPr>
              <a:t>There is a better way — built for .NET, by a .NET developer.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24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16C2AC"/>
                </a:solidFill>
                <a:latin typeface="Trebuchet MS"/>
                <a:cs typeface="Trebuchet MS"/>
              </a:rPr>
              <a:t>CREDIT WHERE IT’S DUE</a:t>
            </a:r>
          </a:p>
        </p:txBody>
      </p:sp>
      <p:sp>
        <p:nvSpPr>
          <p:cNvPr id="248" name="t247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Synthea is great — for some things.</a:t>
            </a:r>
          </a:p>
        </p:txBody>
      </p:sp>
      <p:sp>
        <p:nvSpPr>
          <p:cNvPr id="250" name="r249"/>
          <p:cNvSpPr/>
          <p:nvPr/>
        </p:nvSpPr>
        <p:spPr>
          <a:xfrm>
            <a:off x="566928" y="1874520"/>
            <a:ext cx="5285232" cy="4160520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2" name="r251"/>
          <p:cNvSpPr/>
          <p:nvPr/>
        </p:nvSpPr>
        <p:spPr>
          <a:xfrm>
            <a:off x="566928" y="1874520"/>
            <a:ext cx="5285232" cy="77724"/>
          </a:xfrm>
          <a:prstGeom prst="roundRect">
            <a:avLst>
              <a:gd name="adj" fmla="val 50000"/>
            </a:avLst>
          </a:prstGeom>
          <a:solidFill>
            <a:srgbClr val="16C2AC"/>
          </a:solidFill>
        </p:spPr>
        <p:txBody>
          <a:bodyPr/>
          <a:lstStyle/>
          <a:p>
            <a:endParaRPr/>
          </a:p>
        </p:txBody>
      </p:sp>
      <p:sp>
        <p:nvSpPr>
          <p:cNvPr id="254" name="t253"/>
          <p:cNvSpPr txBox="1"/>
          <p:nvPr/>
        </p:nvSpPr>
        <p:spPr>
          <a:xfrm>
            <a:off x="932688" y="2185416"/>
            <a:ext cx="45537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spc="200" dirty="0">
                <a:solidFill>
                  <a:srgbClr val="0E9C8A"/>
                </a:solidFill>
                <a:latin typeface="Trebuchet MS"/>
                <a:cs typeface="Trebuchet MS"/>
              </a:rPr>
              <a:t>WHAT IT NAILS</a:t>
            </a:r>
          </a:p>
        </p:txBody>
      </p:sp>
      <p:sp>
        <p:nvSpPr>
          <p:cNvPr id="256" name="t255"/>
          <p:cNvSpPr txBox="1"/>
          <p:nvPr/>
        </p:nvSpPr>
        <p:spPr>
          <a:xfrm>
            <a:off x="932688" y="2752344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6000"/>
              </a:lnSpc>
              <a:buNone/>
            </a:pPr>
            <a:r>
              <a:rPr lang="en-US" sz="1450" b="1" dirty="0">
                <a:solidFill>
                  <a:srgbClr val="0E9C8A"/>
                </a:solidFill>
                <a:latin typeface="Calibri"/>
                <a:cs typeface="Calibri"/>
              </a:rPr>
              <a:t>▸  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Gold standard for population simulation and epidemiological realism</a:t>
            </a:r>
          </a:p>
          <a:p>
            <a:pPr marL="274320" indent="-274320" algn="l">
              <a:lnSpc>
                <a:spcPct val="126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0E9C8A"/>
                </a:solidFill>
                <a:latin typeface="Calibri"/>
                <a:cs typeface="Calibri"/>
              </a:rPr>
              <a:t>▸  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Powers research datasets worldwide</a:t>
            </a:r>
          </a:p>
          <a:p>
            <a:pPr marL="274320" indent="-274320" algn="l">
              <a:lnSpc>
                <a:spcPct val="126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0E9C8A"/>
                </a:solidFill>
                <a:latin typeface="Calibri"/>
                <a:cs typeface="Calibri"/>
              </a:rPr>
              <a:t>▸  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Mature, battle-tested, community-supported</a:t>
            </a:r>
          </a:p>
        </p:txBody>
      </p:sp>
      <p:sp>
        <p:nvSpPr>
          <p:cNvPr id="258" name="r257"/>
          <p:cNvSpPr/>
          <p:nvPr/>
        </p:nvSpPr>
        <p:spPr>
          <a:xfrm>
            <a:off x="6163056" y="1874520"/>
            <a:ext cx="5285232" cy="4160520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0" name="r259"/>
          <p:cNvSpPr/>
          <p:nvPr/>
        </p:nvSpPr>
        <p:spPr>
          <a:xfrm>
            <a:off x="6163056" y="1874520"/>
            <a:ext cx="5285232" cy="777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</p:spPr>
        <p:txBody>
          <a:bodyPr/>
          <a:lstStyle/>
          <a:p>
            <a:endParaRPr/>
          </a:p>
        </p:txBody>
      </p:sp>
      <p:sp>
        <p:nvSpPr>
          <p:cNvPr id="262" name="t261"/>
          <p:cNvSpPr txBox="1"/>
          <p:nvPr/>
        </p:nvSpPr>
        <p:spPr>
          <a:xfrm>
            <a:off x="6528816" y="2185416"/>
            <a:ext cx="45537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spc="160" dirty="0">
                <a:solidFill>
                  <a:srgbClr val="C97A0E"/>
                </a:solidFill>
                <a:latin typeface="Trebuchet MS"/>
                <a:cs typeface="Trebuchet MS"/>
              </a:rPr>
              <a:t>WHERE .NET DEVS HIT FRICTION</a:t>
            </a:r>
          </a:p>
        </p:txBody>
      </p:sp>
      <p:sp>
        <p:nvSpPr>
          <p:cNvPr id="264" name="t263"/>
          <p:cNvSpPr txBox="1"/>
          <p:nvPr/>
        </p:nvSpPr>
        <p:spPr>
          <a:xfrm>
            <a:off x="6528816" y="2752344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JVM dependency inside a .NET project</a:t>
            </a:r>
          </a:p>
          <a:p>
            <a:pPr marL="274320" indent="-27432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Minutes to generate — not milliseconds</a:t>
            </a:r>
          </a:p>
          <a:p>
            <a:pPr marL="274320" indent="-27432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Out-of-process — no per-test seeding from C#</a:t>
            </a:r>
          </a:p>
          <a:p>
            <a:pPr marL="274320" indent="-27432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No NuGet package, no dotnet add package</a:t>
            </a:r>
          </a:p>
          <a:p>
            <a:pPr marL="274320" indent="-274320" algn="l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00" b="0" dirty="0">
                <a:solidFill>
                  <a:srgbClr val="33485A"/>
                </a:solidFill>
                <a:latin typeface="Calibri"/>
                <a:cs typeface="Calibri"/>
              </a:rPr>
              <a:t>No fluent C# API to express intent inline</a:t>
            </a:r>
          </a:p>
        </p:txBody>
      </p:sp>
      <p:sp>
        <p:nvSpPr>
          <p:cNvPr id="266" name="t265"/>
          <p:cNvSpPr txBox="1"/>
          <p:nvPr/>
        </p:nvSpPr>
        <p:spPr>
          <a:xfrm>
            <a:off x="566928" y="60533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5E7382"/>
                </a:solidFill>
                <a:latin typeface="Calibri"/>
                <a:cs typeface="Calibri"/>
              </a:rPr>
              <a:t>Synthea isn’t the competition — it’s the inspiration. Different job.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267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8A6BF0"/>
                </a:solidFill>
                <a:latin typeface="Trebuchet MS"/>
                <a:cs typeface="Trebuchet MS"/>
              </a:rPr>
              <a:t>THE REQUIREMENTS NOBODY WROTE DOWN</a:t>
            </a:r>
          </a:p>
        </p:txBody>
      </p:sp>
      <p:sp>
        <p:nvSpPr>
          <p:cNvPr id="270" name="t269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What developers actually need.</a:t>
            </a:r>
          </a:p>
        </p:txBody>
      </p:sp>
      <p:sp>
        <p:nvSpPr>
          <p:cNvPr id="272" name="r271"/>
          <p:cNvSpPr/>
          <p:nvPr/>
        </p:nvSpPr>
        <p:spPr>
          <a:xfrm>
            <a:off x="566928" y="1828800"/>
            <a:ext cx="11064240" cy="548640"/>
          </a:xfrm>
          <a:prstGeom prst="rect">
            <a:avLst/>
          </a:prstGeom>
          <a:solidFill>
            <a:srgbClr val="0B1F33"/>
          </a:solidFill>
        </p:spPr>
        <p:txBody>
          <a:bodyPr/>
          <a:lstStyle/>
          <a:p>
            <a:endParaRPr/>
          </a:p>
        </p:txBody>
      </p:sp>
      <p:sp>
        <p:nvSpPr>
          <p:cNvPr id="274" name="r273"/>
          <p:cNvSpPr/>
          <p:nvPr/>
        </p:nvSpPr>
        <p:spPr>
          <a:xfrm>
            <a:off x="9375648" y="1828800"/>
            <a:ext cx="2255520" cy="548640"/>
          </a:xfrm>
          <a:prstGeom prst="rect">
            <a:avLst/>
          </a:prstGeom>
          <a:solidFill>
            <a:srgbClr val="6D49E0"/>
          </a:solidFill>
        </p:spPr>
        <p:txBody>
          <a:bodyPr/>
          <a:lstStyle/>
          <a:p>
            <a:endParaRPr/>
          </a:p>
        </p:txBody>
      </p:sp>
      <p:sp>
        <p:nvSpPr>
          <p:cNvPr id="276" name="t275"/>
          <p:cNvSpPr txBox="1"/>
          <p:nvPr/>
        </p:nvSpPr>
        <p:spPr>
          <a:xfrm>
            <a:off x="804672" y="182880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/>
                <a:cs typeface="Trebuchet MS"/>
              </a:rPr>
              <a:t>Requirement</a:t>
            </a:r>
          </a:p>
        </p:txBody>
      </p:sp>
      <p:sp>
        <p:nvSpPr>
          <p:cNvPr id="278" name="t277"/>
          <p:cNvSpPr txBox="1"/>
          <p:nvPr/>
        </p:nvSpPr>
        <p:spPr>
          <a:xfrm>
            <a:off x="4864608" y="1828800"/>
            <a:ext cx="225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/>
                <a:cs typeface="Trebuchet MS"/>
              </a:rPr>
              <a:t>Hand-crafted</a:t>
            </a:r>
          </a:p>
        </p:txBody>
      </p:sp>
      <p:sp>
        <p:nvSpPr>
          <p:cNvPr id="280" name="t279"/>
          <p:cNvSpPr txBox="1"/>
          <p:nvPr/>
        </p:nvSpPr>
        <p:spPr>
          <a:xfrm>
            <a:off x="7120128" y="1828800"/>
            <a:ext cx="225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/>
                <a:cs typeface="Trebuchet MS"/>
              </a:rPr>
              <a:t>Synthea</a:t>
            </a:r>
          </a:p>
        </p:txBody>
      </p:sp>
      <p:sp>
        <p:nvSpPr>
          <p:cNvPr id="282" name="t281"/>
          <p:cNvSpPr txBox="1"/>
          <p:nvPr/>
        </p:nvSpPr>
        <p:spPr>
          <a:xfrm>
            <a:off x="9375648" y="1828800"/>
            <a:ext cx="225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/>
                <a:cs typeface="Trebuchet MS"/>
              </a:rPr>
              <a:t>FhirFakes</a:t>
            </a:r>
          </a:p>
        </p:txBody>
      </p:sp>
      <p:sp>
        <p:nvSpPr>
          <p:cNvPr id="284" name="r283"/>
          <p:cNvSpPr/>
          <p:nvPr/>
        </p:nvSpPr>
        <p:spPr>
          <a:xfrm>
            <a:off x="9375648" y="2377440"/>
            <a:ext cx="2255520" cy="498348"/>
          </a:xfrm>
          <a:prstGeom prst="rect">
            <a:avLst/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286" name="t285"/>
          <p:cNvSpPr txBox="1"/>
          <p:nvPr/>
        </p:nvSpPr>
        <p:spPr>
          <a:xfrm>
            <a:off x="804672" y="2377440"/>
            <a:ext cx="402336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/>
                <a:cs typeface="Calibri"/>
              </a:rPr>
              <a:t>Fast (milliseconds)</a:t>
            </a:r>
          </a:p>
        </p:txBody>
      </p:sp>
      <p:sp>
        <p:nvSpPr>
          <p:cNvPr id="288" name="t287"/>
          <p:cNvSpPr txBox="1"/>
          <p:nvPr/>
        </p:nvSpPr>
        <p:spPr>
          <a:xfrm>
            <a:off x="4864608" y="2377440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E9C8A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290" name="t289"/>
          <p:cNvSpPr txBox="1"/>
          <p:nvPr/>
        </p:nvSpPr>
        <p:spPr>
          <a:xfrm>
            <a:off x="7120128" y="2377440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292" name="t291"/>
          <p:cNvSpPr txBox="1"/>
          <p:nvPr/>
        </p:nvSpPr>
        <p:spPr>
          <a:xfrm>
            <a:off x="9375648" y="2377440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6D49E0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294" name="r293"/>
          <p:cNvSpPr/>
          <p:nvPr/>
        </p:nvSpPr>
        <p:spPr>
          <a:xfrm>
            <a:off x="566928" y="2875788"/>
            <a:ext cx="11064240" cy="498348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296" name="r295"/>
          <p:cNvSpPr/>
          <p:nvPr/>
        </p:nvSpPr>
        <p:spPr>
          <a:xfrm>
            <a:off x="9375648" y="2875788"/>
            <a:ext cx="2255520" cy="498348"/>
          </a:xfrm>
          <a:prstGeom prst="rect">
            <a:avLst/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298" name="t297"/>
          <p:cNvSpPr txBox="1"/>
          <p:nvPr/>
        </p:nvSpPr>
        <p:spPr>
          <a:xfrm>
            <a:off x="804672" y="2875788"/>
            <a:ext cx="402336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/>
                <a:cs typeface="Calibri"/>
              </a:rPr>
              <a:t>Deterministic per test</a:t>
            </a:r>
          </a:p>
        </p:txBody>
      </p:sp>
      <p:sp>
        <p:nvSpPr>
          <p:cNvPr id="300" name="t299"/>
          <p:cNvSpPr txBox="1"/>
          <p:nvPr/>
        </p:nvSpPr>
        <p:spPr>
          <a:xfrm>
            <a:off x="4864608" y="2875788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E9C8A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02" name="t301"/>
          <p:cNvSpPr txBox="1"/>
          <p:nvPr/>
        </p:nvSpPr>
        <p:spPr>
          <a:xfrm>
            <a:off x="7120128" y="2875788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304" name="t303"/>
          <p:cNvSpPr txBox="1"/>
          <p:nvPr/>
        </p:nvSpPr>
        <p:spPr>
          <a:xfrm>
            <a:off x="9375648" y="2875788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6D49E0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06" name="r305"/>
          <p:cNvSpPr/>
          <p:nvPr/>
        </p:nvSpPr>
        <p:spPr>
          <a:xfrm>
            <a:off x="9375648" y="3374136"/>
            <a:ext cx="2255520" cy="498348"/>
          </a:xfrm>
          <a:prstGeom prst="rect">
            <a:avLst/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308" name="t307"/>
          <p:cNvSpPr txBox="1"/>
          <p:nvPr/>
        </p:nvSpPr>
        <p:spPr>
          <a:xfrm>
            <a:off x="804672" y="3374136"/>
            <a:ext cx="402336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/>
                <a:cs typeface="Calibri"/>
              </a:rPr>
              <a:t>Native .NET / NuGet</a:t>
            </a:r>
          </a:p>
        </p:txBody>
      </p:sp>
      <p:sp>
        <p:nvSpPr>
          <p:cNvPr id="310" name="t309"/>
          <p:cNvSpPr txBox="1"/>
          <p:nvPr/>
        </p:nvSpPr>
        <p:spPr>
          <a:xfrm>
            <a:off x="4864608" y="3374136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E9C8A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12" name="t311"/>
          <p:cNvSpPr txBox="1"/>
          <p:nvPr/>
        </p:nvSpPr>
        <p:spPr>
          <a:xfrm>
            <a:off x="7120128" y="3374136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314" name="t313"/>
          <p:cNvSpPr txBox="1"/>
          <p:nvPr/>
        </p:nvSpPr>
        <p:spPr>
          <a:xfrm>
            <a:off x="9375648" y="3374136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6D49E0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16" name="r315"/>
          <p:cNvSpPr/>
          <p:nvPr/>
        </p:nvSpPr>
        <p:spPr>
          <a:xfrm>
            <a:off x="566928" y="3872484"/>
            <a:ext cx="11064240" cy="498348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318" name="r317"/>
          <p:cNvSpPr/>
          <p:nvPr/>
        </p:nvSpPr>
        <p:spPr>
          <a:xfrm>
            <a:off x="9375648" y="3872484"/>
            <a:ext cx="2255520" cy="498348"/>
          </a:xfrm>
          <a:prstGeom prst="rect">
            <a:avLst/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320" name="t319"/>
          <p:cNvSpPr txBox="1"/>
          <p:nvPr/>
        </p:nvSpPr>
        <p:spPr>
          <a:xfrm>
            <a:off x="804672" y="3872484"/>
            <a:ext cx="402336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/>
                <a:cs typeface="Calibri"/>
              </a:rPr>
              <a:t>Clinically realistic</a:t>
            </a:r>
          </a:p>
        </p:txBody>
      </p:sp>
      <p:sp>
        <p:nvSpPr>
          <p:cNvPr id="322" name="t321"/>
          <p:cNvSpPr txBox="1"/>
          <p:nvPr/>
        </p:nvSpPr>
        <p:spPr>
          <a:xfrm>
            <a:off x="4864608" y="3872484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324" name="t323"/>
          <p:cNvSpPr txBox="1"/>
          <p:nvPr/>
        </p:nvSpPr>
        <p:spPr>
          <a:xfrm>
            <a:off x="7120128" y="3872484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E9C8A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26" name="t325"/>
          <p:cNvSpPr txBox="1"/>
          <p:nvPr/>
        </p:nvSpPr>
        <p:spPr>
          <a:xfrm>
            <a:off x="9375648" y="3872484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6D49E0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28" name="r327"/>
          <p:cNvSpPr/>
          <p:nvPr/>
        </p:nvSpPr>
        <p:spPr>
          <a:xfrm>
            <a:off x="9375648" y="4370832"/>
            <a:ext cx="2255520" cy="498348"/>
          </a:xfrm>
          <a:prstGeom prst="rect">
            <a:avLst/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330" name="t329"/>
          <p:cNvSpPr txBox="1"/>
          <p:nvPr/>
        </p:nvSpPr>
        <p:spPr>
          <a:xfrm>
            <a:off x="804672" y="4370832"/>
            <a:ext cx="402336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/>
                <a:cs typeface="Calibri"/>
              </a:rPr>
              <a:t>Fluent C# API</a:t>
            </a:r>
          </a:p>
        </p:txBody>
      </p:sp>
      <p:sp>
        <p:nvSpPr>
          <p:cNvPr id="332" name="t331"/>
          <p:cNvSpPr txBox="1"/>
          <p:nvPr/>
        </p:nvSpPr>
        <p:spPr>
          <a:xfrm>
            <a:off x="4864608" y="4370832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334" name="t333"/>
          <p:cNvSpPr txBox="1"/>
          <p:nvPr/>
        </p:nvSpPr>
        <p:spPr>
          <a:xfrm>
            <a:off x="7120128" y="4370832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336" name="t335"/>
          <p:cNvSpPr txBox="1"/>
          <p:nvPr/>
        </p:nvSpPr>
        <p:spPr>
          <a:xfrm>
            <a:off x="9375648" y="4370832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6D49E0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38" name="r337"/>
          <p:cNvSpPr/>
          <p:nvPr/>
        </p:nvSpPr>
        <p:spPr>
          <a:xfrm>
            <a:off x="566928" y="4869180"/>
            <a:ext cx="11064240" cy="498348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340" name="r339"/>
          <p:cNvSpPr/>
          <p:nvPr/>
        </p:nvSpPr>
        <p:spPr>
          <a:xfrm>
            <a:off x="9375648" y="4869180"/>
            <a:ext cx="2255520" cy="498348"/>
          </a:xfrm>
          <a:prstGeom prst="rect">
            <a:avLst/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342" name="t341"/>
          <p:cNvSpPr txBox="1"/>
          <p:nvPr/>
        </p:nvSpPr>
        <p:spPr>
          <a:xfrm>
            <a:off x="804672" y="4869180"/>
            <a:ext cx="402336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/>
                <a:cs typeface="Calibri"/>
              </a:rPr>
              <a:t>FHIR-valid output</a:t>
            </a:r>
          </a:p>
        </p:txBody>
      </p:sp>
      <p:sp>
        <p:nvSpPr>
          <p:cNvPr id="344" name="t343"/>
          <p:cNvSpPr txBox="1"/>
          <p:nvPr/>
        </p:nvSpPr>
        <p:spPr>
          <a:xfrm>
            <a:off x="4864608" y="4869180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346" name="t345"/>
          <p:cNvSpPr txBox="1"/>
          <p:nvPr/>
        </p:nvSpPr>
        <p:spPr>
          <a:xfrm>
            <a:off x="7120128" y="4869180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E9C8A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48" name="t347"/>
          <p:cNvSpPr txBox="1"/>
          <p:nvPr/>
        </p:nvSpPr>
        <p:spPr>
          <a:xfrm>
            <a:off x="9375648" y="4869180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6D49E0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50" name="r349"/>
          <p:cNvSpPr/>
          <p:nvPr/>
        </p:nvSpPr>
        <p:spPr>
          <a:xfrm>
            <a:off x="9375648" y="5367528"/>
            <a:ext cx="2255520" cy="498348"/>
          </a:xfrm>
          <a:prstGeom prst="rect">
            <a:avLst/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352" name="t351"/>
          <p:cNvSpPr txBox="1"/>
          <p:nvPr/>
        </p:nvSpPr>
        <p:spPr>
          <a:xfrm>
            <a:off x="804672" y="5367528"/>
            <a:ext cx="402336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b="1" dirty="0">
                <a:solidFill>
                  <a:srgbClr val="0B1F33"/>
                </a:solidFill>
                <a:latin typeface="Calibri"/>
                <a:cs typeface="Calibri"/>
              </a:rPr>
              <a:t>Population-scale</a:t>
            </a:r>
          </a:p>
        </p:txBody>
      </p:sp>
      <p:sp>
        <p:nvSpPr>
          <p:cNvPr id="354" name="t353"/>
          <p:cNvSpPr txBox="1"/>
          <p:nvPr/>
        </p:nvSpPr>
        <p:spPr>
          <a:xfrm>
            <a:off x="4864608" y="5367528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C2CBD2"/>
                </a:solidFill>
                <a:latin typeface="Trebuchet MS"/>
                <a:cs typeface="Trebuchet MS"/>
              </a:rPr>
              <a:t>✕</a:t>
            </a:r>
          </a:p>
        </p:txBody>
      </p:sp>
      <p:sp>
        <p:nvSpPr>
          <p:cNvPr id="356" name="t355"/>
          <p:cNvSpPr txBox="1"/>
          <p:nvPr/>
        </p:nvSpPr>
        <p:spPr>
          <a:xfrm>
            <a:off x="7120128" y="5367528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0E9C8A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58" name="t357"/>
          <p:cNvSpPr txBox="1"/>
          <p:nvPr/>
        </p:nvSpPr>
        <p:spPr>
          <a:xfrm>
            <a:off x="9375648" y="5367528"/>
            <a:ext cx="2255520" cy="4983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6D49E0"/>
                </a:solidFill>
                <a:latin typeface="Trebuchet MS"/>
                <a:cs typeface="Trebuchet MS"/>
              </a:rPr>
              <a:t>✓</a:t>
            </a:r>
          </a:p>
        </p:txBody>
      </p:sp>
      <p:sp>
        <p:nvSpPr>
          <p:cNvPr id="360" name="r359"/>
          <p:cNvSpPr/>
          <p:nvPr/>
        </p:nvSpPr>
        <p:spPr>
          <a:xfrm>
            <a:off x="566928" y="1828800"/>
            <a:ext cx="11064240" cy="4037076"/>
          </a:xfrm>
          <a:prstGeom prst="rect">
            <a:avLst/>
          </a:prstGeom>
          <a:noFill/>
          <a:ln w="12700">
            <a:solidFill>
              <a:srgbClr val="DCE3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2" name="t361"/>
          <p:cNvSpPr txBox="1"/>
          <p:nvPr/>
        </p:nvSpPr>
        <p:spPr>
          <a:xfrm>
            <a:off x="566928" y="60533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5E7382"/>
                </a:solidFill>
                <a:latin typeface="Calibri"/>
                <a:cs typeface="Calibri"/>
              </a:rPr>
              <a:t>FhirFakes is designed to fill the entire matrix — not a corner of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363"/>
          <p:cNvSpPr/>
          <p:nvPr/>
        </p:nvSpPr>
        <p:spPr>
          <a:xfrm>
            <a:off x="0" y="566928"/>
            <a:ext cx="12191695" cy="5760720"/>
          </a:xfrm>
          <a:prstGeom prst="rect">
            <a:avLst/>
          </a:prstGeom>
          <a:solidFill>
            <a:srgbClr val="0E1B2E"/>
          </a:solidFill>
        </p:spPr>
        <p:txBody>
          <a:bodyPr/>
          <a:lstStyle/>
          <a:p>
            <a:endParaRPr/>
          </a:p>
        </p:txBody>
      </p:sp>
      <p:sp>
        <p:nvSpPr>
          <p:cNvPr id="366" name="t365"/>
          <p:cNvSpPr txBox="1"/>
          <p:nvPr/>
        </p:nvSpPr>
        <p:spPr>
          <a:xfrm>
            <a:off x="566928" y="8412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spc="280" dirty="0">
                <a:solidFill>
                  <a:srgbClr val="16C2AC"/>
                </a:solidFill>
                <a:latin typeface="Trebuchet MS"/>
                <a:cs typeface="Trebuchet MS"/>
              </a:rPr>
              <a:t>INTRODUCING</a:t>
            </a:r>
          </a:p>
        </p:txBody>
      </p:sp>
      <p:sp>
        <p:nvSpPr>
          <p:cNvPr id="368" name="t367"/>
          <p:cNvSpPr txBox="1"/>
          <p:nvPr/>
        </p:nvSpPr>
        <p:spPr>
          <a:xfrm>
            <a:off x="566928" y="1170432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/>
                <a:cs typeface="Trebuchet MS"/>
              </a:rPr>
              <a:t>Ignixa.FhirFakes</a:t>
            </a:r>
          </a:p>
        </p:txBody>
      </p:sp>
      <p:sp>
        <p:nvSpPr>
          <p:cNvPr id="370" name="t369"/>
          <p:cNvSpPr txBox="1"/>
          <p:nvPr/>
        </p:nvSpPr>
        <p:spPr>
          <a:xfrm>
            <a:off x="566928" y="2157984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en-US" sz="1700" b="0" dirty="0">
                <a:solidFill>
                  <a:srgbClr val="9DB2C7"/>
                </a:solidFill>
                <a:latin typeface="Calibri"/>
                <a:cs typeface="Calibri"/>
              </a:rPr>
              <a:t>Native .NET synthetic FHIR data — </a:t>
            </a:r>
            <a:r>
              <a:rPr lang="en-US" sz="1700" b="1" dirty="0">
                <a:solidFill>
                  <a:srgbClr val="16C2AC"/>
                </a:solidFill>
                <a:latin typeface="Calibri"/>
                <a:cs typeface="Calibri"/>
              </a:rPr>
              <a:t>fluent, fast, and deterministic.</a:t>
            </a:r>
          </a:p>
        </p:txBody>
      </p:sp>
      <p:sp>
        <p:nvSpPr>
          <p:cNvPr id="372" name="r371"/>
          <p:cNvSpPr/>
          <p:nvPr/>
        </p:nvSpPr>
        <p:spPr>
          <a:xfrm>
            <a:off x="566928" y="2889504"/>
            <a:ext cx="2615184" cy="1335024"/>
          </a:xfrm>
          <a:prstGeom prst="roundRect">
            <a:avLst>
              <a:gd name="adj" fmla="val 4794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4" name="r373"/>
          <p:cNvSpPr/>
          <p:nvPr/>
        </p:nvSpPr>
        <p:spPr>
          <a:xfrm>
            <a:off x="566928" y="2889504"/>
            <a:ext cx="68580" cy="1335024"/>
          </a:xfrm>
          <a:prstGeom prst="roundRect">
            <a:avLst>
              <a:gd name="adj" fmla="val 50000"/>
            </a:avLst>
          </a:prstGeom>
          <a:solidFill>
            <a:srgbClr val="16C2AC"/>
          </a:solidFill>
        </p:spPr>
        <p:txBody>
          <a:bodyPr/>
          <a:lstStyle/>
          <a:p>
            <a:endParaRPr/>
          </a:p>
        </p:txBody>
      </p:sp>
      <p:sp>
        <p:nvSpPr>
          <p:cNvPr id="376" name="t375"/>
          <p:cNvSpPr txBox="1"/>
          <p:nvPr/>
        </p:nvSpPr>
        <p:spPr>
          <a:xfrm>
            <a:off x="822960" y="3090672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/>
                <a:cs typeface="Trebuchet MS"/>
              </a:rPr>
              <a:t>Native .NET 9</a:t>
            </a:r>
          </a:p>
        </p:txBody>
      </p:sp>
      <p:sp>
        <p:nvSpPr>
          <p:cNvPr id="378" name="t377"/>
          <p:cNvSpPr txBox="1"/>
          <p:nvPr/>
        </p:nvSpPr>
        <p:spPr>
          <a:xfrm>
            <a:off x="822960" y="3511296"/>
            <a:ext cx="22311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50" b="0" dirty="0">
                <a:solidFill>
                  <a:srgbClr val="9DB2C7"/>
                </a:solidFill>
                <a:latin typeface="Calibri"/>
                <a:cs typeface="Calibri"/>
              </a:rPr>
              <a:t>No JVM. Generates in milliseconds.</a:t>
            </a:r>
          </a:p>
        </p:txBody>
      </p:sp>
      <p:sp>
        <p:nvSpPr>
          <p:cNvPr id="380" name="r379"/>
          <p:cNvSpPr/>
          <p:nvPr/>
        </p:nvSpPr>
        <p:spPr>
          <a:xfrm>
            <a:off x="3401568" y="2889504"/>
            <a:ext cx="2615184" cy="1335024"/>
          </a:xfrm>
          <a:prstGeom prst="roundRect">
            <a:avLst>
              <a:gd name="adj" fmla="val 4794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2" name="r381"/>
          <p:cNvSpPr/>
          <p:nvPr/>
        </p:nvSpPr>
        <p:spPr>
          <a:xfrm>
            <a:off x="3401568" y="2889504"/>
            <a:ext cx="68580" cy="1335024"/>
          </a:xfrm>
          <a:prstGeom prst="roundRect">
            <a:avLst>
              <a:gd name="adj" fmla="val 50000"/>
            </a:avLst>
          </a:prstGeom>
          <a:solidFill>
            <a:srgbClr val="16C2AC"/>
          </a:solidFill>
        </p:spPr>
        <p:txBody>
          <a:bodyPr/>
          <a:lstStyle/>
          <a:p>
            <a:endParaRPr/>
          </a:p>
        </p:txBody>
      </p:sp>
      <p:sp>
        <p:nvSpPr>
          <p:cNvPr id="384" name="t383"/>
          <p:cNvSpPr txBox="1"/>
          <p:nvPr/>
        </p:nvSpPr>
        <p:spPr>
          <a:xfrm>
            <a:off x="3657600" y="3090672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/>
                <a:cs typeface="Trebuchet MS"/>
              </a:rPr>
              <a:t>FHIR-valid</a:t>
            </a:r>
          </a:p>
        </p:txBody>
      </p:sp>
      <p:sp>
        <p:nvSpPr>
          <p:cNvPr id="386" name="t385"/>
          <p:cNvSpPr txBox="1"/>
          <p:nvPr/>
        </p:nvSpPr>
        <p:spPr>
          <a:xfrm>
            <a:off x="3657600" y="3511296"/>
            <a:ext cx="22311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50" b="0" dirty="0">
                <a:solidFill>
                  <a:srgbClr val="9DB2C7"/>
                </a:solidFill>
                <a:latin typeface="Calibri"/>
                <a:cs typeface="Calibri"/>
              </a:rPr>
              <a:t>Passes schema + binding validation.</a:t>
            </a:r>
          </a:p>
        </p:txBody>
      </p:sp>
      <p:sp>
        <p:nvSpPr>
          <p:cNvPr id="388" name="r387"/>
          <p:cNvSpPr/>
          <p:nvPr/>
        </p:nvSpPr>
        <p:spPr>
          <a:xfrm>
            <a:off x="6236208" y="2889504"/>
            <a:ext cx="2615184" cy="1335024"/>
          </a:xfrm>
          <a:prstGeom prst="roundRect">
            <a:avLst>
              <a:gd name="adj" fmla="val 4794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0" name="r389"/>
          <p:cNvSpPr/>
          <p:nvPr/>
        </p:nvSpPr>
        <p:spPr>
          <a:xfrm>
            <a:off x="6236208" y="2889504"/>
            <a:ext cx="68580" cy="1335024"/>
          </a:xfrm>
          <a:prstGeom prst="roundRect">
            <a:avLst>
              <a:gd name="adj" fmla="val 50000"/>
            </a:avLst>
          </a:prstGeom>
          <a:solidFill>
            <a:srgbClr val="16C2AC"/>
          </a:solidFill>
        </p:spPr>
        <p:txBody>
          <a:bodyPr/>
          <a:lstStyle/>
          <a:p>
            <a:endParaRPr/>
          </a:p>
        </p:txBody>
      </p:sp>
      <p:sp>
        <p:nvSpPr>
          <p:cNvPr id="392" name="t391"/>
          <p:cNvSpPr txBox="1"/>
          <p:nvPr/>
        </p:nvSpPr>
        <p:spPr>
          <a:xfrm>
            <a:off x="6492240" y="3090672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/>
                <a:cs typeface="Trebuchet MS"/>
              </a:rPr>
              <a:t>Multi-version</a:t>
            </a:r>
          </a:p>
        </p:txBody>
      </p:sp>
      <p:sp>
        <p:nvSpPr>
          <p:cNvPr id="394" name="t393"/>
          <p:cNvSpPr txBox="1"/>
          <p:nvPr/>
        </p:nvSpPr>
        <p:spPr>
          <a:xfrm>
            <a:off x="6492240" y="3511296"/>
            <a:ext cx="22311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50" b="0" dirty="0">
                <a:solidFill>
                  <a:srgbClr val="9DB2C7"/>
                </a:solidFill>
                <a:latin typeface="Calibri"/>
                <a:cs typeface="Calibri"/>
              </a:rPr>
              <a:t>STU3 · R4 · R4B · R5 · R6</a:t>
            </a:r>
          </a:p>
        </p:txBody>
      </p:sp>
      <p:sp>
        <p:nvSpPr>
          <p:cNvPr id="396" name="r395"/>
          <p:cNvSpPr/>
          <p:nvPr/>
        </p:nvSpPr>
        <p:spPr>
          <a:xfrm>
            <a:off x="9070848" y="2889504"/>
            <a:ext cx="2615184" cy="1335024"/>
          </a:xfrm>
          <a:prstGeom prst="roundRect">
            <a:avLst>
              <a:gd name="adj" fmla="val 4794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8" name="r397"/>
          <p:cNvSpPr/>
          <p:nvPr/>
        </p:nvSpPr>
        <p:spPr>
          <a:xfrm>
            <a:off x="9070848" y="2889504"/>
            <a:ext cx="68580" cy="1335024"/>
          </a:xfrm>
          <a:prstGeom prst="roundRect">
            <a:avLst>
              <a:gd name="adj" fmla="val 50000"/>
            </a:avLst>
          </a:prstGeom>
          <a:solidFill>
            <a:srgbClr val="16C2AC"/>
          </a:solidFill>
        </p:spPr>
        <p:txBody>
          <a:bodyPr/>
          <a:lstStyle/>
          <a:p>
            <a:endParaRPr/>
          </a:p>
        </p:txBody>
      </p:sp>
      <p:sp>
        <p:nvSpPr>
          <p:cNvPr id="400" name="t399"/>
          <p:cNvSpPr txBox="1"/>
          <p:nvPr/>
        </p:nvSpPr>
        <p:spPr>
          <a:xfrm>
            <a:off x="9326880" y="3090672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/>
                <a:cs typeface="Trebuchet MS"/>
              </a:rPr>
              <a:t>MIT · open source</a:t>
            </a:r>
          </a:p>
        </p:txBody>
      </p:sp>
      <p:sp>
        <p:nvSpPr>
          <p:cNvPr id="402" name="t401"/>
          <p:cNvSpPr txBox="1"/>
          <p:nvPr/>
        </p:nvSpPr>
        <p:spPr>
          <a:xfrm>
            <a:off x="9326880" y="3511296"/>
            <a:ext cx="223113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250" b="0" dirty="0">
                <a:solidFill>
                  <a:srgbClr val="9DB2C7"/>
                </a:solidFill>
                <a:latin typeface="Calibri"/>
                <a:cs typeface="Calibri"/>
              </a:rPr>
              <a:t>Inspired by Synthea.</a:t>
            </a:r>
          </a:p>
        </p:txBody>
      </p:sp>
      <p:sp>
        <p:nvSpPr>
          <p:cNvPr id="404" name="r403"/>
          <p:cNvSpPr/>
          <p:nvPr/>
        </p:nvSpPr>
        <p:spPr>
          <a:xfrm>
            <a:off x="566928" y="4535424"/>
            <a:ext cx="11064240" cy="1078992"/>
          </a:xfrm>
          <a:prstGeom prst="roundRect">
            <a:avLst>
              <a:gd name="adj" fmla="val 4237"/>
            </a:avLst>
          </a:prstGeom>
          <a:solidFill>
            <a:srgbClr val="0A1422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6" name="t405"/>
          <p:cNvSpPr txBox="1"/>
          <p:nvPr/>
        </p:nvSpPr>
        <p:spPr>
          <a:xfrm>
            <a:off x="932688" y="4718304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6C2AC"/>
                </a:solidFill>
                <a:latin typeface="Consolas"/>
                <a:cs typeface="Consolas"/>
              </a:rPr>
              <a:t>$ </a:t>
            </a:r>
            <a:r>
              <a:rPr lang="en-US" sz="1350" b="0" dirty="0">
                <a:solidFill>
                  <a:srgbClr val="E6EDF3"/>
                </a:solidFill>
                <a:latin typeface="Consolas"/>
                <a:cs typeface="Consolas"/>
              </a:rPr>
              <a:t>dotnet add package Ignixa.FhirFakes</a:t>
            </a:r>
          </a:p>
        </p:txBody>
      </p:sp>
      <p:sp>
        <p:nvSpPr>
          <p:cNvPr id="408" name="t407"/>
          <p:cNvSpPr txBox="1"/>
          <p:nvPr/>
        </p:nvSpPr>
        <p:spPr>
          <a:xfrm>
            <a:off x="932688" y="5102352"/>
            <a:ext cx="10332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6C2AC"/>
                </a:solidFill>
                <a:latin typeface="Consolas"/>
                <a:cs typeface="Consolas"/>
              </a:rPr>
              <a:t>$ </a:t>
            </a:r>
            <a:r>
              <a:rPr lang="en-US" sz="1350" b="0" dirty="0">
                <a:solidFill>
                  <a:srgbClr val="E6EDF3"/>
                </a:solidFill>
                <a:latin typeface="Consolas"/>
                <a:cs typeface="Consolas"/>
              </a:rPr>
              <a:t>dotnet tool install -g Ignixa.FhirFakes.Cli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411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16C2AC"/>
                </a:solidFill>
                <a:latin typeface="Trebuchet MS"/>
                <a:cs typeface="Trebuchet MS"/>
              </a:rPr>
              <a:t>THE CORE DESIGN</a:t>
            </a:r>
          </a:p>
        </p:txBody>
      </p:sp>
      <p:sp>
        <p:nvSpPr>
          <p:cNvPr id="414" name="t413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Four layers. Pick your level.</a:t>
            </a:r>
          </a:p>
        </p:txBody>
      </p:sp>
      <p:sp>
        <p:nvSpPr>
          <p:cNvPr id="416" name="r415"/>
          <p:cNvSpPr/>
          <p:nvPr/>
        </p:nvSpPr>
        <p:spPr>
          <a:xfrm>
            <a:off x="566928" y="1865376"/>
            <a:ext cx="8732520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8" name="r417"/>
          <p:cNvSpPr/>
          <p:nvPr/>
        </p:nvSpPr>
        <p:spPr>
          <a:xfrm>
            <a:off x="566928" y="1865376"/>
            <a:ext cx="786384" cy="969264"/>
          </a:xfrm>
          <a:prstGeom prst="roundRect">
            <a:avLst>
              <a:gd name="adj" fmla="val 5232"/>
            </a:avLst>
          </a:prstGeom>
          <a:solidFill>
            <a:srgbClr val="6D49E0"/>
          </a:solidFill>
        </p:spPr>
        <p:txBody>
          <a:bodyPr/>
          <a:lstStyle/>
          <a:p>
            <a:endParaRPr/>
          </a:p>
        </p:txBody>
      </p:sp>
      <p:sp>
        <p:nvSpPr>
          <p:cNvPr id="420" name="r419"/>
          <p:cNvSpPr/>
          <p:nvPr/>
        </p:nvSpPr>
        <p:spPr>
          <a:xfrm>
            <a:off x="1280160" y="1865376"/>
            <a:ext cx="91440" cy="969264"/>
          </a:xfrm>
          <a:prstGeom prst="rect">
            <a:avLst/>
          </a:prstGeom>
          <a:solidFill>
            <a:srgbClr val="6D49E0"/>
          </a:solidFill>
        </p:spPr>
        <p:txBody>
          <a:bodyPr/>
          <a:lstStyle/>
          <a:p>
            <a:endParaRPr/>
          </a:p>
        </p:txBody>
      </p:sp>
      <p:sp>
        <p:nvSpPr>
          <p:cNvPr id="422" name="t421"/>
          <p:cNvSpPr txBox="1"/>
          <p:nvPr/>
        </p:nvSpPr>
        <p:spPr>
          <a:xfrm>
            <a:off x="566928" y="1865376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</a:p>
        </p:txBody>
      </p:sp>
      <p:sp>
        <p:nvSpPr>
          <p:cNvPr id="424" name="t423"/>
          <p:cNvSpPr txBox="1"/>
          <p:nvPr/>
        </p:nvSpPr>
        <p:spPr>
          <a:xfrm>
            <a:off x="1554480" y="2016252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/>
                <a:cs typeface="Trebuchet MS"/>
              </a:rPr>
              <a:t>Layer 4 · Population Generation</a:t>
            </a:r>
          </a:p>
        </p:txBody>
      </p:sp>
      <p:sp>
        <p:nvSpPr>
          <p:cNvPr id="426" name="t425"/>
          <p:cNvSpPr txBox="1"/>
          <p:nvPr/>
        </p:nvSpPr>
        <p:spPr>
          <a:xfrm>
            <a:off x="1554480" y="2409444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5E7382"/>
                </a:solidFill>
                <a:latin typeface="Calibri"/>
                <a:cs typeface="Calibri"/>
              </a:rPr>
              <a:t>Realistic cohorts — US Census demographics</a:t>
            </a:r>
          </a:p>
        </p:txBody>
      </p:sp>
      <p:cxnSp>
        <p:nvCxnSpPr>
          <p:cNvPr id="428" name="l427"/>
          <p:cNvCxnSpPr/>
          <p:nvPr/>
        </p:nvCxnSpPr>
        <p:spPr>
          <a:xfrm>
            <a:off x="6007608" y="2066544"/>
            <a:ext cx="0" cy="566928"/>
          </a:xfrm>
          <a:prstGeom prst="line">
            <a:avLst/>
          </a:prstGeom>
          <a:ln w="12700" cap="rnd">
            <a:solidFill>
              <a:srgbClr val="E2E8E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430" name="t429"/>
          <p:cNvSpPr txBox="1"/>
          <p:nvPr/>
        </p:nvSpPr>
        <p:spPr>
          <a:xfrm>
            <a:off x="6236208" y="1865376"/>
            <a:ext cx="292608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200" b="0" dirty="0">
                <a:solidFill>
                  <a:srgbClr val="33485A"/>
                </a:solidFill>
                <a:latin typeface="Consolas"/>
                <a:cs typeface="Consolas"/>
              </a:rPr>
              <a:t>ignixa-fakes r4 population --from Seattle --count 1000</a:t>
            </a:r>
          </a:p>
        </p:txBody>
      </p:sp>
      <p:sp>
        <p:nvSpPr>
          <p:cNvPr id="432" name="r431"/>
          <p:cNvSpPr/>
          <p:nvPr/>
        </p:nvSpPr>
        <p:spPr>
          <a:xfrm>
            <a:off x="566928" y="2958084"/>
            <a:ext cx="8732520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4" name="r433"/>
          <p:cNvSpPr/>
          <p:nvPr/>
        </p:nvSpPr>
        <p:spPr>
          <a:xfrm>
            <a:off x="566928" y="2958084"/>
            <a:ext cx="786384" cy="969264"/>
          </a:xfrm>
          <a:prstGeom prst="roundRect">
            <a:avLst>
              <a:gd name="adj" fmla="val 5232"/>
            </a:avLst>
          </a:prstGeom>
          <a:solidFill>
            <a:srgbClr val="3B82C4"/>
          </a:solidFill>
        </p:spPr>
        <p:txBody>
          <a:bodyPr/>
          <a:lstStyle/>
          <a:p>
            <a:endParaRPr/>
          </a:p>
        </p:txBody>
      </p:sp>
      <p:sp>
        <p:nvSpPr>
          <p:cNvPr id="436" name="r435"/>
          <p:cNvSpPr/>
          <p:nvPr/>
        </p:nvSpPr>
        <p:spPr>
          <a:xfrm>
            <a:off x="1280160" y="2958084"/>
            <a:ext cx="91440" cy="969264"/>
          </a:xfrm>
          <a:prstGeom prst="rect">
            <a:avLst/>
          </a:prstGeom>
          <a:solidFill>
            <a:srgbClr val="3B82C4"/>
          </a:solidFill>
        </p:spPr>
        <p:txBody>
          <a:bodyPr/>
          <a:lstStyle/>
          <a:p>
            <a:endParaRPr/>
          </a:p>
        </p:txBody>
      </p:sp>
      <p:sp>
        <p:nvSpPr>
          <p:cNvPr id="438" name="t437"/>
          <p:cNvSpPr txBox="1"/>
          <p:nvPr/>
        </p:nvSpPr>
        <p:spPr>
          <a:xfrm>
            <a:off x="566928" y="2958084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</a:p>
        </p:txBody>
      </p:sp>
      <p:sp>
        <p:nvSpPr>
          <p:cNvPr id="440" name="t439"/>
          <p:cNvSpPr txBox="1"/>
          <p:nvPr/>
        </p:nvSpPr>
        <p:spPr>
          <a:xfrm>
            <a:off x="1554480" y="3108960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/>
                <a:cs typeface="Trebuchet MS"/>
              </a:rPr>
              <a:t>Layer 3 · Patient Lifecycles</a:t>
            </a:r>
          </a:p>
        </p:txBody>
      </p:sp>
      <p:sp>
        <p:nvSpPr>
          <p:cNvPr id="442" name="t441"/>
          <p:cNvSpPr txBox="1"/>
          <p:nvPr/>
        </p:nvSpPr>
        <p:spPr>
          <a:xfrm>
            <a:off x="1554480" y="3502152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5E7382"/>
                </a:solidFill>
                <a:latin typeface="Calibri"/>
                <a:cs typeface="Calibri"/>
              </a:rPr>
              <a:t>A full life simulated, birth to today</a:t>
            </a:r>
          </a:p>
        </p:txBody>
      </p:sp>
      <p:cxnSp>
        <p:nvCxnSpPr>
          <p:cNvPr id="444" name="l443"/>
          <p:cNvCxnSpPr/>
          <p:nvPr/>
        </p:nvCxnSpPr>
        <p:spPr>
          <a:xfrm>
            <a:off x="6007608" y="3159252"/>
            <a:ext cx="0" cy="566928"/>
          </a:xfrm>
          <a:prstGeom prst="line">
            <a:avLst/>
          </a:prstGeom>
          <a:ln w="12700" cap="rnd">
            <a:solidFill>
              <a:srgbClr val="E2E8E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446" name="t445"/>
          <p:cNvSpPr txBox="1"/>
          <p:nvPr/>
        </p:nvSpPr>
        <p:spPr>
          <a:xfrm>
            <a:off x="6236208" y="2958084"/>
            <a:ext cx="292608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200" b="0" dirty="0">
                <a:solidFill>
                  <a:srgbClr val="33485A"/>
                </a:solidFill>
                <a:latin typeface="Consolas"/>
                <a:cs typeface="Consolas"/>
              </a:rPr>
              <a:t>50-year-old with metabolic syndrome, full history</a:t>
            </a:r>
          </a:p>
        </p:txBody>
      </p:sp>
      <p:sp>
        <p:nvSpPr>
          <p:cNvPr id="448" name="r447"/>
          <p:cNvSpPr/>
          <p:nvPr/>
        </p:nvSpPr>
        <p:spPr>
          <a:xfrm>
            <a:off x="566928" y="4050792"/>
            <a:ext cx="8732520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0" name="r449"/>
          <p:cNvSpPr/>
          <p:nvPr/>
        </p:nvSpPr>
        <p:spPr>
          <a:xfrm>
            <a:off x="566928" y="4050792"/>
            <a:ext cx="786384" cy="969264"/>
          </a:xfrm>
          <a:prstGeom prst="roundRect">
            <a:avLst>
              <a:gd name="adj" fmla="val 5232"/>
            </a:avLst>
          </a:prstGeom>
          <a:solidFill>
            <a:srgbClr val="0E9C8A"/>
          </a:solidFill>
        </p:spPr>
        <p:txBody>
          <a:bodyPr/>
          <a:lstStyle/>
          <a:p>
            <a:endParaRPr/>
          </a:p>
        </p:txBody>
      </p:sp>
      <p:sp>
        <p:nvSpPr>
          <p:cNvPr id="452" name="r451"/>
          <p:cNvSpPr/>
          <p:nvPr/>
        </p:nvSpPr>
        <p:spPr>
          <a:xfrm>
            <a:off x="1280160" y="4050792"/>
            <a:ext cx="91440" cy="969264"/>
          </a:xfrm>
          <a:prstGeom prst="rect">
            <a:avLst/>
          </a:prstGeom>
          <a:solidFill>
            <a:srgbClr val="0E9C8A"/>
          </a:solidFill>
        </p:spPr>
        <p:txBody>
          <a:bodyPr/>
          <a:lstStyle/>
          <a:p>
            <a:endParaRPr/>
          </a:p>
        </p:txBody>
      </p:sp>
      <p:sp>
        <p:nvSpPr>
          <p:cNvPr id="454" name="t453"/>
          <p:cNvSpPr txBox="1"/>
          <p:nvPr/>
        </p:nvSpPr>
        <p:spPr>
          <a:xfrm>
            <a:off x="566928" y="4050792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</a:p>
        </p:txBody>
      </p:sp>
      <p:sp>
        <p:nvSpPr>
          <p:cNvPr id="456" name="t455"/>
          <p:cNvSpPr txBox="1"/>
          <p:nvPr/>
        </p:nvSpPr>
        <p:spPr>
          <a:xfrm>
            <a:off x="1554480" y="420166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/>
                <a:cs typeface="Trebuchet MS"/>
              </a:rPr>
              <a:t>Layer 2 · Clinical Scenarios</a:t>
            </a:r>
          </a:p>
        </p:txBody>
      </p:sp>
      <p:sp>
        <p:nvSpPr>
          <p:cNvPr id="458" name="t457"/>
          <p:cNvSpPr txBox="1"/>
          <p:nvPr/>
        </p:nvSpPr>
        <p:spPr>
          <a:xfrm>
            <a:off x="1554480" y="459486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5E7382"/>
                </a:solidFill>
                <a:latin typeface="Calibri"/>
                <a:cs typeface="Calibri"/>
              </a:rPr>
              <a:t>Fluent C# — express clinical intent</a:t>
            </a:r>
          </a:p>
        </p:txBody>
      </p:sp>
      <p:cxnSp>
        <p:nvCxnSpPr>
          <p:cNvPr id="460" name="l459"/>
          <p:cNvCxnSpPr/>
          <p:nvPr/>
        </p:nvCxnSpPr>
        <p:spPr>
          <a:xfrm>
            <a:off x="6007608" y="4251960"/>
            <a:ext cx="0" cy="566928"/>
          </a:xfrm>
          <a:prstGeom prst="line">
            <a:avLst/>
          </a:prstGeom>
          <a:ln w="12700" cap="rnd">
            <a:solidFill>
              <a:srgbClr val="E2E8E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462" name="t461"/>
          <p:cNvSpPr txBox="1"/>
          <p:nvPr/>
        </p:nvSpPr>
        <p:spPr>
          <a:xfrm>
            <a:off x="6236208" y="4050792"/>
            <a:ext cx="292608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200" b="0" dirty="0">
                <a:solidFill>
                  <a:srgbClr val="33485A"/>
                </a:solidFill>
                <a:latin typeface="Consolas"/>
                <a:cs typeface="Consolas"/>
              </a:rPr>
              <a:t>Wellness visit, 15% chance of hyperlipidemia</a:t>
            </a:r>
          </a:p>
        </p:txBody>
      </p:sp>
      <p:sp>
        <p:nvSpPr>
          <p:cNvPr id="464" name="r463"/>
          <p:cNvSpPr/>
          <p:nvPr/>
        </p:nvSpPr>
        <p:spPr>
          <a:xfrm>
            <a:off x="566928" y="5143500"/>
            <a:ext cx="8732520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6" name="r465"/>
          <p:cNvSpPr/>
          <p:nvPr/>
        </p:nvSpPr>
        <p:spPr>
          <a:xfrm>
            <a:off x="566928" y="5143500"/>
            <a:ext cx="786384" cy="969264"/>
          </a:xfrm>
          <a:prstGeom prst="roundRect">
            <a:avLst>
              <a:gd name="adj" fmla="val 5232"/>
            </a:avLst>
          </a:prstGeom>
          <a:solidFill>
            <a:srgbClr val="C97A0E"/>
          </a:solidFill>
        </p:spPr>
        <p:txBody>
          <a:bodyPr/>
          <a:lstStyle/>
          <a:p>
            <a:endParaRPr/>
          </a:p>
        </p:txBody>
      </p:sp>
      <p:sp>
        <p:nvSpPr>
          <p:cNvPr id="468" name="r467"/>
          <p:cNvSpPr/>
          <p:nvPr/>
        </p:nvSpPr>
        <p:spPr>
          <a:xfrm>
            <a:off x="1280160" y="5143500"/>
            <a:ext cx="91440" cy="969264"/>
          </a:xfrm>
          <a:prstGeom prst="rect">
            <a:avLst/>
          </a:prstGeom>
          <a:solidFill>
            <a:srgbClr val="C97A0E"/>
          </a:solidFill>
        </p:spPr>
        <p:txBody>
          <a:bodyPr/>
          <a:lstStyle/>
          <a:p>
            <a:endParaRPr/>
          </a:p>
        </p:txBody>
      </p:sp>
      <p:sp>
        <p:nvSpPr>
          <p:cNvPr id="470" name="t469"/>
          <p:cNvSpPr txBox="1"/>
          <p:nvPr/>
        </p:nvSpPr>
        <p:spPr>
          <a:xfrm>
            <a:off x="566928" y="5143500"/>
            <a:ext cx="786384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</a:p>
        </p:txBody>
      </p:sp>
      <p:sp>
        <p:nvSpPr>
          <p:cNvPr id="472" name="t471"/>
          <p:cNvSpPr txBox="1"/>
          <p:nvPr/>
        </p:nvSpPr>
        <p:spPr>
          <a:xfrm>
            <a:off x="1554480" y="5294376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0B1F33"/>
                </a:solidFill>
                <a:latin typeface="Trebuchet MS"/>
                <a:cs typeface="Trebuchet MS"/>
              </a:rPr>
              <a:t>Layer 1 · Random Valid Resources</a:t>
            </a:r>
          </a:p>
        </p:txBody>
      </p:sp>
      <p:sp>
        <p:nvSpPr>
          <p:cNvPr id="474" name="t473"/>
          <p:cNvSpPr txBox="1"/>
          <p:nvPr/>
        </p:nvSpPr>
        <p:spPr>
          <a:xfrm>
            <a:off x="1554480" y="5687568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5E7382"/>
                </a:solidFill>
                <a:latin typeface="Calibri"/>
                <a:cs typeface="Calibri"/>
              </a:rPr>
              <a:t>Schema-driven, binding-aware</a:t>
            </a:r>
          </a:p>
        </p:txBody>
      </p:sp>
      <p:cxnSp>
        <p:nvCxnSpPr>
          <p:cNvPr id="476" name="l475"/>
          <p:cNvCxnSpPr/>
          <p:nvPr/>
        </p:nvCxnSpPr>
        <p:spPr>
          <a:xfrm>
            <a:off x="6007608" y="5344668"/>
            <a:ext cx="0" cy="566928"/>
          </a:xfrm>
          <a:prstGeom prst="line">
            <a:avLst/>
          </a:prstGeom>
          <a:ln w="12700" cap="rnd">
            <a:solidFill>
              <a:srgbClr val="E2E8E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478" name="t477"/>
          <p:cNvSpPr txBox="1"/>
          <p:nvPr/>
        </p:nvSpPr>
        <p:spPr>
          <a:xfrm>
            <a:off x="6236208" y="5143500"/>
            <a:ext cx="2926080" cy="9692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200" b="0" dirty="0">
                <a:solidFill>
                  <a:srgbClr val="33485A"/>
                </a:solidFill>
                <a:latin typeface="Consolas"/>
                <a:cs typeface="Consolas"/>
              </a:rPr>
              <a:t>A valid Patient resource in three lines</a:t>
            </a:r>
          </a:p>
        </p:txBody>
      </p:sp>
      <p:sp>
        <p:nvSpPr>
          <p:cNvPr id="480" name="r479"/>
          <p:cNvSpPr/>
          <p:nvPr/>
        </p:nvSpPr>
        <p:spPr>
          <a:xfrm>
            <a:off x="9610344" y="1865376"/>
            <a:ext cx="2020824" cy="4288536"/>
          </a:xfrm>
          <a:prstGeom prst="roundRect">
            <a:avLst>
              <a:gd name="adj" fmla="val 2262"/>
            </a:avLst>
          </a:prstGeom>
          <a:solidFill>
            <a:srgbClr val="0B1F33"/>
          </a:solidFill>
        </p:spPr>
        <p:txBody>
          <a:bodyPr/>
          <a:lstStyle/>
          <a:p>
            <a:endParaRPr/>
          </a:p>
        </p:txBody>
      </p:sp>
      <p:sp>
        <p:nvSpPr>
          <p:cNvPr id="482" name="t481"/>
          <p:cNvSpPr txBox="1"/>
          <p:nvPr/>
        </p:nvSpPr>
        <p:spPr>
          <a:xfrm>
            <a:off x="9866376" y="2103120"/>
            <a:ext cx="156362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/>
                <a:cs typeface="Trebuchet MS"/>
              </a:rPr>
              <a:t>Each layer builds on the one below.</a:t>
            </a:r>
          </a:p>
        </p:txBody>
      </p:sp>
      <p:sp>
        <p:nvSpPr>
          <p:cNvPr id="484" name="t483"/>
          <p:cNvSpPr txBox="1"/>
          <p:nvPr/>
        </p:nvSpPr>
        <p:spPr>
          <a:xfrm>
            <a:off x="9866376" y="3017520"/>
            <a:ext cx="1563624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C2AC"/>
                </a:solidFill>
                <a:latin typeface="Calibri"/>
                <a:cs typeface="Calibri"/>
              </a:rPr>
              <a:t>▴  more control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6C2AC"/>
                </a:solidFill>
                <a:latin typeface="Calibri"/>
                <a:cs typeface="Calibri"/>
              </a:rPr>
              <a:t>more realism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16C2AC"/>
                </a:solidFill>
                <a:latin typeface="Calibri"/>
                <a:cs typeface="Calibri"/>
              </a:rPr>
              <a:t>▾</a:t>
            </a:r>
          </a:p>
          <a:p>
            <a:pPr algn="l">
              <a:lnSpc>
                <a:spcPct val="128000"/>
              </a:lnSpc>
              <a:spcBef>
                <a:spcPts val="1400"/>
              </a:spcBef>
              <a:buNone/>
            </a:pPr>
            <a:r>
              <a:rPr lang="en-US" sz="1250" b="0" dirty="0">
                <a:solidFill>
                  <a:srgbClr val="9DB2C7"/>
                </a:solidFill>
                <a:latin typeface="Calibri"/>
                <a:cs typeface="Calibri"/>
              </a:rPr>
              <a:t>Use as much — or as little — as the test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48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F2A93B"/>
                </a:solidFill>
                <a:latin typeface="Trebuchet MS"/>
                <a:cs typeface="Trebuchet MS"/>
              </a:rPr>
              <a:t>LAYER 1 · SCHEMA-DRIVEN</a:t>
            </a:r>
          </a:p>
        </p:txBody>
      </p:sp>
      <p:sp>
        <p:nvSpPr>
          <p:cNvPr id="488" name="t487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Random — but always valid.</a:t>
            </a:r>
          </a:p>
        </p:txBody>
      </p:sp>
      <p:sp>
        <p:nvSpPr>
          <p:cNvPr id="490" name="t489"/>
          <p:cNvSpPr txBox="1"/>
          <p:nvPr/>
        </p:nvSpPr>
        <p:spPr>
          <a:xfrm>
            <a:off x="566928" y="1874520"/>
            <a:ext cx="598932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SchemaBasedFhirResourceFaker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generates any FHIR resource type from schema metadata, not JSON templates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Binding-aware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picks codes from the correct value sets, not random strings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Semantically valid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a Patient gets a valid gender code; an Observation a valid LOINC code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Valid cross-references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and complex types, respecting cardinality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All FHIR versions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STU3, R4, R4B, R5, R6</a:t>
            </a:r>
          </a:p>
        </p:txBody>
      </p:sp>
      <p:sp>
        <p:nvSpPr>
          <p:cNvPr id="492" name="r491"/>
          <p:cNvSpPr/>
          <p:nvPr/>
        </p:nvSpPr>
        <p:spPr>
          <a:xfrm>
            <a:off x="6922008" y="1874520"/>
            <a:ext cx="4709160" cy="4160520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4" name="t493"/>
          <p:cNvSpPr txBox="1"/>
          <p:nvPr/>
        </p:nvSpPr>
        <p:spPr>
          <a:xfrm>
            <a:off x="7232904" y="210312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50" b="1" dirty="0">
                <a:solidFill>
                  <a:srgbClr val="C97A0E"/>
                </a:solidFill>
                <a:latin typeface="Trebuchet MS"/>
                <a:cs typeface="Trebuchet MS"/>
              </a:rPr>
              <a:t>BindingCodeMapper</a:t>
            </a:r>
          </a:p>
        </p:txBody>
      </p:sp>
      <p:sp>
        <p:nvSpPr>
          <p:cNvPr id="496" name="t495"/>
          <p:cNvSpPr txBox="1"/>
          <p:nvPr/>
        </p:nvSpPr>
        <p:spPr>
          <a:xfrm>
            <a:off x="7232904" y="2468880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0" i="1" dirty="0">
                <a:solidFill>
                  <a:srgbClr val="5E7382"/>
                </a:solidFill>
                <a:latin typeface="Calibri"/>
                <a:cs typeface="Calibri"/>
              </a:rPr>
              <a:t>value set  →  terminology</a:t>
            </a:r>
          </a:p>
        </p:txBody>
      </p:sp>
      <p:sp>
        <p:nvSpPr>
          <p:cNvPr id="498" name="t497"/>
          <p:cNvSpPr txBox="1"/>
          <p:nvPr/>
        </p:nvSpPr>
        <p:spPr>
          <a:xfrm>
            <a:off x="7232904" y="288950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B1F33"/>
                </a:solidFill>
                <a:latin typeface="Consolas"/>
                <a:cs typeface="Consolas"/>
              </a:rPr>
              <a:t>observation-codes</a:t>
            </a:r>
            <a:r>
              <a:rPr lang="en-US" sz="1200" b="0" dirty="0">
                <a:solidFill>
                  <a:srgbClr val="94A4B0"/>
                </a:solidFill>
                <a:latin typeface="Calibri"/>
                <a:cs typeface="Calibri"/>
              </a:rPr>
              <a:t>   →   </a:t>
            </a:r>
            <a:r>
              <a:rPr lang="en-US" sz="1200" b="1" dirty="0">
                <a:solidFill>
                  <a:srgbClr val="0E9C8A"/>
                </a:solidFill>
                <a:latin typeface="Consolas"/>
                <a:cs typeface="Consolas"/>
              </a:rPr>
              <a:t>LOINC</a:t>
            </a:r>
          </a:p>
        </p:txBody>
      </p:sp>
      <p:sp>
        <p:nvSpPr>
          <p:cNvPr id="500" name="t499"/>
          <p:cNvSpPr txBox="1"/>
          <p:nvPr/>
        </p:nvSpPr>
        <p:spPr>
          <a:xfrm>
            <a:off x="7232904" y="333756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B1F33"/>
                </a:solidFill>
                <a:latin typeface="Consolas"/>
                <a:cs typeface="Consolas"/>
              </a:rPr>
              <a:t>condition-code</a:t>
            </a:r>
            <a:r>
              <a:rPr lang="en-US" sz="1200" b="0" dirty="0">
                <a:solidFill>
                  <a:srgbClr val="94A4B0"/>
                </a:solidFill>
                <a:latin typeface="Calibri"/>
                <a:cs typeface="Calibri"/>
              </a:rPr>
              <a:t>   →   </a:t>
            </a:r>
            <a:r>
              <a:rPr lang="en-US" sz="1200" b="1" dirty="0">
                <a:solidFill>
                  <a:srgbClr val="0E9C8A"/>
                </a:solidFill>
                <a:latin typeface="Consolas"/>
                <a:cs typeface="Consolas"/>
              </a:rPr>
              <a:t>SNOMED CT</a:t>
            </a:r>
          </a:p>
        </p:txBody>
      </p:sp>
      <p:sp>
        <p:nvSpPr>
          <p:cNvPr id="502" name="t501"/>
          <p:cNvSpPr txBox="1"/>
          <p:nvPr/>
        </p:nvSpPr>
        <p:spPr>
          <a:xfrm>
            <a:off x="7232904" y="3785616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B1F33"/>
                </a:solidFill>
                <a:latin typeface="Consolas"/>
                <a:cs typeface="Consolas"/>
              </a:rPr>
              <a:t>medication-codes</a:t>
            </a:r>
            <a:r>
              <a:rPr lang="en-US" sz="1200" b="0" dirty="0">
                <a:solidFill>
                  <a:srgbClr val="94A4B0"/>
                </a:solidFill>
                <a:latin typeface="Calibri"/>
                <a:cs typeface="Calibri"/>
              </a:rPr>
              <a:t>   →   </a:t>
            </a:r>
            <a:r>
              <a:rPr lang="en-US" sz="1200" b="1" dirty="0">
                <a:solidFill>
                  <a:srgbClr val="0E9C8A"/>
                </a:solidFill>
                <a:latin typeface="Consolas"/>
                <a:cs typeface="Consolas"/>
              </a:rPr>
              <a:t>RxNorm</a:t>
            </a:r>
          </a:p>
        </p:txBody>
      </p:sp>
      <p:sp>
        <p:nvSpPr>
          <p:cNvPr id="504" name="t503"/>
          <p:cNvSpPr txBox="1"/>
          <p:nvPr/>
        </p:nvSpPr>
        <p:spPr>
          <a:xfrm>
            <a:off x="7232904" y="4233672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B1F33"/>
                </a:solidFill>
                <a:latin typeface="Consolas"/>
                <a:cs typeface="Consolas"/>
              </a:rPr>
              <a:t>vaccine-code</a:t>
            </a:r>
            <a:r>
              <a:rPr lang="en-US" sz="1200" b="0" dirty="0">
                <a:solidFill>
                  <a:srgbClr val="94A4B0"/>
                </a:solidFill>
                <a:latin typeface="Calibri"/>
                <a:cs typeface="Calibri"/>
              </a:rPr>
              <a:t>   →   </a:t>
            </a:r>
            <a:r>
              <a:rPr lang="en-US" sz="1200" b="1" dirty="0">
                <a:solidFill>
                  <a:srgbClr val="0E9C8A"/>
                </a:solidFill>
                <a:latin typeface="Consolas"/>
                <a:cs typeface="Consolas"/>
              </a:rPr>
              <a:t>CVX</a:t>
            </a:r>
          </a:p>
        </p:txBody>
      </p:sp>
      <p:sp>
        <p:nvSpPr>
          <p:cNvPr id="506" name="t505"/>
          <p:cNvSpPr txBox="1"/>
          <p:nvPr/>
        </p:nvSpPr>
        <p:spPr>
          <a:xfrm>
            <a:off x="7232904" y="4681728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B1F33"/>
                </a:solidFill>
                <a:latin typeface="Consolas"/>
                <a:cs typeface="Consolas"/>
              </a:rPr>
              <a:t>procedure-code</a:t>
            </a:r>
            <a:r>
              <a:rPr lang="en-US" sz="1200" b="0" dirty="0">
                <a:solidFill>
                  <a:srgbClr val="94A4B0"/>
                </a:solidFill>
                <a:latin typeface="Calibri"/>
                <a:cs typeface="Calibri"/>
              </a:rPr>
              <a:t>   →   </a:t>
            </a:r>
            <a:r>
              <a:rPr lang="en-US" sz="1200" b="1" dirty="0">
                <a:solidFill>
                  <a:srgbClr val="0E9C8A"/>
                </a:solidFill>
                <a:latin typeface="Consolas"/>
                <a:cs typeface="Consolas"/>
              </a:rPr>
              <a:t>SNOMED CT</a:t>
            </a:r>
          </a:p>
        </p:txBody>
      </p:sp>
      <p:sp>
        <p:nvSpPr>
          <p:cNvPr id="508" name="t507"/>
          <p:cNvSpPr txBox="1"/>
          <p:nvPr/>
        </p:nvSpPr>
        <p:spPr>
          <a:xfrm>
            <a:off x="7232904" y="512978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0B1F33"/>
                </a:solidFill>
                <a:latin typeface="Consolas"/>
                <a:cs typeface="Consolas"/>
              </a:rPr>
              <a:t>allergyintolerance</a:t>
            </a:r>
            <a:r>
              <a:rPr lang="en-US" sz="1200" b="0" dirty="0">
                <a:solidFill>
                  <a:srgbClr val="94A4B0"/>
                </a:solidFill>
                <a:latin typeface="Calibri"/>
                <a:cs typeface="Calibri"/>
              </a:rPr>
              <a:t>   →   </a:t>
            </a:r>
            <a:r>
              <a:rPr lang="en-US" sz="1200" b="1" dirty="0">
                <a:solidFill>
                  <a:srgbClr val="0E9C8A"/>
                </a:solidFill>
                <a:latin typeface="Consolas"/>
                <a:cs typeface="Consolas"/>
              </a:rPr>
              <a:t>SNOMED CT</a:t>
            </a:r>
          </a:p>
        </p:txBody>
      </p:sp>
      <p:sp>
        <p:nvSpPr>
          <p:cNvPr id="510" name="t509"/>
          <p:cNvSpPr txBox="1"/>
          <p:nvPr/>
        </p:nvSpPr>
        <p:spPr>
          <a:xfrm>
            <a:off x="566928" y="60533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5E7382"/>
                </a:solidFill>
                <a:latin typeface="Calibri"/>
                <a:cs typeface="Calibri"/>
              </a:rPr>
              <a:t>Not just structurally valid — semantically valid.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511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16C2AC"/>
                </a:solidFill>
                <a:latin typeface="Trebuchet MS"/>
                <a:cs typeface="Trebuchet MS"/>
              </a:rPr>
              <a:t>LAYER 2 · FLUENT BUILDERS</a:t>
            </a:r>
          </a:p>
        </p:txBody>
      </p:sp>
      <p:sp>
        <p:nvSpPr>
          <p:cNvPr id="514" name="t513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Express clinical intent in C#.</a:t>
            </a:r>
          </a:p>
        </p:txBody>
      </p:sp>
      <p:sp>
        <p:nvSpPr>
          <p:cNvPr id="516" name="t515"/>
          <p:cNvSpPr txBox="1"/>
          <p:nvPr/>
        </p:nvSpPr>
        <p:spPr>
          <a:xfrm>
            <a:off x="566928" y="18288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500" b="1" dirty="0">
                <a:solidFill>
                  <a:srgbClr val="0B1F33"/>
                </a:solidFill>
                <a:latin typeface="Consolas"/>
                <a:cs typeface="Consolas"/>
              </a:rPr>
              <a:t>ScenarioBuilder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is a fluent composition API. You don’t construct JSON — you describe what happened to a patient.</a:t>
            </a:r>
          </a:p>
        </p:txBody>
      </p:sp>
      <p:sp>
        <p:nvSpPr>
          <p:cNvPr id="518" name="t517"/>
          <p:cNvSpPr txBox="1"/>
          <p:nvPr/>
        </p:nvSpPr>
        <p:spPr>
          <a:xfrm>
            <a:off x="566928" y="3017520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C2AC"/>
                </a:solidFill>
                <a:latin typeface="Calibri"/>
                <a:cs typeface="Calibri"/>
              </a:rPr>
              <a:t>▸  </a:t>
            </a:r>
            <a:r>
              <a:rPr lang="en-US" sz="1300" b="1" dirty="0">
                <a:solidFill>
                  <a:srgbClr val="0B1F33"/>
                </a:solidFill>
                <a:latin typeface="Calibri"/>
                <a:cs typeface="Calibri"/>
              </a:rPr>
              <a:t>.WithPatient(p =&gt; p.WithAge(55))</a:t>
            </a:r>
          </a:p>
          <a:p>
            <a:pPr marL="274320" indent="-274320" algn="l">
              <a:lnSpc>
                <a:spcPct val="120000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16C2AC"/>
                </a:solidFill>
                <a:latin typeface="Calibri"/>
                <a:cs typeface="Calibri"/>
              </a:rPr>
              <a:t>▸  </a:t>
            </a:r>
            <a:r>
              <a:rPr lang="en-US" sz="1300" b="1" dirty="0">
                <a:solidFill>
                  <a:srgbClr val="0B1F33"/>
                </a:solidFill>
                <a:latin typeface="Calibri"/>
                <a:cs typeface="Calibri"/>
              </a:rPr>
              <a:t>.AddEncounter("Annual wellness visit")</a:t>
            </a:r>
          </a:p>
          <a:p>
            <a:pPr marL="274320" indent="-274320" algn="l">
              <a:lnSpc>
                <a:spcPct val="120000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16C2AC"/>
                </a:solidFill>
                <a:latin typeface="Calibri"/>
                <a:cs typeface="Calibri"/>
              </a:rPr>
              <a:t>▸  </a:t>
            </a:r>
            <a:r>
              <a:rPr lang="en-US" sz="1300" b="1" dirty="0">
                <a:solidFill>
                  <a:srgbClr val="0B1F33"/>
                </a:solidFill>
                <a:latin typeface="Calibri"/>
                <a:cs typeface="Calibri"/>
              </a:rPr>
              <a:t>.AddSubScenario(CommonScenarios.LipidPanel())</a:t>
            </a:r>
          </a:p>
          <a:p>
            <a:pPr marL="274320" indent="-274320" algn="l">
              <a:lnSpc>
                <a:spcPct val="120000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16C2AC"/>
                </a:solidFill>
                <a:latin typeface="Calibri"/>
                <a:cs typeface="Calibri"/>
              </a:rPr>
              <a:t>▸  </a:t>
            </a:r>
            <a:r>
              <a:rPr lang="en-US" sz="1300" b="1" dirty="0">
                <a:solidFill>
                  <a:srgbClr val="0B1F33"/>
                </a:solidFill>
                <a:latin typeface="Calibri"/>
                <a:cs typeface="Calibri"/>
              </a:rPr>
              <a:t>.AddProbabilisticBranch(0.15, ...)</a:t>
            </a:r>
          </a:p>
        </p:txBody>
      </p:sp>
      <p:sp>
        <p:nvSpPr>
          <p:cNvPr id="520" name="r519"/>
          <p:cNvSpPr/>
          <p:nvPr/>
        </p:nvSpPr>
        <p:spPr>
          <a:xfrm>
            <a:off x="6922008" y="1828800"/>
            <a:ext cx="47091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22" name="r521"/>
          <p:cNvSpPr/>
          <p:nvPr/>
        </p:nvSpPr>
        <p:spPr>
          <a:xfrm>
            <a:off x="6922008" y="1828800"/>
            <a:ext cx="68580" cy="1325880"/>
          </a:xfrm>
          <a:prstGeom prst="roundRect">
            <a:avLst>
              <a:gd name="adj" fmla="val 50000"/>
            </a:avLst>
          </a:prstGeom>
          <a:solidFill>
            <a:srgbClr val="6D49E0"/>
          </a:solidFill>
        </p:spPr>
        <p:txBody>
          <a:bodyPr/>
          <a:lstStyle/>
          <a:p>
            <a:endParaRPr/>
          </a:p>
        </p:txBody>
      </p:sp>
      <p:sp>
        <p:nvSpPr>
          <p:cNvPr id="524" name="t523"/>
          <p:cNvSpPr txBox="1"/>
          <p:nvPr/>
        </p:nvSpPr>
        <p:spPr>
          <a:xfrm>
            <a:off x="7196328" y="201168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/>
                <a:cs typeface="Trebuchet MS"/>
              </a:rPr>
              <a:t>ProbabilisticBranchState</a:t>
            </a:r>
          </a:p>
        </p:txBody>
      </p:sp>
      <p:sp>
        <p:nvSpPr>
          <p:cNvPr id="526" name="t525"/>
          <p:cNvSpPr txBox="1"/>
          <p:nvPr/>
        </p:nvSpPr>
        <p:spPr>
          <a:xfrm>
            <a:off x="7196328" y="2395728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15% chance of hyperlipidemia — matches real-world prevalence</a:t>
            </a:r>
          </a:p>
        </p:txBody>
      </p:sp>
      <p:sp>
        <p:nvSpPr>
          <p:cNvPr id="528" name="r527"/>
          <p:cNvSpPr/>
          <p:nvPr/>
        </p:nvSpPr>
        <p:spPr>
          <a:xfrm>
            <a:off x="6922008" y="3246120"/>
            <a:ext cx="47091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0" name="r529"/>
          <p:cNvSpPr/>
          <p:nvPr/>
        </p:nvSpPr>
        <p:spPr>
          <a:xfrm>
            <a:off x="6922008" y="3246120"/>
            <a:ext cx="68580" cy="1325880"/>
          </a:xfrm>
          <a:prstGeom prst="roundRect">
            <a:avLst>
              <a:gd name="adj" fmla="val 50000"/>
            </a:avLst>
          </a:prstGeom>
          <a:solidFill>
            <a:srgbClr val="0E9C8A"/>
          </a:solidFill>
        </p:spPr>
        <p:txBody>
          <a:bodyPr/>
          <a:lstStyle/>
          <a:p>
            <a:endParaRPr/>
          </a:p>
        </p:txBody>
      </p:sp>
      <p:sp>
        <p:nvSpPr>
          <p:cNvPr id="532" name="t531"/>
          <p:cNvSpPr txBox="1"/>
          <p:nvPr/>
        </p:nvSpPr>
        <p:spPr>
          <a:xfrm>
            <a:off x="7196328" y="342900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/>
                <a:cs typeface="Trebuchet MS"/>
              </a:rPr>
              <a:t>VitalSignCorrelationEngine</a:t>
            </a:r>
          </a:p>
        </p:txBody>
      </p:sp>
      <p:sp>
        <p:nvSpPr>
          <p:cNvPr id="534" name="t533"/>
          <p:cNvSpPr txBox="1"/>
          <p:nvPr/>
        </p:nvSpPr>
        <p:spPr>
          <a:xfrm>
            <a:off x="7196328" y="3813048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BMI correlates with conditions; labs stay physiologically plausible</a:t>
            </a:r>
          </a:p>
        </p:txBody>
      </p:sp>
      <p:sp>
        <p:nvSpPr>
          <p:cNvPr id="536" name="r535"/>
          <p:cNvSpPr/>
          <p:nvPr/>
        </p:nvSpPr>
        <p:spPr>
          <a:xfrm>
            <a:off x="6922008" y="4663440"/>
            <a:ext cx="47091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8" name="r537"/>
          <p:cNvSpPr/>
          <p:nvPr/>
        </p:nvSpPr>
        <p:spPr>
          <a:xfrm>
            <a:off x="6922008" y="4663440"/>
            <a:ext cx="68580" cy="1325880"/>
          </a:xfrm>
          <a:prstGeom prst="roundRect">
            <a:avLst>
              <a:gd name="adj" fmla="val 50000"/>
            </a:avLst>
          </a:prstGeom>
          <a:solidFill>
            <a:srgbClr val="C97A0E"/>
          </a:solidFill>
        </p:spPr>
        <p:txBody>
          <a:bodyPr/>
          <a:lstStyle/>
          <a:p>
            <a:endParaRPr/>
          </a:p>
        </p:txBody>
      </p:sp>
      <p:sp>
        <p:nvSpPr>
          <p:cNvPr id="540" name="t539"/>
          <p:cNvSpPr txBox="1"/>
          <p:nvPr/>
        </p:nvSpPr>
        <p:spPr>
          <a:xfrm>
            <a:off x="7196328" y="484632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B1F33"/>
                </a:solidFill>
                <a:latin typeface="Trebuchet MS"/>
                <a:cs typeface="Trebuchet MS"/>
              </a:rPr>
              <a:t>CommonScenarios</a:t>
            </a:r>
          </a:p>
        </p:txBody>
      </p:sp>
      <p:sp>
        <p:nvSpPr>
          <p:cNvPr id="542" name="t541"/>
          <p:cNvSpPr txBox="1"/>
          <p:nvPr/>
        </p:nvSpPr>
        <p:spPr>
          <a:xfrm>
            <a:off x="7196328" y="5230368"/>
            <a:ext cx="42062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Reusable fragments: RecordVitalSigns, LipidPanel, BloodGlucose</a:t>
            </a:r>
          </a:p>
        </p:txBody>
      </p:sp>
      <p:sp>
        <p:nvSpPr>
          <p:cNvPr id="544" name="t543"/>
          <p:cNvSpPr txBox="1"/>
          <p:nvPr/>
        </p:nvSpPr>
        <p:spPr>
          <a:xfrm>
            <a:off x="566928" y="60533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5E7382"/>
                </a:solidFill>
                <a:latin typeface="Calibri"/>
                <a:cs typeface="Calibri"/>
              </a:rPr>
              <a:t>The fluent API reads like a clinical protocol.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54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3B82C4"/>
                </a:solidFill>
                <a:latin typeface="Trebuchet MS"/>
                <a:cs typeface="Trebuchet MS"/>
              </a:rPr>
              <a:t>LAYER 3 · PATIENT LIFECYCLES</a:t>
            </a:r>
          </a:p>
        </p:txBody>
      </p:sp>
      <p:sp>
        <p:nvSpPr>
          <p:cNvPr id="548" name="t547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A full life, simulated.</a:t>
            </a:r>
          </a:p>
        </p:txBody>
      </p:sp>
      <p:sp>
        <p:nvSpPr>
          <p:cNvPr id="550" name="t549"/>
          <p:cNvSpPr txBox="1"/>
          <p:nvPr/>
        </p:nvSpPr>
        <p:spPr>
          <a:xfrm>
            <a:off x="566928" y="1874520"/>
            <a:ext cx="585216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3B82C4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PatientLifecycleGenerator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age-based event scheduling, birth to today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3B82C4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DiseaseRiskCalculator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evidence-based, age-adjusted onset probabilities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3B82C4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Wellness schedules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realistic visit frequency, pediatric vs adult</a:t>
            </a:r>
          </a:p>
        </p:txBody>
      </p:sp>
      <p:sp>
        <p:nvSpPr>
          <p:cNvPr id="552" name="t551"/>
          <p:cNvSpPr txBox="1"/>
          <p:nvPr/>
        </p:nvSpPr>
        <p:spPr>
          <a:xfrm>
            <a:off x="566928" y="39319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180" dirty="0">
                <a:solidFill>
                  <a:srgbClr val="5E7382"/>
                </a:solidFill>
                <a:latin typeface="Trebuchet MS"/>
                <a:cs typeface="Trebuchet MS"/>
              </a:rPr>
              <a:t>PRE-BUILT ARCHETYPES</a:t>
            </a:r>
          </a:p>
        </p:txBody>
      </p:sp>
      <p:sp>
        <p:nvSpPr>
          <p:cNvPr id="554" name="t553"/>
          <p:cNvSpPr txBox="1"/>
          <p:nvPr/>
        </p:nvSpPr>
        <p:spPr>
          <a:xfrm>
            <a:off x="566928" y="4334256"/>
            <a:ext cx="585216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3B82C4"/>
                </a:solidFill>
                <a:latin typeface="Calibri"/>
                <a:cs typeface="Calibri"/>
              </a:rPr>
              <a:t>▸  </a:t>
            </a:r>
            <a:r>
              <a:rPr lang="en-US" sz="1350" b="0" dirty="0">
                <a:solidFill>
                  <a:srgbClr val="33485A"/>
                </a:solidFill>
                <a:latin typeface="Calibri"/>
                <a:cs typeface="Calibri"/>
              </a:rPr>
              <a:t>Healthy child (0–18)</a:t>
            </a:r>
          </a:p>
          <a:p>
            <a:pPr marL="274320" indent="-274320" algn="l">
              <a:lnSpc>
                <a:spcPct val="118000"/>
              </a:lnSpc>
              <a:spcBef>
                <a:spcPts val="700"/>
              </a:spcBef>
              <a:buNone/>
            </a:pPr>
            <a:r>
              <a:rPr lang="en-US" sz="1350" b="1" dirty="0">
                <a:solidFill>
                  <a:srgbClr val="3B82C4"/>
                </a:solidFill>
                <a:latin typeface="Calibri"/>
                <a:cs typeface="Calibri"/>
              </a:rPr>
              <a:t>▸  </a:t>
            </a:r>
            <a:r>
              <a:rPr lang="en-US" sz="1350" b="0" dirty="0">
                <a:solidFill>
                  <a:srgbClr val="33485A"/>
                </a:solidFill>
                <a:latin typeface="Calibri"/>
                <a:cs typeface="Calibri"/>
              </a:rPr>
              <a:t>Typical adult (0–45)</a:t>
            </a:r>
          </a:p>
          <a:p>
            <a:pPr marL="274320" indent="-274320" algn="l">
              <a:lnSpc>
                <a:spcPct val="118000"/>
              </a:lnSpc>
              <a:spcBef>
                <a:spcPts val="700"/>
              </a:spcBef>
              <a:buNone/>
            </a:pPr>
            <a:r>
              <a:rPr lang="en-US" sz="1350" b="1" dirty="0">
                <a:solidFill>
                  <a:srgbClr val="3B82C4"/>
                </a:solidFill>
                <a:latin typeface="Calibri"/>
                <a:cs typeface="Calibri"/>
              </a:rPr>
              <a:t>▸  </a:t>
            </a:r>
            <a:r>
              <a:rPr lang="en-US" sz="1350" b="0" dirty="0">
                <a:solidFill>
                  <a:srgbClr val="33485A"/>
                </a:solidFill>
                <a:latin typeface="Calibri"/>
                <a:cs typeface="Calibri"/>
              </a:rPr>
              <a:t>Pediatric asthma · Elderly multi-morbidity</a:t>
            </a:r>
          </a:p>
        </p:txBody>
      </p:sp>
      <p:sp>
        <p:nvSpPr>
          <p:cNvPr id="556" name="r555"/>
          <p:cNvSpPr/>
          <p:nvPr/>
        </p:nvSpPr>
        <p:spPr>
          <a:xfrm>
            <a:off x="6830568" y="1874520"/>
            <a:ext cx="4800600" cy="4160520"/>
          </a:xfrm>
          <a:prstGeom prst="roundRect">
            <a:avLst>
              <a:gd name="adj" fmla="val 1098"/>
            </a:avLst>
          </a:prstGeom>
          <a:solidFill>
            <a:srgbClr val="0B1F33"/>
          </a:solidFill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8" name="r557"/>
          <p:cNvSpPr/>
          <p:nvPr/>
        </p:nvSpPr>
        <p:spPr>
          <a:xfrm>
            <a:off x="6830568" y="1874520"/>
            <a:ext cx="4800600" cy="77724"/>
          </a:xfrm>
          <a:prstGeom prst="roundRect">
            <a:avLst>
              <a:gd name="adj" fmla="val 50000"/>
            </a:avLst>
          </a:prstGeom>
          <a:solidFill>
            <a:srgbClr val="3B82C4"/>
          </a:solidFill>
        </p:spPr>
        <p:txBody>
          <a:bodyPr/>
          <a:lstStyle/>
          <a:p>
            <a:endParaRPr/>
          </a:p>
        </p:txBody>
      </p:sp>
      <p:sp>
        <p:nvSpPr>
          <p:cNvPr id="560" name="t559"/>
          <p:cNvSpPr txBox="1"/>
          <p:nvPr/>
        </p:nvSpPr>
        <p:spPr>
          <a:xfrm>
            <a:off x="7159752" y="2139696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1" spc="120" dirty="0">
                <a:solidFill>
                  <a:srgbClr val="7FB4DA"/>
                </a:solidFill>
                <a:latin typeface="Trebuchet MS"/>
                <a:cs typeface="Trebuchet MS"/>
              </a:rPr>
              <a:t>ARCHETYPE · METABOLIC SYNDROME</a:t>
            </a:r>
          </a:p>
        </p:txBody>
      </p:sp>
      <p:sp>
        <p:nvSpPr>
          <p:cNvPr id="562" name="t561"/>
          <p:cNvSpPr txBox="1"/>
          <p:nvPr/>
        </p:nvSpPr>
        <p:spPr>
          <a:xfrm>
            <a:off x="7159752" y="2505456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/>
                <a:cs typeface="Trebuchet MS"/>
              </a:rPr>
              <a:t>0 → 50 years, full trajectory</a:t>
            </a:r>
          </a:p>
        </p:txBody>
      </p:sp>
      <p:sp>
        <p:nvSpPr>
          <p:cNvPr id="564" name="t563"/>
          <p:cNvSpPr txBox="1"/>
          <p:nvPr/>
        </p:nvSpPr>
        <p:spPr>
          <a:xfrm>
            <a:off x="7159752" y="31272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500" b="1" dirty="0">
                <a:solidFill>
                  <a:srgbClr val="16C2AC"/>
                </a:solidFill>
                <a:latin typeface="Trebuchet MS"/>
                <a:cs typeface="Trebuchet MS"/>
              </a:rPr>
              <a:t>40–45</a:t>
            </a:r>
          </a:p>
        </p:txBody>
      </p:sp>
      <p:sp>
        <p:nvSpPr>
          <p:cNvPr id="566" name="t565"/>
          <p:cNvSpPr txBox="1"/>
          <p:nvPr/>
        </p:nvSpPr>
        <p:spPr>
          <a:xfrm>
            <a:off x="7159752" y="3584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0" dirty="0">
                <a:solidFill>
                  <a:srgbClr val="9DB2C7"/>
                </a:solidFill>
                <a:latin typeface="Calibri"/>
                <a:cs typeface="Calibri"/>
              </a:rPr>
              <a:t>encounters</a:t>
            </a:r>
          </a:p>
        </p:txBody>
      </p:sp>
      <p:sp>
        <p:nvSpPr>
          <p:cNvPr id="568" name="t567"/>
          <p:cNvSpPr txBox="1"/>
          <p:nvPr/>
        </p:nvSpPr>
        <p:spPr>
          <a:xfrm>
            <a:off x="9262872" y="312724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500" b="1" dirty="0">
                <a:solidFill>
                  <a:srgbClr val="16C2AC"/>
                </a:solidFill>
                <a:latin typeface="Trebuchet MS"/>
                <a:cs typeface="Trebuchet MS"/>
              </a:rPr>
              <a:t>3–6</a:t>
            </a:r>
          </a:p>
        </p:txBody>
      </p:sp>
      <p:sp>
        <p:nvSpPr>
          <p:cNvPr id="570" name="t569"/>
          <p:cNvSpPr txBox="1"/>
          <p:nvPr/>
        </p:nvSpPr>
        <p:spPr>
          <a:xfrm>
            <a:off x="9262872" y="35844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0" dirty="0">
                <a:solidFill>
                  <a:srgbClr val="9DB2C7"/>
                </a:solidFill>
                <a:latin typeface="Calibri"/>
                <a:cs typeface="Calibri"/>
              </a:rPr>
              <a:t>medications</a:t>
            </a:r>
          </a:p>
        </p:txBody>
      </p:sp>
      <p:sp>
        <p:nvSpPr>
          <p:cNvPr id="572" name="t571"/>
          <p:cNvSpPr txBox="1"/>
          <p:nvPr/>
        </p:nvSpPr>
        <p:spPr>
          <a:xfrm>
            <a:off x="7159752" y="391363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500" b="1" dirty="0">
                <a:solidFill>
                  <a:srgbClr val="16C2AC"/>
                </a:solidFill>
                <a:latin typeface="Trebuchet MS"/>
                <a:cs typeface="Trebuchet MS"/>
              </a:rPr>
              <a:t>150+</a:t>
            </a:r>
          </a:p>
        </p:txBody>
      </p:sp>
      <p:sp>
        <p:nvSpPr>
          <p:cNvPr id="574" name="t573"/>
          <p:cNvSpPr txBox="1"/>
          <p:nvPr/>
        </p:nvSpPr>
        <p:spPr>
          <a:xfrm>
            <a:off x="7159752" y="43708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0" dirty="0">
                <a:solidFill>
                  <a:srgbClr val="9DB2C7"/>
                </a:solidFill>
                <a:latin typeface="Calibri"/>
                <a:cs typeface="Calibri"/>
              </a:rPr>
              <a:t>vitals &amp; labs</a:t>
            </a:r>
          </a:p>
        </p:txBody>
      </p:sp>
      <p:sp>
        <p:nvSpPr>
          <p:cNvPr id="576" name="t575"/>
          <p:cNvSpPr txBox="1"/>
          <p:nvPr/>
        </p:nvSpPr>
        <p:spPr>
          <a:xfrm>
            <a:off x="9262872" y="391363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2500" b="1" dirty="0">
                <a:solidFill>
                  <a:srgbClr val="16C2AC"/>
                </a:solidFill>
                <a:latin typeface="Trebuchet MS"/>
                <a:cs typeface="Trebuchet MS"/>
              </a:rPr>
              <a:t>100+</a:t>
            </a:r>
          </a:p>
        </p:txBody>
      </p:sp>
      <p:sp>
        <p:nvSpPr>
          <p:cNvPr id="578" name="t577"/>
          <p:cNvSpPr txBox="1"/>
          <p:nvPr/>
        </p:nvSpPr>
        <p:spPr>
          <a:xfrm>
            <a:off x="9262872" y="43708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0" dirty="0">
                <a:solidFill>
                  <a:srgbClr val="9DB2C7"/>
                </a:solidFill>
                <a:latin typeface="Calibri"/>
                <a:cs typeface="Calibri"/>
              </a:rPr>
              <a:t>total resources</a:t>
            </a:r>
          </a:p>
        </p:txBody>
      </p:sp>
      <p:sp>
        <p:nvSpPr>
          <p:cNvPr id="580" name="t579"/>
          <p:cNvSpPr txBox="1"/>
          <p:nvPr/>
        </p:nvSpPr>
        <p:spPr>
          <a:xfrm>
            <a:off x="7159752" y="5541264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50" b="0" i="1" dirty="0">
                <a:solidFill>
                  <a:srgbClr val="9DB2C7"/>
                </a:solidFill>
                <a:latin typeface="Calibri"/>
                <a:cs typeface="Calibri"/>
              </a:rPr>
              <a:t>Childhood visits → obesity → diabetes → escalation.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581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8A6BF0"/>
                </a:solidFill>
                <a:latin typeface="Trebuchet MS"/>
                <a:cs typeface="Trebuchet MS"/>
              </a:rPr>
              <a:t>LAYER 4 · POPULATIONS</a:t>
            </a:r>
          </a:p>
        </p:txBody>
      </p:sp>
      <p:sp>
        <p:nvSpPr>
          <p:cNvPr id="584" name="t583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Model populations at scale.</a:t>
            </a:r>
          </a:p>
        </p:txBody>
      </p:sp>
      <p:sp>
        <p:nvSpPr>
          <p:cNvPr id="586" name="t585"/>
          <p:cNvSpPr txBox="1"/>
          <p:nvPr/>
        </p:nvSpPr>
        <p:spPr>
          <a:xfrm>
            <a:off x="566928" y="1874520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8A6BF0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PopulationGenerator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large-scale cohort creation</a:t>
            </a:r>
          </a:p>
          <a:p>
            <a:pPr marL="274320" indent="-274320" algn="l">
              <a:lnSpc>
                <a:spcPct val="124000"/>
              </a:lnSpc>
              <a:spcBef>
                <a:spcPts val="1300"/>
              </a:spcBef>
              <a:buNone/>
            </a:pPr>
            <a:r>
              <a:rPr lang="en-US" sz="1450" b="1" dirty="0">
                <a:solidFill>
                  <a:srgbClr val="8A6BF0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11 US cities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real US Census 2020 demographics</a:t>
            </a:r>
          </a:p>
          <a:p>
            <a:pPr marL="274320" indent="-274320" algn="l">
              <a:lnSpc>
                <a:spcPct val="124000"/>
              </a:lnSpc>
              <a:spcBef>
                <a:spcPts val="1300"/>
              </a:spcBef>
              <a:buNone/>
            </a:pPr>
            <a:r>
              <a:rPr lang="en-US" sz="1450" b="1" dirty="0">
                <a:solidFill>
                  <a:srgbClr val="8A6BF0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EthnicNameGenerator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culturally appropriate names via Bogus locales</a:t>
            </a:r>
          </a:p>
          <a:p>
            <a:pPr marL="274320" indent="-274320" algn="l">
              <a:lnSpc>
                <a:spcPct val="124000"/>
              </a:lnSpc>
              <a:spcBef>
                <a:spcPts val="1300"/>
              </a:spcBef>
              <a:buNone/>
            </a:pPr>
            <a:r>
              <a:rPr lang="en-US" sz="1450" b="1" dirty="0">
                <a:solidFill>
                  <a:srgbClr val="8A6BF0"/>
                </a:solidFill>
                <a:latin typeface="Calibri"/>
                <a:cs typeface="Calibri"/>
              </a:rPr>
              <a:t>▸  </a:t>
            </a:r>
            <a:r>
              <a:rPr lang="en-US" sz="1450" b="1" dirty="0">
                <a:solidFill>
                  <a:srgbClr val="0B1F33"/>
                </a:solidFill>
                <a:latin typeface="Calibri"/>
                <a:cs typeface="Calibri"/>
              </a:rPr>
              <a:t>Full history per patient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 — birth to current age</a:t>
            </a:r>
          </a:p>
        </p:txBody>
      </p:sp>
      <p:sp>
        <p:nvSpPr>
          <p:cNvPr id="588" name="r587"/>
          <p:cNvSpPr/>
          <p:nvPr/>
        </p:nvSpPr>
        <p:spPr>
          <a:xfrm>
            <a:off x="566928" y="4983480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EEEAFB"/>
          </a:solidFill>
        </p:spPr>
        <p:txBody>
          <a:bodyPr/>
          <a:lstStyle/>
          <a:p>
            <a:endParaRPr/>
          </a:p>
        </p:txBody>
      </p:sp>
      <p:sp>
        <p:nvSpPr>
          <p:cNvPr id="590" name="t589"/>
          <p:cNvSpPr txBox="1"/>
          <p:nvPr/>
        </p:nvSpPr>
        <p:spPr>
          <a:xfrm>
            <a:off x="841248" y="513892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6D49E0"/>
                </a:solidFill>
                <a:latin typeface="Trebuchet MS"/>
                <a:cs typeface="Trebuchet MS"/>
              </a:rPr>
              <a:t>Boston ≠ Seattle</a:t>
            </a:r>
          </a:p>
          <a:p>
            <a:pPr algn="l">
              <a:lnSpc>
                <a:spcPct val="118000"/>
              </a:lnSpc>
              <a:spcBef>
                <a:spcPts val="300"/>
              </a:spcBef>
              <a:buNone/>
            </a:pPr>
            <a:r>
              <a:rPr lang="en-US" sz="1150" b="0" dirty="0">
                <a:solidFill>
                  <a:srgbClr val="33485A"/>
                </a:solidFill>
                <a:latin typeface="Calibri"/>
                <a:cs typeface="Calibri"/>
              </a:rPr>
              <a:t>different age, race &amp; disease prevalence — the risk model is demographically aware</a:t>
            </a:r>
          </a:p>
        </p:txBody>
      </p:sp>
      <p:sp>
        <p:nvSpPr>
          <p:cNvPr id="592" name="r591"/>
          <p:cNvSpPr/>
          <p:nvPr/>
        </p:nvSpPr>
        <p:spPr>
          <a:xfrm>
            <a:off x="6647688" y="1874520"/>
            <a:ext cx="4983480" cy="4069080"/>
          </a:xfrm>
          <a:prstGeom prst="roundRect">
            <a:avLst>
              <a:gd name="adj" fmla="val 1123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4" name="t593"/>
          <p:cNvSpPr txBox="1"/>
          <p:nvPr/>
        </p:nvSpPr>
        <p:spPr>
          <a:xfrm>
            <a:off x="6958584" y="2084832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6D49E0"/>
                </a:solidFill>
                <a:latin typeface="Trebuchet MS"/>
                <a:cs typeface="Trebuchet MS"/>
              </a:rPr>
              <a:t>CityDemographics</a:t>
            </a:r>
          </a:p>
        </p:txBody>
      </p:sp>
      <p:sp>
        <p:nvSpPr>
          <p:cNvPr id="596" name="r595"/>
          <p:cNvSpPr/>
          <p:nvPr/>
        </p:nvSpPr>
        <p:spPr>
          <a:xfrm>
            <a:off x="6922008" y="2505456"/>
            <a:ext cx="4434840" cy="420624"/>
          </a:xfrm>
          <a:prstGeom prst="rect">
            <a:avLst/>
          </a:prstGeom>
          <a:solidFill>
            <a:srgbClr val="0B1F33"/>
          </a:solidFill>
        </p:spPr>
        <p:txBody>
          <a:bodyPr/>
          <a:lstStyle/>
          <a:p>
            <a:endParaRPr/>
          </a:p>
        </p:txBody>
      </p:sp>
      <p:sp>
        <p:nvSpPr>
          <p:cNvPr id="598" name="t597"/>
          <p:cNvSpPr txBox="1"/>
          <p:nvPr/>
        </p:nvSpPr>
        <p:spPr>
          <a:xfrm>
            <a:off x="6986016" y="2505456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City</a:t>
            </a:r>
          </a:p>
        </p:txBody>
      </p:sp>
      <p:sp>
        <p:nvSpPr>
          <p:cNvPr id="600" name="t599"/>
          <p:cNvSpPr txBox="1"/>
          <p:nvPr/>
        </p:nvSpPr>
        <p:spPr>
          <a:xfrm>
            <a:off x="8769096" y="2505456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Pop.</a:t>
            </a:r>
          </a:p>
        </p:txBody>
      </p:sp>
      <p:sp>
        <p:nvSpPr>
          <p:cNvPr id="602" name="t601"/>
          <p:cNvSpPr txBox="1"/>
          <p:nvPr/>
        </p:nvSpPr>
        <p:spPr>
          <a:xfrm>
            <a:off x="9729216" y="2505456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0–17</a:t>
            </a:r>
          </a:p>
        </p:txBody>
      </p:sp>
      <p:sp>
        <p:nvSpPr>
          <p:cNvPr id="604" name="t603"/>
          <p:cNvSpPr txBox="1"/>
          <p:nvPr/>
        </p:nvSpPr>
        <p:spPr>
          <a:xfrm>
            <a:off x="10597896" y="2505456"/>
            <a:ext cx="777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65+</a:t>
            </a:r>
          </a:p>
        </p:txBody>
      </p:sp>
      <p:sp>
        <p:nvSpPr>
          <p:cNvPr id="606" name="t605"/>
          <p:cNvSpPr txBox="1"/>
          <p:nvPr/>
        </p:nvSpPr>
        <p:spPr>
          <a:xfrm>
            <a:off x="6986016" y="2926080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New York</a:t>
            </a:r>
          </a:p>
        </p:txBody>
      </p:sp>
      <p:sp>
        <p:nvSpPr>
          <p:cNvPr id="608" name="t607"/>
          <p:cNvSpPr txBox="1"/>
          <p:nvPr/>
        </p:nvSpPr>
        <p:spPr>
          <a:xfrm>
            <a:off x="8769096" y="2926080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8.3M</a:t>
            </a:r>
          </a:p>
        </p:txBody>
      </p:sp>
      <p:sp>
        <p:nvSpPr>
          <p:cNvPr id="610" name="t609"/>
          <p:cNvSpPr txBox="1"/>
          <p:nvPr/>
        </p:nvSpPr>
        <p:spPr>
          <a:xfrm>
            <a:off x="9729216" y="292608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21%</a:t>
            </a:r>
          </a:p>
        </p:txBody>
      </p:sp>
      <p:sp>
        <p:nvSpPr>
          <p:cNvPr id="612" name="t611"/>
          <p:cNvSpPr txBox="1"/>
          <p:nvPr/>
        </p:nvSpPr>
        <p:spPr>
          <a:xfrm>
            <a:off x="10597896" y="2926080"/>
            <a:ext cx="777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10%</a:t>
            </a:r>
          </a:p>
        </p:txBody>
      </p:sp>
      <p:sp>
        <p:nvSpPr>
          <p:cNvPr id="614" name="r613"/>
          <p:cNvSpPr/>
          <p:nvPr/>
        </p:nvSpPr>
        <p:spPr>
          <a:xfrm>
            <a:off x="6922008" y="3346704"/>
            <a:ext cx="4434840" cy="420624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616" name="t615"/>
          <p:cNvSpPr txBox="1"/>
          <p:nvPr/>
        </p:nvSpPr>
        <p:spPr>
          <a:xfrm>
            <a:off x="6986016" y="3346704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Chicago</a:t>
            </a:r>
          </a:p>
        </p:txBody>
      </p:sp>
      <p:sp>
        <p:nvSpPr>
          <p:cNvPr id="618" name="t617"/>
          <p:cNvSpPr txBox="1"/>
          <p:nvPr/>
        </p:nvSpPr>
        <p:spPr>
          <a:xfrm>
            <a:off x="8769096" y="3346704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2.7M</a:t>
            </a:r>
          </a:p>
        </p:txBody>
      </p:sp>
      <p:sp>
        <p:nvSpPr>
          <p:cNvPr id="620" name="t619"/>
          <p:cNvSpPr txBox="1"/>
          <p:nvPr/>
        </p:nvSpPr>
        <p:spPr>
          <a:xfrm>
            <a:off x="9729216" y="3346704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21%</a:t>
            </a:r>
          </a:p>
        </p:txBody>
      </p:sp>
      <p:sp>
        <p:nvSpPr>
          <p:cNvPr id="622" name="t621"/>
          <p:cNvSpPr txBox="1"/>
          <p:nvPr/>
        </p:nvSpPr>
        <p:spPr>
          <a:xfrm>
            <a:off x="10597896" y="3346704"/>
            <a:ext cx="777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9%</a:t>
            </a:r>
          </a:p>
        </p:txBody>
      </p:sp>
      <p:sp>
        <p:nvSpPr>
          <p:cNvPr id="624" name="t623"/>
          <p:cNvSpPr txBox="1"/>
          <p:nvPr/>
        </p:nvSpPr>
        <p:spPr>
          <a:xfrm>
            <a:off x="6986016" y="3767328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Boston</a:t>
            </a:r>
          </a:p>
        </p:txBody>
      </p:sp>
      <p:sp>
        <p:nvSpPr>
          <p:cNvPr id="626" name="t625"/>
          <p:cNvSpPr txBox="1"/>
          <p:nvPr/>
        </p:nvSpPr>
        <p:spPr>
          <a:xfrm>
            <a:off x="8769096" y="3767328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676K</a:t>
            </a:r>
          </a:p>
        </p:txBody>
      </p:sp>
      <p:sp>
        <p:nvSpPr>
          <p:cNvPr id="628" name="t627"/>
          <p:cNvSpPr txBox="1"/>
          <p:nvPr/>
        </p:nvSpPr>
        <p:spPr>
          <a:xfrm>
            <a:off x="9729216" y="3767328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17%</a:t>
            </a:r>
          </a:p>
        </p:txBody>
      </p:sp>
      <p:sp>
        <p:nvSpPr>
          <p:cNvPr id="630" name="t629"/>
          <p:cNvSpPr txBox="1"/>
          <p:nvPr/>
        </p:nvSpPr>
        <p:spPr>
          <a:xfrm>
            <a:off x="10597896" y="3767328"/>
            <a:ext cx="777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12%</a:t>
            </a:r>
          </a:p>
        </p:txBody>
      </p:sp>
      <p:sp>
        <p:nvSpPr>
          <p:cNvPr id="632" name="r631"/>
          <p:cNvSpPr/>
          <p:nvPr/>
        </p:nvSpPr>
        <p:spPr>
          <a:xfrm>
            <a:off x="6922008" y="4187952"/>
            <a:ext cx="4434840" cy="420624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634" name="t633"/>
          <p:cNvSpPr txBox="1"/>
          <p:nvPr/>
        </p:nvSpPr>
        <p:spPr>
          <a:xfrm>
            <a:off x="6986016" y="4187952"/>
            <a:ext cx="17830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Seattle</a:t>
            </a:r>
          </a:p>
        </p:txBody>
      </p:sp>
      <p:sp>
        <p:nvSpPr>
          <p:cNvPr id="636" name="t635"/>
          <p:cNvSpPr txBox="1"/>
          <p:nvPr/>
        </p:nvSpPr>
        <p:spPr>
          <a:xfrm>
            <a:off x="8769096" y="4187952"/>
            <a:ext cx="96012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737K</a:t>
            </a:r>
          </a:p>
        </p:txBody>
      </p:sp>
      <p:sp>
        <p:nvSpPr>
          <p:cNvPr id="638" name="t637"/>
          <p:cNvSpPr txBox="1"/>
          <p:nvPr/>
        </p:nvSpPr>
        <p:spPr>
          <a:xfrm>
            <a:off x="9729216" y="4187952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16%</a:t>
            </a:r>
          </a:p>
        </p:txBody>
      </p:sp>
      <p:sp>
        <p:nvSpPr>
          <p:cNvPr id="640" name="t639"/>
          <p:cNvSpPr txBox="1"/>
          <p:nvPr/>
        </p:nvSpPr>
        <p:spPr>
          <a:xfrm>
            <a:off x="10597896" y="4187952"/>
            <a:ext cx="777240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0B1F33"/>
                </a:solidFill>
                <a:latin typeface="Calibri"/>
                <a:cs typeface="Calibri"/>
              </a:rPr>
              <a:t>12%</a:t>
            </a:r>
          </a:p>
        </p:txBody>
      </p:sp>
      <p:sp>
        <p:nvSpPr>
          <p:cNvPr id="642" name="t641"/>
          <p:cNvSpPr txBox="1"/>
          <p:nvPr/>
        </p:nvSpPr>
        <p:spPr>
          <a:xfrm>
            <a:off x="6958584" y="4773168"/>
            <a:ext cx="44348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0B1F33"/>
                </a:solidFill>
                <a:latin typeface="Calibri"/>
                <a:cs typeface="Calibri"/>
              </a:rPr>
              <a:t>Boston race split: </a:t>
            </a:r>
            <a:r>
              <a:rPr lang="en-US" sz="1150" b="0" dirty="0">
                <a:solidFill>
                  <a:srgbClr val="33485A"/>
                </a:solidFill>
                <a:latin typeface="Calibri"/>
                <a:cs typeface="Calibri"/>
              </a:rPr>
              <a:t>53% White · 25% Black · 19% Hispanic · 9% Asian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r645"/>
          <p:cNvSpPr/>
          <p:nvPr/>
        </p:nvSpPr>
        <p:spPr>
          <a:xfrm>
            <a:off x="0" y="566928"/>
            <a:ext cx="12191695" cy="5760720"/>
          </a:xfrm>
          <a:prstGeom prst="rect">
            <a:avLst/>
          </a:prstGeom>
          <a:solidFill>
            <a:srgbClr val="0E1B2E"/>
          </a:solidFill>
        </p:spPr>
        <p:txBody>
          <a:bodyPr/>
          <a:lstStyle/>
          <a:p>
            <a:endParaRPr/>
          </a:p>
        </p:txBody>
      </p:sp>
      <p:sp>
        <p:nvSpPr>
          <p:cNvPr id="648" name="t647"/>
          <p:cNvSpPr txBox="1"/>
          <p:nvPr/>
        </p:nvSpPr>
        <p:spPr>
          <a:xfrm>
            <a:off x="566928" y="8412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spc="280" dirty="0">
                <a:solidFill>
                  <a:srgbClr val="16C2AC"/>
                </a:solidFill>
                <a:latin typeface="Trebuchet MS"/>
                <a:cs typeface="Trebuchet MS"/>
              </a:rPr>
              <a:t>LAYER 1 IN PRACTICE</a:t>
            </a:r>
          </a:p>
        </p:txBody>
      </p:sp>
      <p:sp>
        <p:nvSpPr>
          <p:cNvPr id="650" name="t649"/>
          <p:cNvSpPr txBox="1"/>
          <p:nvPr/>
        </p:nvSpPr>
        <p:spPr>
          <a:xfrm>
            <a:off x="566928" y="115214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/>
                <a:cs typeface="Trebuchet MS"/>
              </a:rPr>
              <a:t>Three lines. </a:t>
            </a:r>
          </a:p>
        </p:txBody>
      </p:sp>
      <p:sp>
        <p:nvSpPr>
          <p:cNvPr id="652" name="r651"/>
          <p:cNvSpPr/>
          <p:nvPr/>
        </p:nvSpPr>
        <p:spPr>
          <a:xfrm>
            <a:off x="566928" y="2103120"/>
            <a:ext cx="11064240" cy="3200400"/>
          </a:xfrm>
          <a:prstGeom prst="roundRect">
            <a:avLst>
              <a:gd name="adj" fmla="val 1285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54" name="r653"/>
          <p:cNvSpPr/>
          <p:nvPr/>
        </p:nvSpPr>
        <p:spPr>
          <a:xfrm>
            <a:off x="877824" y="2345436"/>
            <a:ext cx="105156" cy="105156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/>
          </a:p>
        </p:txBody>
      </p:sp>
      <p:sp>
        <p:nvSpPr>
          <p:cNvPr id="656" name="r655"/>
          <p:cNvSpPr/>
          <p:nvPr/>
        </p:nvSpPr>
        <p:spPr>
          <a:xfrm>
            <a:off x="1110996" y="2345436"/>
            <a:ext cx="105156" cy="105156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/>
          </a:p>
        </p:txBody>
      </p:sp>
      <p:sp>
        <p:nvSpPr>
          <p:cNvPr id="658" name="r657"/>
          <p:cNvSpPr/>
          <p:nvPr/>
        </p:nvSpPr>
        <p:spPr>
          <a:xfrm>
            <a:off x="1344168" y="2345436"/>
            <a:ext cx="105156" cy="105156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/>
          </a:p>
        </p:txBody>
      </p:sp>
      <p:sp>
        <p:nvSpPr>
          <p:cNvPr id="660" name="t659"/>
          <p:cNvSpPr txBox="1"/>
          <p:nvPr/>
        </p:nvSpPr>
        <p:spPr>
          <a:xfrm>
            <a:off x="1709928" y="2267712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9DB2C7"/>
                </a:solidFill>
                <a:latin typeface="Consolas"/>
                <a:cs typeface="Consolas"/>
              </a:rPr>
              <a:t>C#</a:t>
            </a:r>
          </a:p>
        </p:txBody>
      </p:sp>
      <p:cxnSp>
        <p:nvCxnSpPr>
          <p:cNvPr id="662" name="l661"/>
          <p:cNvCxnSpPr/>
          <p:nvPr/>
        </p:nvCxnSpPr>
        <p:spPr>
          <a:xfrm>
            <a:off x="566928" y="2615184"/>
            <a:ext cx="11064240" cy="0"/>
          </a:xfrm>
          <a:prstGeom prst="line">
            <a:avLst/>
          </a:prstGeom>
          <a:ln w="12700" cap="rnd">
            <a:solidFill>
              <a:srgbClr val="23364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664" name="t663"/>
          <p:cNvSpPr txBox="1"/>
          <p:nvPr/>
        </p:nvSpPr>
        <p:spPr>
          <a:xfrm>
            <a:off x="950976" y="2779776"/>
            <a:ext cx="10424160" cy="2377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var 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schema = </a:t>
            </a:r>
            <a:r>
              <a:rPr lang="en-US" sz="1250" b="0" dirty="0" err="1">
                <a:solidFill>
                  <a:srgbClr val="3FD9C4"/>
                </a:solidFill>
                <a:latin typeface="Consolas"/>
                <a:cs typeface="Consolas"/>
              </a:rPr>
              <a:t>FhirVersion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.[Stu3/R4/R4B/R5/R6].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GetSchemaProvider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();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var 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faker  = </a:t>
            </a: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new </a:t>
            </a:r>
            <a:r>
              <a:rPr lang="en-US" sz="1250" b="0" dirty="0">
                <a:solidFill>
                  <a:srgbClr val="3FD9C4"/>
                </a:solidFill>
                <a:latin typeface="Consolas"/>
                <a:cs typeface="Consolas"/>
              </a:rPr>
              <a:t>SchemaBasedFhirResourceFaker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(schema);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900" b="0" dirty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var 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patient = faker.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Generate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</a:t>
            </a:r>
            <a:r>
              <a:rPr lang="en-US" sz="1250" b="0" dirty="0">
                <a:solidFill>
                  <a:srgbClr val="8FD98B"/>
                </a:solidFill>
                <a:latin typeface="Consolas"/>
                <a:cs typeface="Consolas"/>
              </a:rPr>
              <a:t>"Patient"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);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900" b="0" dirty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Valid R4 Patient — correct structure,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valid coded values, realistic demographics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r667"/>
          <p:cNvSpPr/>
          <p:nvPr/>
        </p:nvSpPr>
        <p:spPr>
          <a:xfrm>
            <a:off x="0" y="566928"/>
            <a:ext cx="12191695" cy="5760720"/>
          </a:xfrm>
          <a:prstGeom prst="rect">
            <a:avLst/>
          </a:prstGeom>
          <a:solidFill>
            <a:srgbClr val="0E1B2E"/>
          </a:solidFill>
        </p:spPr>
        <p:txBody>
          <a:bodyPr/>
          <a:lstStyle/>
          <a:p>
            <a:endParaRPr/>
          </a:p>
        </p:txBody>
      </p:sp>
      <p:sp>
        <p:nvSpPr>
          <p:cNvPr id="670" name="t669"/>
          <p:cNvSpPr txBox="1"/>
          <p:nvPr/>
        </p:nvSpPr>
        <p:spPr>
          <a:xfrm>
            <a:off x="566928" y="8412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spc="280" dirty="0">
                <a:solidFill>
                  <a:srgbClr val="16C2AC"/>
                </a:solidFill>
                <a:latin typeface="Trebuchet MS"/>
                <a:cs typeface="Trebuchet MS"/>
              </a:rPr>
              <a:t>LAYER 2 IN PRACTICE</a:t>
            </a:r>
          </a:p>
        </p:txBody>
      </p:sp>
      <p:sp>
        <p:nvSpPr>
          <p:cNvPr id="672" name="t671"/>
          <p:cNvSpPr txBox="1"/>
          <p:nvPr/>
        </p:nvSpPr>
        <p:spPr>
          <a:xfrm>
            <a:off x="566928" y="115214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/>
                <a:cs typeface="Trebuchet MS"/>
              </a:rPr>
              <a:t>This reads like a clinical protocol.</a:t>
            </a:r>
          </a:p>
        </p:txBody>
      </p:sp>
      <p:sp>
        <p:nvSpPr>
          <p:cNvPr id="674" name="r673"/>
          <p:cNvSpPr/>
          <p:nvPr/>
        </p:nvSpPr>
        <p:spPr>
          <a:xfrm>
            <a:off x="566928" y="2011680"/>
            <a:ext cx="11064240" cy="3703320"/>
          </a:xfrm>
          <a:prstGeom prst="roundRect">
            <a:avLst>
              <a:gd name="adj" fmla="val 1111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6" name="r675"/>
          <p:cNvSpPr/>
          <p:nvPr/>
        </p:nvSpPr>
        <p:spPr>
          <a:xfrm>
            <a:off x="877824" y="2253996"/>
            <a:ext cx="105156" cy="105156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/>
          </a:p>
        </p:txBody>
      </p:sp>
      <p:sp>
        <p:nvSpPr>
          <p:cNvPr id="678" name="r677"/>
          <p:cNvSpPr/>
          <p:nvPr/>
        </p:nvSpPr>
        <p:spPr>
          <a:xfrm>
            <a:off x="1110996" y="2253996"/>
            <a:ext cx="105156" cy="105156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/>
          </a:p>
        </p:txBody>
      </p:sp>
      <p:sp>
        <p:nvSpPr>
          <p:cNvPr id="680" name="r679"/>
          <p:cNvSpPr/>
          <p:nvPr/>
        </p:nvSpPr>
        <p:spPr>
          <a:xfrm>
            <a:off x="1344168" y="2253996"/>
            <a:ext cx="105156" cy="105156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/>
          </a:p>
        </p:txBody>
      </p:sp>
      <p:sp>
        <p:nvSpPr>
          <p:cNvPr id="682" name="t681"/>
          <p:cNvSpPr txBox="1"/>
          <p:nvPr/>
        </p:nvSpPr>
        <p:spPr>
          <a:xfrm>
            <a:off x="1709928" y="2176272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9DB2C7"/>
                </a:solidFill>
                <a:latin typeface="Consolas"/>
                <a:cs typeface="Consolas"/>
              </a:rPr>
              <a:t>C#</a:t>
            </a:r>
          </a:p>
        </p:txBody>
      </p:sp>
      <p:cxnSp>
        <p:nvCxnSpPr>
          <p:cNvPr id="684" name="l683"/>
          <p:cNvCxnSpPr/>
          <p:nvPr/>
        </p:nvCxnSpPr>
        <p:spPr>
          <a:xfrm>
            <a:off x="566928" y="2523744"/>
            <a:ext cx="11064240" cy="0"/>
          </a:xfrm>
          <a:prstGeom prst="line">
            <a:avLst/>
          </a:prstGeom>
          <a:ln w="12700" cap="rnd">
            <a:solidFill>
              <a:srgbClr val="23364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686" name="t685"/>
          <p:cNvSpPr txBox="1"/>
          <p:nvPr/>
        </p:nvSpPr>
        <p:spPr>
          <a:xfrm>
            <a:off x="950976" y="2688336"/>
            <a:ext cx="10424160" cy="2880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var 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ctx = </a:t>
            </a: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new </a:t>
            </a:r>
            <a:r>
              <a:rPr lang="en-US" sz="1250" b="0" dirty="0">
                <a:solidFill>
                  <a:srgbClr val="3FD9C4"/>
                </a:solidFill>
                <a:latin typeface="Consolas"/>
                <a:cs typeface="Consolas"/>
              </a:rPr>
              <a:t>ScenarioBuilder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(schema)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WithPatient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(p =&gt; p.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WithAge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</a:t>
            </a:r>
            <a:r>
              <a:rPr lang="en-US" sz="1250" b="0" dirty="0">
                <a:solidFill>
                  <a:srgbClr val="F0B760"/>
                </a:solidFill>
                <a:latin typeface="Consolas"/>
                <a:cs typeface="Consolas"/>
              </a:rPr>
              <a:t>55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).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WithGender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(g =&gt; g.Male))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AddEncounter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</a:t>
            </a:r>
            <a:r>
              <a:rPr lang="en-US" sz="1250" b="0" dirty="0">
                <a:solidFill>
                  <a:srgbClr val="8FD98B"/>
                </a:solidFill>
                <a:latin typeface="Consolas"/>
                <a:cs typeface="Consolas"/>
              </a:rPr>
              <a:t>"Annual wellness visit"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)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AddSubScenario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(CommonScenarios.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RecordVitalSigns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())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AddSubScenario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(CommonScenarios.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LipidPanel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())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AddProbabilisticBranch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    probability: </a:t>
            </a:r>
            <a:r>
              <a:rPr lang="en-US" sz="1250" b="0" dirty="0">
                <a:solidFill>
                  <a:srgbClr val="F0B760"/>
                </a:solidFill>
                <a:latin typeface="Consolas"/>
                <a:cs typeface="Consolas"/>
              </a:rPr>
              <a:t>0.15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,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    trueState: </a:t>
            </a: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new </a:t>
            </a:r>
            <a:r>
              <a:rPr lang="en-US" sz="1250" b="0" dirty="0">
                <a:solidFill>
                  <a:srgbClr val="3FD9C4"/>
                </a:solidFill>
                <a:latin typeface="Consolas"/>
                <a:cs typeface="Consolas"/>
              </a:rPr>
              <a:t>ConditionOnsetState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{ Code = Conditions.Hyperlipidemia })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    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Build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();</a:t>
            </a:r>
          </a:p>
        </p:txBody>
      </p:sp>
      <p:sp>
        <p:nvSpPr>
          <p:cNvPr id="688" name="t687"/>
          <p:cNvSpPr txBox="1"/>
          <p:nvPr/>
        </p:nvSpPr>
        <p:spPr>
          <a:xfrm>
            <a:off x="566928" y="58978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00" b="0" i="1" dirty="0">
                <a:solidFill>
                  <a:srgbClr val="9DB2C7"/>
                </a:solidFill>
                <a:latin typeface="Calibri"/>
                <a:cs typeface="Calibri"/>
              </a:rPr>
              <a:t>55-year-old male · wellness visit · vitals · 15% hyperlipidemia — correlated, not random.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r689"/>
          <p:cNvSpPr/>
          <p:nvPr/>
        </p:nvSpPr>
        <p:spPr>
          <a:xfrm>
            <a:off x="0" y="566928"/>
            <a:ext cx="12191695" cy="5760720"/>
          </a:xfrm>
          <a:prstGeom prst="rect">
            <a:avLst/>
          </a:prstGeom>
          <a:solidFill>
            <a:srgbClr val="0E1B2E"/>
          </a:solidFill>
        </p:spPr>
        <p:txBody>
          <a:bodyPr/>
          <a:lstStyle/>
          <a:p>
            <a:endParaRPr/>
          </a:p>
        </p:txBody>
      </p:sp>
      <p:sp>
        <p:nvSpPr>
          <p:cNvPr id="692" name="t691"/>
          <p:cNvSpPr txBox="1"/>
          <p:nvPr/>
        </p:nvSpPr>
        <p:spPr>
          <a:xfrm>
            <a:off x="566928" y="8412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spc="280" dirty="0">
                <a:solidFill>
                  <a:srgbClr val="16C2AC"/>
                </a:solidFill>
                <a:latin typeface="Trebuchet MS"/>
                <a:cs typeface="Trebuchet MS"/>
              </a:rPr>
              <a:t>LAYER 3 + 4 IN PRACTICE</a:t>
            </a:r>
          </a:p>
        </p:txBody>
      </p:sp>
      <p:sp>
        <p:nvSpPr>
          <p:cNvPr id="694" name="t693"/>
          <p:cNvSpPr txBox="1"/>
          <p:nvPr/>
        </p:nvSpPr>
        <p:spPr>
          <a:xfrm>
            <a:off x="566928" y="1152144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/>
                <a:cs typeface="Trebuchet MS"/>
              </a:rPr>
              <a:t>From one patient to a cohort.</a:t>
            </a:r>
          </a:p>
        </p:txBody>
      </p:sp>
      <p:sp>
        <p:nvSpPr>
          <p:cNvPr id="696" name="r695"/>
          <p:cNvSpPr/>
          <p:nvPr/>
        </p:nvSpPr>
        <p:spPr>
          <a:xfrm>
            <a:off x="566928" y="2011680"/>
            <a:ext cx="11064240" cy="3703320"/>
          </a:xfrm>
          <a:prstGeom prst="roundRect">
            <a:avLst>
              <a:gd name="adj" fmla="val 1111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8" name="r697"/>
          <p:cNvSpPr/>
          <p:nvPr/>
        </p:nvSpPr>
        <p:spPr>
          <a:xfrm>
            <a:off x="877824" y="2253996"/>
            <a:ext cx="105156" cy="105156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/>
          </a:p>
        </p:txBody>
      </p:sp>
      <p:sp>
        <p:nvSpPr>
          <p:cNvPr id="700" name="r699"/>
          <p:cNvSpPr/>
          <p:nvPr/>
        </p:nvSpPr>
        <p:spPr>
          <a:xfrm>
            <a:off x="1110996" y="2253996"/>
            <a:ext cx="105156" cy="105156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/>
          </a:p>
        </p:txBody>
      </p:sp>
      <p:sp>
        <p:nvSpPr>
          <p:cNvPr id="702" name="r701"/>
          <p:cNvSpPr/>
          <p:nvPr/>
        </p:nvSpPr>
        <p:spPr>
          <a:xfrm>
            <a:off x="1344168" y="2253996"/>
            <a:ext cx="105156" cy="105156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/>
          </a:p>
        </p:txBody>
      </p:sp>
      <p:sp>
        <p:nvSpPr>
          <p:cNvPr id="704" name="t703"/>
          <p:cNvSpPr txBox="1"/>
          <p:nvPr/>
        </p:nvSpPr>
        <p:spPr>
          <a:xfrm>
            <a:off x="1709928" y="2176272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9DB2C7"/>
                </a:solidFill>
                <a:latin typeface="Consolas"/>
                <a:cs typeface="Consolas"/>
              </a:rPr>
              <a:t>C#</a:t>
            </a:r>
          </a:p>
        </p:txBody>
      </p:sp>
      <p:cxnSp>
        <p:nvCxnSpPr>
          <p:cNvPr id="706" name="l705"/>
          <p:cNvCxnSpPr/>
          <p:nvPr/>
        </p:nvCxnSpPr>
        <p:spPr>
          <a:xfrm>
            <a:off x="566928" y="2523744"/>
            <a:ext cx="11064240" cy="0"/>
          </a:xfrm>
          <a:prstGeom prst="line">
            <a:avLst/>
          </a:prstGeom>
          <a:ln w="12700" cap="rnd">
            <a:solidFill>
              <a:srgbClr val="23364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708" name="t707"/>
          <p:cNvSpPr txBox="1"/>
          <p:nvPr/>
        </p:nvSpPr>
        <p:spPr>
          <a:xfrm>
            <a:off x="950976" y="2688336"/>
            <a:ext cx="10424160" cy="2880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Layer 3 — full lifecycle archetype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var 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ctx = </a:t>
            </a:r>
            <a:r>
              <a:rPr lang="en-US" sz="1250" b="0" dirty="0">
                <a:solidFill>
                  <a:srgbClr val="3FD9C4"/>
                </a:solidFill>
                <a:latin typeface="Consolas"/>
                <a:cs typeface="Consolas"/>
              </a:rPr>
              <a:t>LifecycleExampleScenarios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GetMetabolicSyndromeLifecycle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(schema);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ctx.Encounters.Count    </a:t>
            </a: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40–45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ctx.AllResources.Count  </a:t>
            </a: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100+</a:t>
            </a:r>
          </a:p>
          <a:p>
            <a:pPr algn="l">
              <a:lnSpc>
                <a:spcPct val="118000"/>
              </a:lnSpc>
              <a:buNone/>
            </a:pPr>
            <a:r>
              <a:rPr lang="en-US" sz="900" b="0" dirty="0">
                <a:solidFill>
                  <a:srgbClr val="E6EDF3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Layer 4 — population cohort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var 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gen = </a:t>
            </a: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new </a:t>
            </a:r>
            <a:r>
              <a:rPr lang="en-US" sz="1250" b="0" dirty="0">
                <a:solidFill>
                  <a:srgbClr val="3FD9C4"/>
                </a:solidFill>
                <a:latin typeface="Consolas"/>
                <a:cs typeface="Consolas"/>
              </a:rPr>
              <a:t>PopulationGenerator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(schema);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A78BF5"/>
                </a:solidFill>
                <a:latin typeface="Consolas"/>
                <a:cs typeface="Consolas"/>
              </a:rPr>
              <a:t>var 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people = gen.</a:t>
            </a:r>
            <a:r>
              <a:rPr lang="en-US" sz="1250" b="0" dirty="0">
                <a:solidFill>
                  <a:srgbClr val="6FC9EA"/>
                </a:solidFill>
                <a:latin typeface="Consolas"/>
                <a:cs typeface="Consolas"/>
              </a:rPr>
              <a:t>Generate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(</a:t>
            </a:r>
            <a:r>
              <a:rPr lang="en-US" sz="1250" b="0" dirty="0">
                <a:solidFill>
                  <a:srgbClr val="8FD98B"/>
                </a:solidFill>
                <a:latin typeface="Consolas"/>
                <a:cs typeface="Consolas"/>
              </a:rPr>
              <a:t>"Massachusetts"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, </a:t>
            </a:r>
            <a:r>
              <a:rPr lang="en-US" sz="1250" b="0" dirty="0">
                <a:solidFill>
                  <a:srgbClr val="F0B760"/>
                </a:solidFill>
                <a:latin typeface="Consolas"/>
                <a:cs typeface="Consolas"/>
              </a:rPr>
              <a:t>100</a:t>
            </a:r>
            <a:r>
              <a:rPr lang="en-US" sz="1250" b="0" dirty="0">
                <a:solidFill>
                  <a:srgbClr val="E6EDF3"/>
                </a:solidFill>
                <a:latin typeface="Consolas"/>
                <a:cs typeface="Consolas"/>
              </a:rPr>
              <a:t>);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100 patients: Boston census demographics,</a:t>
            </a:r>
          </a:p>
          <a:p>
            <a:pPr algn="l">
              <a:lnSpc>
                <a:spcPct val="128000"/>
              </a:lnSpc>
              <a:buNone/>
            </a:pPr>
            <a:r>
              <a:rPr lang="en-US" sz="1250" b="0" dirty="0">
                <a:solidFill>
                  <a:srgbClr val="5C7488"/>
                </a:solidFill>
                <a:latin typeface="Consolas"/>
                <a:cs typeface="Consolas"/>
              </a:rPr>
              <a:t>// real zip codes, full history per patient</a:t>
            </a:r>
          </a:p>
        </p:txBody>
      </p:sp>
      <p:sp>
        <p:nvSpPr>
          <p:cNvPr id="710" name="t709"/>
          <p:cNvSpPr txBox="1"/>
          <p:nvPr/>
        </p:nvSpPr>
        <p:spPr>
          <a:xfrm>
            <a:off x="566928" y="58978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300" b="0" i="1" dirty="0">
                <a:solidFill>
                  <a:srgbClr val="9DB2C7"/>
                </a:solidFill>
                <a:latin typeface="Calibri"/>
                <a:cs typeface="Calibri"/>
              </a:rPr>
              <a:t>One line scales a realistic patient into a demographically accurate cohort.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r711"/>
          <p:cNvSpPr/>
          <p:nvPr/>
        </p:nvSpPr>
        <p:spPr>
          <a:xfrm>
            <a:off x="0" y="566928"/>
            <a:ext cx="12191695" cy="5760720"/>
          </a:xfrm>
          <a:prstGeom prst="rect">
            <a:avLst/>
          </a:prstGeom>
          <a:solidFill>
            <a:srgbClr val="0E1B2E"/>
          </a:solidFill>
        </p:spPr>
        <p:txBody>
          <a:bodyPr/>
          <a:lstStyle/>
          <a:p>
            <a:endParaRPr/>
          </a:p>
        </p:txBody>
      </p:sp>
      <p:sp>
        <p:nvSpPr>
          <p:cNvPr id="714" name="r713"/>
          <p:cNvSpPr/>
          <p:nvPr/>
        </p:nvSpPr>
        <p:spPr>
          <a:xfrm>
            <a:off x="566928" y="1417320"/>
            <a:ext cx="1783080" cy="566928"/>
          </a:xfrm>
          <a:prstGeom prst="roundRect">
            <a:avLst>
              <a:gd name="adj" fmla="val 19354"/>
            </a:avLst>
          </a:prstGeom>
          <a:solidFill>
            <a:srgbClr val="0E9C8A"/>
          </a:solidFill>
        </p:spPr>
        <p:txBody>
          <a:bodyPr/>
          <a:lstStyle/>
          <a:p>
            <a:endParaRPr/>
          </a:p>
        </p:txBody>
      </p:sp>
      <p:sp>
        <p:nvSpPr>
          <p:cNvPr id="716" name="t715"/>
          <p:cNvSpPr txBox="1"/>
          <p:nvPr/>
        </p:nvSpPr>
        <p:spPr>
          <a:xfrm>
            <a:off x="566928" y="1431036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0E1B2E"/>
                </a:solidFill>
                <a:latin typeface="Trebuchet MS"/>
                <a:cs typeface="Trebuchet MS"/>
              </a:rPr>
              <a:t>DEMO 1</a:t>
            </a:r>
          </a:p>
        </p:txBody>
      </p:sp>
      <p:sp>
        <p:nvSpPr>
          <p:cNvPr id="718" name="t717"/>
          <p:cNvSpPr txBox="1"/>
          <p:nvPr/>
        </p:nvSpPr>
        <p:spPr>
          <a:xfrm>
            <a:off x="566928" y="233172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/>
                <a:cs typeface="Trebuchet MS"/>
              </a:rPr>
              <a:t>Let’s generate some patients.</a:t>
            </a:r>
          </a:p>
        </p:txBody>
      </p:sp>
      <p:sp>
        <p:nvSpPr>
          <p:cNvPr id="720" name="t719"/>
          <p:cNvSpPr txBox="1"/>
          <p:nvPr/>
        </p:nvSpPr>
        <p:spPr>
          <a:xfrm>
            <a:off x="566928" y="34564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6C2AC"/>
                </a:solidFill>
                <a:latin typeface="Calibri"/>
                <a:cs typeface="Calibri"/>
              </a:rPr>
              <a:t>resource  →  scenario  →  population</a:t>
            </a:r>
          </a:p>
        </p:txBody>
      </p:sp>
      <p:sp>
        <p:nvSpPr>
          <p:cNvPr id="722" name="r721"/>
          <p:cNvSpPr/>
          <p:nvPr/>
        </p:nvSpPr>
        <p:spPr>
          <a:xfrm>
            <a:off x="566928" y="4370832"/>
            <a:ext cx="11064240" cy="841248"/>
          </a:xfrm>
          <a:prstGeom prst="roundRect">
            <a:avLst>
              <a:gd name="adj" fmla="val 6521"/>
            </a:avLst>
          </a:prstGeom>
          <a:solidFill>
            <a:srgbClr val="0A1422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4" name="t723"/>
          <p:cNvSpPr txBox="1"/>
          <p:nvPr/>
        </p:nvSpPr>
        <p:spPr>
          <a:xfrm>
            <a:off x="932688" y="4608576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6C2AC"/>
                </a:solidFill>
                <a:latin typeface="Consolas"/>
                <a:cs typeface="Consolas"/>
              </a:rPr>
              <a:t>$ </a:t>
            </a:r>
            <a:r>
              <a:rPr lang="en-US" sz="1400" b="0" dirty="0">
                <a:solidFill>
                  <a:srgbClr val="E6EDF3"/>
                </a:solidFill>
                <a:latin typeface="Consolas"/>
                <a:cs typeface="Consolas"/>
              </a:rPr>
              <a:t>ignixa-fakes r4 population --from Seattle --count 50 --ndjson --out ./output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72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16C2AC"/>
                </a:solidFill>
                <a:latin typeface="Trebuchet MS"/>
                <a:cs typeface="Trebuchet MS"/>
              </a:rPr>
              <a:t>CLI REFERENCE</a:t>
            </a:r>
          </a:p>
        </p:txBody>
      </p:sp>
      <p:sp>
        <p:nvSpPr>
          <p:cNvPr id="728" name="t727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One tool, every shape of data.</a:t>
            </a:r>
          </a:p>
        </p:txBody>
      </p:sp>
      <p:sp>
        <p:nvSpPr>
          <p:cNvPr id="730" name="r729"/>
          <p:cNvSpPr/>
          <p:nvPr/>
        </p:nvSpPr>
        <p:spPr>
          <a:xfrm>
            <a:off x="566928" y="1828800"/>
            <a:ext cx="11064240" cy="493776"/>
          </a:xfrm>
          <a:prstGeom prst="rect">
            <a:avLst/>
          </a:prstGeom>
          <a:solidFill>
            <a:srgbClr val="0B1F33"/>
          </a:solidFill>
        </p:spPr>
        <p:txBody>
          <a:bodyPr/>
          <a:lstStyle/>
          <a:p>
            <a:endParaRPr/>
          </a:p>
        </p:txBody>
      </p:sp>
      <p:sp>
        <p:nvSpPr>
          <p:cNvPr id="732" name="t731"/>
          <p:cNvSpPr txBox="1"/>
          <p:nvPr/>
        </p:nvSpPr>
        <p:spPr>
          <a:xfrm>
            <a:off x="841248" y="1828800"/>
            <a:ext cx="6400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/>
                <a:cs typeface="Trebuchet MS"/>
              </a:rPr>
              <a:t>Command</a:t>
            </a:r>
          </a:p>
        </p:txBody>
      </p:sp>
      <p:sp>
        <p:nvSpPr>
          <p:cNvPr id="734" name="t733"/>
          <p:cNvSpPr txBox="1"/>
          <p:nvPr/>
        </p:nvSpPr>
        <p:spPr>
          <a:xfrm>
            <a:off x="7333488" y="1828800"/>
            <a:ext cx="4114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/>
                <a:cs typeface="Trebuchet MS"/>
              </a:rPr>
              <a:t>Output</a:t>
            </a:r>
          </a:p>
        </p:txBody>
      </p:sp>
      <p:sp>
        <p:nvSpPr>
          <p:cNvPr id="736" name="t735"/>
          <p:cNvSpPr txBox="1"/>
          <p:nvPr/>
        </p:nvSpPr>
        <p:spPr>
          <a:xfrm>
            <a:off x="841248" y="2322576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r4 resource Patient</a:t>
            </a:r>
          </a:p>
        </p:txBody>
      </p:sp>
      <p:sp>
        <p:nvSpPr>
          <p:cNvPr id="738" name="t737"/>
          <p:cNvSpPr txBox="1"/>
          <p:nvPr/>
        </p:nvSpPr>
        <p:spPr>
          <a:xfrm>
            <a:off x="7333488" y="2322576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Single Patient JSON</a:t>
            </a:r>
          </a:p>
        </p:txBody>
      </p:sp>
      <p:sp>
        <p:nvSpPr>
          <p:cNvPr id="740" name="r739"/>
          <p:cNvSpPr/>
          <p:nvPr/>
        </p:nvSpPr>
        <p:spPr>
          <a:xfrm>
            <a:off x="566928" y="2830068"/>
            <a:ext cx="11064240" cy="507492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742" name="t741"/>
          <p:cNvSpPr txBox="1"/>
          <p:nvPr/>
        </p:nvSpPr>
        <p:spPr>
          <a:xfrm>
            <a:off x="841248" y="2830068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r4 resource Observation BloodGlucose</a:t>
            </a:r>
          </a:p>
        </p:txBody>
      </p:sp>
      <p:sp>
        <p:nvSpPr>
          <p:cNvPr id="744" name="t743"/>
          <p:cNvSpPr txBox="1"/>
          <p:nvPr/>
        </p:nvSpPr>
        <p:spPr>
          <a:xfrm>
            <a:off x="7333488" y="2830068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Observation with predefined state</a:t>
            </a:r>
          </a:p>
        </p:txBody>
      </p:sp>
      <p:sp>
        <p:nvSpPr>
          <p:cNvPr id="746" name="t745"/>
          <p:cNvSpPr txBox="1"/>
          <p:nvPr/>
        </p:nvSpPr>
        <p:spPr>
          <a:xfrm>
            <a:off x="841248" y="3337560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r4 scenario DiabeticPatient</a:t>
            </a:r>
          </a:p>
        </p:txBody>
      </p:sp>
      <p:sp>
        <p:nvSpPr>
          <p:cNvPr id="748" name="t747"/>
          <p:cNvSpPr txBox="1"/>
          <p:nvPr/>
        </p:nvSpPr>
        <p:spPr>
          <a:xfrm>
            <a:off x="7333488" y="3337560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Bundle with full clinical scenario</a:t>
            </a:r>
          </a:p>
        </p:txBody>
      </p:sp>
      <p:sp>
        <p:nvSpPr>
          <p:cNvPr id="750" name="r749"/>
          <p:cNvSpPr/>
          <p:nvPr/>
        </p:nvSpPr>
        <p:spPr>
          <a:xfrm>
            <a:off x="566928" y="3845052"/>
            <a:ext cx="11064240" cy="507492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752" name="t751"/>
          <p:cNvSpPr txBox="1"/>
          <p:nvPr/>
        </p:nvSpPr>
        <p:spPr>
          <a:xfrm>
            <a:off x="841248" y="3845052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r4 population --from Seattle --count 100</a:t>
            </a:r>
          </a:p>
        </p:txBody>
      </p:sp>
      <p:sp>
        <p:nvSpPr>
          <p:cNvPr id="754" name="t753"/>
          <p:cNvSpPr txBox="1"/>
          <p:nvPr/>
        </p:nvSpPr>
        <p:spPr>
          <a:xfrm>
            <a:off x="7333488" y="3845052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Transaction bundle — temp urn:uuid refs</a:t>
            </a:r>
          </a:p>
        </p:txBody>
      </p:sp>
      <p:sp>
        <p:nvSpPr>
          <p:cNvPr id="756" name="t755"/>
          <p:cNvSpPr txBox="1"/>
          <p:nvPr/>
        </p:nvSpPr>
        <p:spPr>
          <a:xfrm>
            <a:off x="841248" y="4352544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r4 population --count 100 </a:t>
            </a:r>
            <a:r>
              <a:rPr lang="en-US" sz="1200" b="0" dirty="0">
                <a:solidFill>
                  <a:srgbClr val="FF0000"/>
                </a:solidFill>
                <a:latin typeface="Consolas"/>
                <a:cs typeface="Consolas"/>
              </a:rPr>
              <a:t>--resolved-references</a:t>
            </a:r>
          </a:p>
        </p:txBody>
      </p:sp>
      <p:sp>
        <p:nvSpPr>
          <p:cNvPr id="758" name="t757"/>
          <p:cNvSpPr txBox="1"/>
          <p:nvPr/>
        </p:nvSpPr>
        <p:spPr>
          <a:xfrm>
            <a:off x="7333488" y="4352544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Resolved batch bundle — real IDs</a:t>
            </a:r>
          </a:p>
        </p:txBody>
      </p:sp>
      <p:sp>
        <p:nvSpPr>
          <p:cNvPr id="760" name="r759"/>
          <p:cNvSpPr/>
          <p:nvPr/>
        </p:nvSpPr>
        <p:spPr>
          <a:xfrm>
            <a:off x="566928" y="4860036"/>
            <a:ext cx="11064240" cy="507492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762" name="t761"/>
          <p:cNvSpPr txBox="1"/>
          <p:nvPr/>
        </p:nvSpPr>
        <p:spPr>
          <a:xfrm>
            <a:off x="841248" y="4860036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r4 population --count 100 </a:t>
            </a:r>
            <a:r>
              <a:rPr lang="en-US" sz="1200" b="0" dirty="0">
                <a:solidFill>
                  <a:srgbClr val="FF0000"/>
                </a:solidFill>
                <a:latin typeface="Consolas"/>
                <a:cs typeface="Consolas"/>
              </a:rPr>
              <a:t>--ndjson</a:t>
            </a:r>
          </a:p>
        </p:txBody>
      </p:sp>
      <p:sp>
        <p:nvSpPr>
          <p:cNvPr id="764" name="t763"/>
          <p:cNvSpPr txBox="1"/>
          <p:nvPr/>
        </p:nvSpPr>
        <p:spPr>
          <a:xfrm>
            <a:off x="7333488" y="4860036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NDJSON — ready to test $import</a:t>
            </a:r>
          </a:p>
        </p:txBody>
      </p:sp>
      <p:sp>
        <p:nvSpPr>
          <p:cNvPr id="766" name="t765"/>
          <p:cNvSpPr txBox="1"/>
          <p:nvPr/>
        </p:nvSpPr>
        <p:spPr>
          <a:xfrm>
            <a:off x="841248" y="5367528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help scenarios</a:t>
            </a:r>
          </a:p>
        </p:txBody>
      </p:sp>
      <p:sp>
        <p:nvSpPr>
          <p:cNvPr id="768" name="t767"/>
          <p:cNvSpPr txBox="1"/>
          <p:nvPr/>
        </p:nvSpPr>
        <p:spPr>
          <a:xfrm>
            <a:off x="7333488" y="5367528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List all available scenarios</a:t>
            </a:r>
          </a:p>
        </p:txBody>
      </p:sp>
      <p:sp>
        <p:nvSpPr>
          <p:cNvPr id="770" name="r769"/>
          <p:cNvSpPr/>
          <p:nvPr/>
        </p:nvSpPr>
        <p:spPr>
          <a:xfrm>
            <a:off x="566928" y="1828800"/>
            <a:ext cx="11064240" cy="4553712"/>
          </a:xfrm>
          <a:prstGeom prst="rect">
            <a:avLst/>
          </a:prstGeom>
          <a:noFill/>
          <a:ln w="12700">
            <a:solidFill>
              <a:srgbClr val="DCE3E8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772" name="l771"/>
          <p:cNvCxnSpPr/>
          <p:nvPr/>
        </p:nvCxnSpPr>
        <p:spPr>
          <a:xfrm>
            <a:off x="7242048" y="1828800"/>
            <a:ext cx="0" cy="4553712"/>
          </a:xfrm>
          <a:prstGeom prst="line">
            <a:avLst/>
          </a:prstGeom>
          <a:ln w="12700" cap="rnd">
            <a:solidFill>
              <a:srgbClr val="DCE3E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774" name="t773"/>
          <p:cNvSpPr txBox="1"/>
          <p:nvPr/>
        </p:nvSpPr>
        <p:spPr>
          <a:xfrm>
            <a:off x="566928" y="645160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5E7382"/>
                </a:solidFill>
                <a:latin typeface="Calibri"/>
                <a:cs typeface="Calibri"/>
              </a:rPr>
              <a:t>Always: &lt;version&gt; &lt;command&gt; --out &lt;folder&gt; [options]</a:t>
            </a:r>
          </a:p>
        </p:txBody>
      </p:sp>
      <p:sp>
        <p:nvSpPr>
          <p:cNvPr id="900" name="r759"/>
          <p:cNvSpPr/>
          <p:nvPr/>
        </p:nvSpPr>
        <p:spPr>
          <a:xfrm>
            <a:off x="566928" y="5875020"/>
            <a:ext cx="11064240" cy="507492"/>
          </a:xfrm>
          <a:prstGeom prst="rect">
            <a:avLst/>
          </a:prstGeom>
          <a:solidFill>
            <a:srgbClr val="F4F7F9"/>
          </a:solidFill>
        </p:spPr>
        <p:txBody>
          <a:bodyPr/>
          <a:lstStyle/>
          <a:p>
            <a:endParaRPr/>
          </a:p>
        </p:txBody>
      </p:sp>
      <p:sp>
        <p:nvSpPr>
          <p:cNvPr id="901" name="t765"/>
          <p:cNvSpPr txBox="1"/>
          <p:nvPr/>
        </p:nvSpPr>
        <p:spPr>
          <a:xfrm>
            <a:off x="841248" y="5875020"/>
            <a:ext cx="6400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00" b="0" dirty="0">
                <a:solidFill>
                  <a:srgbClr val="1A4A6E"/>
                </a:solidFill>
                <a:latin typeface="Consolas"/>
                <a:cs typeface="Consolas"/>
              </a:rPr>
              <a:t>ignixa-fakes help cities</a:t>
            </a:r>
          </a:p>
        </p:txBody>
      </p:sp>
      <p:sp>
        <p:nvSpPr>
          <p:cNvPr id="902" name="t767"/>
          <p:cNvSpPr txBox="1"/>
          <p:nvPr/>
        </p:nvSpPr>
        <p:spPr>
          <a:xfrm>
            <a:off x="7333488" y="5875020"/>
            <a:ext cx="4114800" cy="5074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n-US" sz="1250" b="0" dirty="0">
                <a:solidFill>
                  <a:srgbClr val="33485A"/>
                </a:solidFill>
                <a:latin typeface="Calibri"/>
                <a:cs typeface="Calibri"/>
              </a:rPr>
              <a:t>List cities + demographics</a:t>
            </a:r>
          </a:p>
        </p:txBody>
      </p:sp>
    </p:spTree>
    <p:extLst>
      <p:ext uri="{BB962C8B-B14F-4D97-AF65-F5344CB8AC3E}">
        <p14:creationId xmlns:p14="http://schemas.microsoft.com/office/powerpoint/2010/main" val="118742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r775"/>
          <p:cNvSpPr/>
          <p:nvPr/>
        </p:nvSpPr>
        <p:spPr>
          <a:xfrm>
            <a:off x="0" y="566928"/>
            <a:ext cx="12191695" cy="5760720"/>
          </a:xfrm>
          <a:prstGeom prst="rect">
            <a:avLst/>
          </a:prstGeom>
          <a:solidFill>
            <a:srgbClr val="0E1B2E"/>
          </a:solidFill>
        </p:spPr>
        <p:txBody>
          <a:bodyPr/>
          <a:lstStyle/>
          <a:p>
            <a:endParaRPr/>
          </a:p>
        </p:txBody>
      </p:sp>
      <p:sp>
        <p:nvSpPr>
          <p:cNvPr id="778" name="r777"/>
          <p:cNvSpPr/>
          <p:nvPr/>
        </p:nvSpPr>
        <p:spPr>
          <a:xfrm>
            <a:off x="566928" y="1417320"/>
            <a:ext cx="1783080" cy="566928"/>
          </a:xfrm>
          <a:prstGeom prst="roundRect">
            <a:avLst>
              <a:gd name="adj" fmla="val 19354"/>
            </a:avLst>
          </a:prstGeom>
          <a:solidFill>
            <a:srgbClr val="0E9C8A"/>
          </a:solidFill>
        </p:spPr>
        <p:txBody>
          <a:bodyPr/>
          <a:lstStyle/>
          <a:p>
            <a:endParaRPr/>
          </a:p>
        </p:txBody>
      </p:sp>
      <p:sp>
        <p:nvSpPr>
          <p:cNvPr id="780" name="t779"/>
          <p:cNvSpPr txBox="1"/>
          <p:nvPr/>
        </p:nvSpPr>
        <p:spPr>
          <a:xfrm>
            <a:off x="566928" y="1431036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sz="1900" b="1" dirty="0">
                <a:solidFill>
                  <a:srgbClr val="0E1B2E"/>
                </a:solidFill>
                <a:latin typeface="Trebuchet MS"/>
                <a:cs typeface="Trebuchet MS"/>
              </a:rPr>
              <a:t>DEMO 2</a:t>
            </a:r>
          </a:p>
        </p:txBody>
      </p:sp>
      <p:sp>
        <p:nvSpPr>
          <p:cNvPr id="782" name="t781"/>
          <p:cNvSpPr txBox="1"/>
          <p:nvPr/>
        </p:nvSpPr>
        <p:spPr>
          <a:xfrm>
            <a:off x="566928" y="233172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/>
                <a:cs typeface="Trebuchet MS"/>
              </a:rPr>
              <a:t>Now from C#.</a:t>
            </a:r>
          </a:p>
        </p:txBody>
      </p:sp>
      <p:sp>
        <p:nvSpPr>
          <p:cNvPr id="784" name="t783"/>
          <p:cNvSpPr txBox="1"/>
          <p:nvPr/>
        </p:nvSpPr>
        <p:spPr>
          <a:xfrm>
            <a:off x="566928" y="34564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16C2AC"/>
                </a:solidFill>
                <a:latin typeface="Calibri"/>
                <a:cs typeface="Calibri"/>
              </a:rPr>
              <a:t>Layer 1  →  Layer 2  →  Layer 4   ·   same engine, deterministic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t78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F2A93B"/>
                </a:solidFill>
                <a:latin typeface="Trebuchet MS"/>
                <a:cs typeface="Trebuchet MS"/>
              </a:rPr>
              <a:t>THE HARD PART</a:t>
            </a:r>
          </a:p>
        </p:txBody>
      </p:sp>
      <p:sp>
        <p:nvSpPr>
          <p:cNvPr id="788" name="t787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Clinical realism is a design constraint.</a:t>
            </a:r>
          </a:p>
        </p:txBody>
      </p:sp>
      <p:sp>
        <p:nvSpPr>
          <p:cNvPr id="790" name="t789"/>
          <p:cNvSpPr txBox="1"/>
          <p:nvPr/>
        </p:nvSpPr>
        <p:spPr>
          <a:xfrm>
            <a:off x="566928" y="173736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33485A"/>
                </a:solidFill>
                <a:latin typeface="Calibri"/>
                <a:cs typeface="Calibri"/>
              </a:rPr>
              <a:t>Random ≠ realistic. Vitals can’t be independent random values.</a:t>
            </a:r>
          </a:p>
        </p:txBody>
      </p:sp>
      <p:sp>
        <p:nvSpPr>
          <p:cNvPr id="792" name="t791"/>
          <p:cNvSpPr txBox="1"/>
          <p:nvPr/>
        </p:nvSpPr>
        <p:spPr>
          <a:xfrm>
            <a:off x="566928" y="2395728"/>
            <a:ext cx="5943600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BMI must correlate with obesity-related conditions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Blood glucose must track the diabetes diagnosis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HbA1c &gt; 6.5 if diabetic; systolic BP up with hypertension</a:t>
            </a:r>
          </a:p>
          <a:p>
            <a:pPr marL="274320" indent="-274320" algn="l">
              <a:lnSpc>
                <a:spcPct val="124000"/>
              </a:lnSpc>
              <a:spcBef>
                <a:spcPts val="1400"/>
              </a:spcBef>
              <a:buNone/>
            </a:pPr>
            <a:r>
              <a:rPr lang="en-US" sz="1450" b="1" dirty="0">
                <a:solidFill>
                  <a:srgbClr val="F2A93B"/>
                </a:solidFill>
                <a:latin typeface="Calibri"/>
                <a:cs typeface="Calibri"/>
              </a:rPr>
              <a:t>▸  </a:t>
            </a:r>
            <a:r>
              <a:rPr lang="en-US" sz="1450" b="0" dirty="0">
                <a:solidFill>
                  <a:srgbClr val="33485A"/>
                </a:solidFill>
                <a:latin typeface="Calibri"/>
                <a:cs typeface="Calibri"/>
              </a:rPr>
              <a:t>Lab values must be physiologically plausible together</a:t>
            </a:r>
          </a:p>
        </p:txBody>
      </p:sp>
      <p:sp>
        <p:nvSpPr>
          <p:cNvPr id="794" name="r793"/>
          <p:cNvSpPr/>
          <p:nvPr/>
        </p:nvSpPr>
        <p:spPr>
          <a:xfrm>
            <a:off x="6922008" y="2395728"/>
            <a:ext cx="4709160" cy="3611880"/>
          </a:xfrm>
          <a:prstGeom prst="roundRect">
            <a:avLst>
              <a:gd name="adj" fmla="val 1265"/>
            </a:avLst>
          </a:prstGeom>
          <a:solidFill>
            <a:srgbClr val="0B1F33"/>
          </a:solidFill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96" name="t795"/>
          <p:cNvSpPr txBox="1"/>
          <p:nvPr/>
        </p:nvSpPr>
        <p:spPr>
          <a:xfrm>
            <a:off x="7251192" y="2670048"/>
            <a:ext cx="4105656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lang="en-US" sz="1600" b="0" dirty="0">
                <a:solidFill>
                  <a:srgbClr val="9DB2C7"/>
                </a:solidFill>
                <a:latin typeface="Calibri"/>
                <a:cs typeface="Calibri"/>
              </a:rPr>
              <a:t>The FHIR spec tells you the </a:t>
            </a:r>
            <a:r>
              <a:rPr lang="en-US" sz="1600" b="1" dirty="0">
                <a:solidFill>
                  <a:srgbClr val="16C2AC"/>
                </a:solidFill>
                <a:latin typeface="Trebuchet MS"/>
                <a:cs typeface="Trebuchet MS"/>
              </a:rPr>
              <a:t>schema</a:t>
            </a:r>
            <a:r>
              <a:rPr lang="en-US" sz="1600" b="0" dirty="0">
                <a:solidFill>
                  <a:srgbClr val="9DB2C7"/>
                </a:solidFill>
                <a:latin typeface="Calibri"/>
                <a:cs typeface="Calibri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800"/>
              </a:spcBef>
              <a:buNone/>
            </a:pPr>
            <a:r>
              <a:rPr lang="en-US" sz="1600" b="0" dirty="0">
                <a:solidFill>
                  <a:srgbClr val="9DB2C7"/>
                </a:solidFill>
                <a:latin typeface="Calibri"/>
                <a:cs typeface="Calibri"/>
              </a:rPr>
              <a:t>Clinical medicine tells you the </a:t>
            </a:r>
            <a:r>
              <a:rPr lang="en-US" sz="1600" b="1" dirty="0">
                <a:solidFill>
                  <a:srgbClr val="F2A93B"/>
                </a:solidFill>
                <a:latin typeface="Trebuchet MS"/>
                <a:cs typeface="Trebuchet MS"/>
              </a:rPr>
              <a:t>constraints</a:t>
            </a:r>
            <a:r>
              <a:rPr lang="en-US" sz="1600" b="0" dirty="0">
                <a:solidFill>
                  <a:srgbClr val="9DB2C7"/>
                </a:solidFill>
                <a:latin typeface="Calibri"/>
                <a:cs typeface="Calibri"/>
              </a:rPr>
              <a:t>.</a:t>
            </a:r>
          </a:p>
        </p:txBody>
      </p:sp>
      <p:cxnSp>
        <p:nvCxnSpPr>
          <p:cNvPr id="798" name="l797"/>
          <p:cNvCxnSpPr/>
          <p:nvPr/>
        </p:nvCxnSpPr>
        <p:spPr>
          <a:xfrm>
            <a:off x="7251192" y="4370832"/>
            <a:ext cx="4050792" cy="0"/>
          </a:xfrm>
          <a:prstGeom prst="line">
            <a:avLst/>
          </a:prstGeom>
          <a:ln w="12700" cap="rnd">
            <a:solidFill>
              <a:srgbClr val="26405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800" name="t799"/>
          <p:cNvSpPr txBox="1"/>
          <p:nvPr/>
        </p:nvSpPr>
        <p:spPr>
          <a:xfrm>
            <a:off x="7251192" y="4553712"/>
            <a:ext cx="4105656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250" b="0" dirty="0">
                <a:solidFill>
                  <a:srgbClr val="9DB2C7"/>
                </a:solidFill>
                <a:latin typeface="Calibri"/>
                <a:cs typeface="Calibri"/>
              </a:rPr>
              <a:t>BMI 18 + type-2 diabetes + normal glucose is valid FHIR — and useless for testing. Any test relying on correlation would pass for the wrong reason.</a:t>
            </a:r>
          </a:p>
        </p:txBody>
      </p:sp>
      <p:sp>
        <p:nvSpPr>
          <p:cNvPr id="802" name="t801"/>
          <p:cNvSpPr txBox="1"/>
          <p:nvPr/>
        </p:nvSpPr>
        <p:spPr>
          <a:xfrm>
            <a:off x="566928" y="60533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100" b="0" i="1" dirty="0">
                <a:solidFill>
                  <a:srgbClr val="5E7382"/>
                </a:solidFill>
                <a:latin typeface="Calibri"/>
                <a:cs typeface="Calibri"/>
              </a:rPr>
              <a:t>VitalSignCorrelationEngine models the physiology explicitly.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t803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1" spc="260" dirty="0">
                <a:solidFill>
                  <a:srgbClr val="8A6BF0"/>
                </a:solidFill>
                <a:latin typeface="Trebuchet MS"/>
                <a:cs typeface="Trebuchet MS"/>
              </a:rPr>
              <a:t>A DELIBERATE TRADE-OFF</a:t>
            </a:r>
          </a:p>
        </p:txBody>
      </p:sp>
      <p:sp>
        <p:nvSpPr>
          <p:cNvPr id="806" name="t805"/>
          <p:cNvSpPr txBox="1"/>
          <p:nvPr/>
        </p:nvSpPr>
        <p:spPr>
          <a:xfrm>
            <a:off x="566928" y="950976"/>
            <a:ext cx="11064240" cy="8412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91B9"/>
                </a:solidFill>
                <a:latin typeface="Trebuchet MS"/>
                <a:cs typeface="Trebuchet MS"/>
              </a:rPr>
              <a:t>Determinism vs realism — pick deliberately.</a:t>
            </a:r>
          </a:p>
        </p:txBody>
      </p:sp>
      <p:sp>
        <p:nvSpPr>
          <p:cNvPr id="808" name="r807"/>
          <p:cNvSpPr/>
          <p:nvPr/>
        </p:nvSpPr>
        <p:spPr>
          <a:xfrm>
            <a:off x="566928" y="1874520"/>
            <a:ext cx="5285232" cy="3520440"/>
          </a:xfrm>
          <a:prstGeom prst="roundRect">
            <a:avLst>
              <a:gd name="adj" fmla="val 129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10" name="r809"/>
          <p:cNvSpPr/>
          <p:nvPr/>
        </p:nvSpPr>
        <p:spPr>
          <a:xfrm>
            <a:off x="566928" y="1874520"/>
            <a:ext cx="5285232" cy="77724"/>
          </a:xfrm>
          <a:prstGeom prst="roundRect">
            <a:avLst>
              <a:gd name="adj" fmla="val 50000"/>
            </a:avLst>
          </a:prstGeom>
          <a:solidFill>
            <a:srgbClr val="16C2AC"/>
          </a:solidFill>
        </p:spPr>
        <p:txBody>
          <a:bodyPr/>
          <a:lstStyle/>
          <a:p>
            <a:endParaRPr/>
          </a:p>
        </p:txBody>
      </p:sp>
      <p:sp>
        <p:nvSpPr>
          <p:cNvPr id="812" name="t811"/>
          <p:cNvSpPr txBox="1"/>
          <p:nvPr/>
        </p:nvSpPr>
        <p:spPr>
          <a:xfrm>
            <a:off x="914400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60" dirty="0">
                <a:solidFill>
                  <a:srgbClr val="0E9C8A"/>
                </a:solidFill>
                <a:latin typeface="Trebuchet MS"/>
                <a:cs typeface="Trebuchet MS"/>
              </a:rPr>
              <a:t>DETERMINISTIC</a:t>
            </a:r>
            <a:r>
              <a:rPr lang="en-US" sz="1250" b="0" dirty="0">
                <a:solidFill>
                  <a:srgbClr val="5E7382"/>
                </a:solidFill>
                <a:latin typeface="Calibri"/>
                <a:cs typeface="Calibri"/>
              </a:rPr>
              <a:t>   ·  unit tests</a:t>
            </a:r>
          </a:p>
        </p:txBody>
      </p:sp>
      <p:sp>
        <p:nvSpPr>
          <p:cNvPr id="814" name="r813"/>
          <p:cNvSpPr/>
          <p:nvPr/>
        </p:nvSpPr>
        <p:spPr>
          <a:xfrm>
            <a:off x="914400" y="2660904"/>
            <a:ext cx="4590288" cy="512064"/>
          </a:xfrm>
          <a:prstGeom prst="roundRect">
            <a:avLst>
              <a:gd name="adj" fmla="val 17857"/>
            </a:avLst>
          </a:prstGeom>
          <a:solidFill>
            <a:srgbClr val="0A1422"/>
          </a:solidFill>
        </p:spPr>
        <p:txBody>
          <a:bodyPr/>
          <a:lstStyle/>
          <a:p>
            <a:endParaRPr/>
          </a:p>
        </p:txBody>
      </p:sp>
      <p:sp>
        <p:nvSpPr>
          <p:cNvPr id="816" name="t815"/>
          <p:cNvSpPr txBox="1"/>
          <p:nvPr/>
        </p:nvSpPr>
        <p:spPr>
          <a:xfrm>
            <a:off x="1078992" y="277977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E6EDF3"/>
                </a:solidFill>
                <a:latin typeface="Consolas"/>
                <a:cs typeface="Consolas"/>
              </a:rPr>
              <a:t>Randomizer.Seed = new Random(42);</a:t>
            </a:r>
          </a:p>
        </p:txBody>
      </p:sp>
      <p:sp>
        <p:nvSpPr>
          <p:cNvPr id="818" name="t817"/>
          <p:cNvSpPr txBox="1"/>
          <p:nvPr/>
        </p:nvSpPr>
        <p:spPr>
          <a:xfrm>
            <a:off x="914400" y="3392424"/>
            <a:ext cx="4608576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E9C8A"/>
                </a:solidFill>
                <a:latin typeface="Calibri"/>
                <a:cs typeface="Calibri"/>
              </a:rPr>
              <a:t>▸  </a:t>
            </a:r>
            <a:r>
              <a:rPr lang="en-US" sz="1300" b="0" dirty="0">
                <a:solidFill>
                  <a:srgbClr val="33485A"/>
                </a:solidFill>
                <a:latin typeface="Calibri"/>
                <a:cs typeface="Calibri"/>
              </a:rPr>
              <a:t>Same seed → same patient → stable assertions</a:t>
            </a:r>
          </a:p>
          <a:p>
            <a:pPr marL="274320" indent="-274320" algn="l">
              <a:lnSpc>
                <a:spcPct val="122000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0E9C8A"/>
                </a:solidFill>
                <a:latin typeface="Calibri"/>
                <a:cs typeface="Calibri"/>
              </a:rPr>
              <a:t>▸  </a:t>
            </a:r>
            <a:r>
              <a:rPr lang="en-US" sz="1300" b="0" dirty="0">
                <a:solidFill>
                  <a:srgbClr val="33485A"/>
                </a:solidFill>
                <a:latin typeface="Calibri"/>
                <a:cs typeface="Calibri"/>
              </a:rPr>
              <a:t>Snapshot tests, debugging specific scenarios</a:t>
            </a:r>
          </a:p>
        </p:txBody>
      </p:sp>
      <p:sp>
        <p:nvSpPr>
          <p:cNvPr id="820" name="r819"/>
          <p:cNvSpPr/>
          <p:nvPr/>
        </p:nvSpPr>
        <p:spPr>
          <a:xfrm>
            <a:off x="6163056" y="1874520"/>
            <a:ext cx="5285232" cy="3520440"/>
          </a:xfrm>
          <a:prstGeom prst="roundRect">
            <a:avLst>
              <a:gd name="adj" fmla="val 1298"/>
            </a:avLst>
          </a:prstGeom>
          <a:solidFill>
            <a:srgbClr val="FFFFFF"/>
          </a:solidFill>
          <a:ln w="12700">
            <a:solidFill>
              <a:srgbClr val="DCE3E8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22" name="r821"/>
          <p:cNvSpPr/>
          <p:nvPr/>
        </p:nvSpPr>
        <p:spPr>
          <a:xfrm>
            <a:off x="6163056" y="1874520"/>
            <a:ext cx="5285232" cy="77724"/>
          </a:xfrm>
          <a:prstGeom prst="roundRect">
            <a:avLst>
              <a:gd name="adj" fmla="val 50000"/>
            </a:avLst>
          </a:prstGeom>
          <a:solidFill>
            <a:srgbClr val="8A6BF0"/>
          </a:solidFill>
        </p:spPr>
        <p:txBody>
          <a:bodyPr/>
          <a:lstStyle/>
          <a:p>
            <a:endParaRPr/>
          </a:p>
        </p:txBody>
      </p:sp>
      <p:sp>
        <p:nvSpPr>
          <p:cNvPr id="824" name="t823"/>
          <p:cNvSpPr txBox="1"/>
          <p:nvPr/>
        </p:nvSpPr>
        <p:spPr>
          <a:xfrm>
            <a:off x="6510528" y="2167128"/>
            <a:ext cx="464515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400" b="1" spc="120" dirty="0">
                <a:solidFill>
                  <a:srgbClr val="6D49E0"/>
                </a:solidFill>
                <a:latin typeface="Trebuchet MS"/>
                <a:cs typeface="Trebuchet MS"/>
              </a:rPr>
              <a:t>REALISTIC VARIANCE</a:t>
            </a:r>
            <a:r>
              <a:rPr lang="en-US" sz="1250" b="0" dirty="0">
                <a:solidFill>
                  <a:srgbClr val="5E7382"/>
                </a:solidFill>
                <a:latin typeface="Calibri"/>
                <a:cs typeface="Calibri"/>
              </a:rPr>
              <a:t>   ·  load tests</a:t>
            </a:r>
          </a:p>
        </p:txBody>
      </p:sp>
      <p:sp>
        <p:nvSpPr>
          <p:cNvPr id="826" name="r825"/>
          <p:cNvSpPr/>
          <p:nvPr/>
        </p:nvSpPr>
        <p:spPr>
          <a:xfrm>
            <a:off x="6510528" y="2660904"/>
            <a:ext cx="4590288" cy="512064"/>
          </a:xfrm>
          <a:prstGeom prst="roundRect">
            <a:avLst>
              <a:gd name="adj" fmla="val 17857"/>
            </a:avLst>
          </a:prstGeom>
          <a:solidFill>
            <a:srgbClr val="0A1422"/>
          </a:solidFill>
        </p:spPr>
        <p:txBody>
          <a:bodyPr/>
          <a:lstStyle/>
          <a:p>
            <a:endParaRPr/>
          </a:p>
        </p:txBody>
      </p:sp>
      <p:sp>
        <p:nvSpPr>
          <p:cNvPr id="828" name="t827"/>
          <p:cNvSpPr txBox="1"/>
          <p:nvPr/>
        </p:nvSpPr>
        <p:spPr>
          <a:xfrm>
            <a:off x="6675120" y="2779776"/>
            <a:ext cx="42793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5C7488"/>
                </a:solidFill>
                <a:latin typeface="Consolas"/>
                <a:cs typeface="Consolas"/>
              </a:rPr>
              <a:t>// no seed — let Bogus run free</a:t>
            </a:r>
          </a:p>
        </p:txBody>
      </p:sp>
      <p:sp>
        <p:nvSpPr>
          <p:cNvPr id="830" name="t829"/>
          <p:cNvSpPr txBox="1"/>
          <p:nvPr/>
        </p:nvSpPr>
        <p:spPr>
          <a:xfrm>
            <a:off x="6510528" y="3392424"/>
            <a:ext cx="4608576" cy="457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74320" indent="-274320" algn="l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6D49E0"/>
                </a:solidFill>
                <a:latin typeface="Calibri"/>
                <a:cs typeface="Calibri"/>
              </a:rPr>
              <a:t>▸  </a:t>
            </a:r>
            <a:r>
              <a:rPr lang="en-US" sz="1300" b="0" dirty="0">
                <a:solidFill>
                  <a:srgbClr val="33485A"/>
                </a:solidFill>
                <a:latin typeface="Calibri"/>
                <a:cs typeface="Calibri"/>
              </a:rPr>
              <a:t>Different cohort each run, same distribution</a:t>
            </a:r>
          </a:p>
          <a:p>
            <a:pPr marL="274320" indent="-274320" algn="l">
              <a:lnSpc>
                <a:spcPct val="122000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6D49E0"/>
                </a:solidFill>
                <a:latin typeface="Calibri"/>
                <a:cs typeface="Calibri"/>
              </a:rPr>
              <a:t>▸  </a:t>
            </a:r>
            <a:r>
              <a:rPr lang="en-US" sz="1300" b="0" dirty="0">
                <a:solidFill>
                  <a:srgbClr val="33485A"/>
                </a:solidFill>
                <a:latin typeface="Calibri"/>
                <a:cs typeface="Calibri"/>
              </a:rPr>
              <a:t>Stress testing, benchmarks, population validation</a:t>
            </a:r>
          </a:p>
        </p:txBody>
      </p:sp>
      <p:sp>
        <p:nvSpPr>
          <p:cNvPr id="832" name="r831"/>
          <p:cNvSpPr/>
          <p:nvPr/>
        </p:nvSpPr>
        <p:spPr>
          <a:xfrm>
            <a:off x="566928" y="55778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BF0DC"/>
          </a:solidFill>
        </p:spPr>
        <p:txBody>
          <a:bodyPr/>
          <a:lstStyle/>
          <a:p>
            <a:endParaRPr/>
          </a:p>
        </p:txBody>
      </p:sp>
      <p:sp>
        <p:nvSpPr>
          <p:cNvPr id="834" name="t833"/>
          <p:cNvSpPr txBox="1"/>
          <p:nvPr/>
        </p:nvSpPr>
        <p:spPr>
          <a:xfrm>
            <a:off x="877824" y="5678424"/>
            <a:ext cx="105156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C97A0E"/>
                </a:solidFill>
                <a:latin typeface="Calibri"/>
                <a:cs typeface="Calibri"/>
              </a:rPr>
              <a:t>The 4-layer architecture makes the choice explicit — don’t let it happen by accident.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r835"/>
          <p:cNvSpPr/>
          <p:nvPr/>
        </p:nvSpPr>
        <p:spPr>
          <a:xfrm>
            <a:off x="0" y="566928"/>
            <a:ext cx="12191695" cy="5760720"/>
          </a:xfrm>
          <a:prstGeom prst="rect">
            <a:avLst/>
          </a:prstGeom>
          <a:solidFill>
            <a:srgbClr val="0E1B2E"/>
          </a:solidFill>
        </p:spPr>
        <p:txBody>
          <a:bodyPr/>
          <a:lstStyle/>
          <a:p>
            <a:endParaRPr/>
          </a:p>
        </p:txBody>
      </p:sp>
      <p:sp>
        <p:nvSpPr>
          <p:cNvPr id="838" name="t837"/>
          <p:cNvSpPr txBox="1"/>
          <p:nvPr/>
        </p:nvSpPr>
        <p:spPr>
          <a:xfrm>
            <a:off x="566928" y="841248"/>
            <a:ext cx="1106424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spc="280" dirty="0">
                <a:solidFill>
                  <a:srgbClr val="16C2AC"/>
                </a:solidFill>
                <a:latin typeface="Trebuchet MS"/>
                <a:cs typeface="Trebuchet MS"/>
              </a:rPr>
              <a:t>GET STARTED</a:t>
            </a:r>
          </a:p>
        </p:txBody>
      </p:sp>
      <p:sp>
        <p:nvSpPr>
          <p:cNvPr id="840" name="t839"/>
          <p:cNvSpPr txBox="1"/>
          <p:nvPr/>
        </p:nvSpPr>
        <p:spPr>
          <a:xfrm>
            <a:off x="566928" y="1133856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/>
                <a:cs typeface="Trebuchet MS"/>
              </a:rPr>
              <a:t>Try it.</a:t>
            </a:r>
          </a:p>
        </p:txBody>
      </p:sp>
      <p:sp>
        <p:nvSpPr>
          <p:cNvPr id="842" name="r841"/>
          <p:cNvSpPr/>
          <p:nvPr/>
        </p:nvSpPr>
        <p:spPr>
          <a:xfrm>
            <a:off x="566928" y="2240280"/>
            <a:ext cx="11064240" cy="1874520"/>
          </a:xfrm>
          <a:prstGeom prst="roundRect">
            <a:avLst>
              <a:gd name="adj" fmla="val 2195"/>
            </a:avLst>
          </a:prstGeom>
          <a:solidFill>
            <a:srgbClr val="0A1422"/>
          </a:solidFill>
          <a:ln w="12700">
            <a:solidFill>
              <a:srgbClr val="32507A"/>
            </a:solidFill>
          </a:ln>
          <a:effectLst>
            <a:outerShdw blurRad="90000" dist="38100" dir="5400000" rotWithShape="0">
              <a:srgbClr val="0B1F33">
                <a:alpha val="13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44" name="t843"/>
          <p:cNvSpPr txBox="1"/>
          <p:nvPr/>
        </p:nvSpPr>
        <p:spPr>
          <a:xfrm>
            <a:off x="950976" y="2441448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5C7488"/>
                </a:solidFill>
                <a:latin typeface="Consolas"/>
                <a:cs typeface="Consolas"/>
              </a:rPr>
              <a:t># library</a:t>
            </a:r>
          </a:p>
        </p:txBody>
      </p:sp>
      <p:sp>
        <p:nvSpPr>
          <p:cNvPr id="846" name="t845"/>
          <p:cNvSpPr txBox="1"/>
          <p:nvPr/>
        </p:nvSpPr>
        <p:spPr>
          <a:xfrm>
            <a:off x="950976" y="2715768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6C2AC"/>
                </a:solidFill>
                <a:latin typeface="Consolas"/>
                <a:cs typeface="Consolas"/>
              </a:rPr>
              <a:t>$ </a:t>
            </a:r>
            <a:r>
              <a:rPr lang="en-US" sz="1300" b="0" dirty="0">
                <a:solidFill>
                  <a:srgbClr val="E6EDF3"/>
                </a:solidFill>
                <a:latin typeface="Consolas"/>
                <a:cs typeface="Consolas"/>
              </a:rPr>
              <a:t>dotnet add package Ignixa.FhirFakes</a:t>
            </a:r>
          </a:p>
        </p:txBody>
      </p:sp>
      <p:sp>
        <p:nvSpPr>
          <p:cNvPr id="848" name="t847"/>
          <p:cNvSpPr txBox="1"/>
          <p:nvPr/>
        </p:nvSpPr>
        <p:spPr>
          <a:xfrm>
            <a:off x="950976" y="3008376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5C7488"/>
                </a:solidFill>
                <a:latin typeface="Consolas"/>
                <a:cs typeface="Consolas"/>
              </a:rPr>
              <a:t># CLI</a:t>
            </a:r>
          </a:p>
        </p:txBody>
      </p:sp>
      <p:sp>
        <p:nvSpPr>
          <p:cNvPr id="850" name="t849"/>
          <p:cNvSpPr txBox="1"/>
          <p:nvPr/>
        </p:nvSpPr>
        <p:spPr>
          <a:xfrm>
            <a:off x="950976" y="3282696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6C2AC"/>
                </a:solidFill>
                <a:latin typeface="Consolas"/>
                <a:cs typeface="Consolas"/>
              </a:rPr>
              <a:t>$ </a:t>
            </a:r>
            <a:r>
              <a:rPr lang="en-US" sz="1300" b="0" dirty="0">
                <a:solidFill>
                  <a:srgbClr val="E6EDF3"/>
                </a:solidFill>
                <a:latin typeface="Consolas"/>
                <a:cs typeface="Consolas"/>
              </a:rPr>
              <a:t>dotnet tool install -g Ignixa.FhirFakes.Cli</a:t>
            </a:r>
          </a:p>
        </p:txBody>
      </p:sp>
      <p:sp>
        <p:nvSpPr>
          <p:cNvPr id="852" name="t851"/>
          <p:cNvSpPr txBox="1"/>
          <p:nvPr/>
        </p:nvSpPr>
        <p:spPr>
          <a:xfrm>
            <a:off x="950976" y="3575304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5C7488"/>
                </a:solidFill>
                <a:latin typeface="Consolas"/>
                <a:cs typeface="Consolas"/>
              </a:rPr>
              <a:t># generate your first patient</a:t>
            </a:r>
          </a:p>
        </p:txBody>
      </p:sp>
      <p:sp>
        <p:nvSpPr>
          <p:cNvPr id="854" name="t853"/>
          <p:cNvSpPr txBox="1"/>
          <p:nvPr/>
        </p:nvSpPr>
        <p:spPr>
          <a:xfrm>
            <a:off x="950976" y="3849624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6C2AC"/>
                </a:solidFill>
                <a:latin typeface="Consolas"/>
                <a:cs typeface="Consolas"/>
              </a:rPr>
              <a:t>$ </a:t>
            </a:r>
            <a:r>
              <a:rPr lang="en-US" sz="1300" b="0" dirty="0">
                <a:solidFill>
                  <a:srgbClr val="E6EDF3"/>
                </a:solidFill>
                <a:latin typeface="Consolas"/>
                <a:cs typeface="Consolas"/>
              </a:rPr>
              <a:t>ignixa-fakes r4 resource Patient --from Seattle --out ./output</a:t>
            </a:r>
          </a:p>
        </p:txBody>
      </p:sp>
      <p:sp>
        <p:nvSpPr>
          <p:cNvPr id="856" name="r855"/>
          <p:cNvSpPr/>
          <p:nvPr/>
        </p:nvSpPr>
        <p:spPr>
          <a:xfrm>
            <a:off x="566928" y="4389120"/>
            <a:ext cx="3505200" cy="1078992"/>
          </a:xfrm>
          <a:prstGeom prst="roundRect">
            <a:avLst>
              <a:gd name="adj" fmla="val 5932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8" name="r857"/>
          <p:cNvSpPr/>
          <p:nvPr/>
        </p:nvSpPr>
        <p:spPr>
          <a:xfrm>
            <a:off x="566928" y="4389120"/>
            <a:ext cx="68580" cy="1078992"/>
          </a:xfrm>
          <a:prstGeom prst="roundRect">
            <a:avLst>
              <a:gd name="adj" fmla="val 50000"/>
            </a:avLst>
          </a:prstGeom>
          <a:solidFill>
            <a:srgbClr val="16C2AC"/>
          </a:solidFill>
        </p:spPr>
        <p:txBody>
          <a:bodyPr/>
          <a:lstStyle/>
          <a:p>
            <a:endParaRPr/>
          </a:p>
        </p:txBody>
      </p:sp>
      <p:sp>
        <p:nvSpPr>
          <p:cNvPr id="860" name="t859"/>
          <p:cNvSpPr txBox="1"/>
          <p:nvPr/>
        </p:nvSpPr>
        <p:spPr>
          <a:xfrm>
            <a:off x="841248" y="4590288"/>
            <a:ext cx="3093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/>
                <a:cs typeface="Trebuchet MS"/>
              </a:rPr>
              <a:t>GitHub</a:t>
            </a:r>
          </a:p>
        </p:txBody>
      </p:sp>
      <p:sp>
        <p:nvSpPr>
          <p:cNvPr id="862" name="t861"/>
          <p:cNvSpPr txBox="1"/>
          <p:nvPr/>
        </p:nvSpPr>
        <p:spPr>
          <a:xfrm>
            <a:off x="841248" y="4974336"/>
            <a:ext cx="3093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b="0" dirty="0">
                <a:solidFill>
                  <a:srgbClr val="9DB2C7"/>
                </a:solidFill>
                <a:latin typeface="Calibri"/>
                <a:cs typeface="Calibri"/>
              </a:rPr>
              <a:t>github.com/brendankowitz/ignixa-fhir</a:t>
            </a:r>
          </a:p>
        </p:txBody>
      </p:sp>
      <p:sp>
        <p:nvSpPr>
          <p:cNvPr id="864" name="r863"/>
          <p:cNvSpPr/>
          <p:nvPr/>
        </p:nvSpPr>
        <p:spPr>
          <a:xfrm>
            <a:off x="4346448" y="4389120"/>
            <a:ext cx="3505200" cy="1078992"/>
          </a:xfrm>
          <a:prstGeom prst="roundRect">
            <a:avLst>
              <a:gd name="adj" fmla="val 5932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6" name="r865"/>
          <p:cNvSpPr/>
          <p:nvPr/>
        </p:nvSpPr>
        <p:spPr>
          <a:xfrm>
            <a:off x="4346448" y="4389120"/>
            <a:ext cx="68580" cy="1078992"/>
          </a:xfrm>
          <a:prstGeom prst="roundRect">
            <a:avLst>
              <a:gd name="adj" fmla="val 50000"/>
            </a:avLst>
          </a:prstGeom>
          <a:solidFill>
            <a:srgbClr val="8A6BF0"/>
          </a:solidFill>
        </p:spPr>
        <p:txBody>
          <a:bodyPr/>
          <a:lstStyle/>
          <a:p>
            <a:endParaRPr/>
          </a:p>
        </p:txBody>
      </p:sp>
      <p:sp>
        <p:nvSpPr>
          <p:cNvPr id="868" name="t867"/>
          <p:cNvSpPr txBox="1"/>
          <p:nvPr/>
        </p:nvSpPr>
        <p:spPr>
          <a:xfrm>
            <a:off x="4620768" y="4590288"/>
            <a:ext cx="3093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/>
                <a:cs typeface="Trebuchet MS"/>
              </a:rPr>
              <a:t>Docs</a:t>
            </a:r>
          </a:p>
        </p:txBody>
      </p:sp>
      <p:sp>
        <p:nvSpPr>
          <p:cNvPr id="870" name="t869"/>
          <p:cNvSpPr txBox="1"/>
          <p:nvPr/>
        </p:nvSpPr>
        <p:spPr>
          <a:xfrm>
            <a:off x="4620768" y="4974336"/>
            <a:ext cx="3093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b="0" dirty="0">
                <a:solidFill>
                  <a:srgbClr val="9DB2C7"/>
                </a:solidFill>
                <a:latin typeface="Calibri"/>
                <a:cs typeface="Calibri"/>
              </a:rPr>
              <a:t>brendankowitz.github.io/ignixa-fhir</a:t>
            </a:r>
          </a:p>
        </p:txBody>
      </p:sp>
      <p:sp>
        <p:nvSpPr>
          <p:cNvPr id="872" name="r871"/>
          <p:cNvSpPr/>
          <p:nvPr/>
        </p:nvSpPr>
        <p:spPr>
          <a:xfrm>
            <a:off x="8125968" y="4389120"/>
            <a:ext cx="3505200" cy="1078992"/>
          </a:xfrm>
          <a:prstGeom prst="roundRect">
            <a:avLst>
              <a:gd name="adj" fmla="val 5932"/>
            </a:avLst>
          </a:prstGeom>
          <a:solidFill>
            <a:srgbClr val="16263E"/>
          </a:solidFill>
          <a:ln w="12700">
            <a:solidFill>
              <a:srgbClr val="3250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4" name="r873"/>
          <p:cNvSpPr/>
          <p:nvPr/>
        </p:nvSpPr>
        <p:spPr>
          <a:xfrm>
            <a:off x="8125968" y="4389120"/>
            <a:ext cx="68580" cy="1078992"/>
          </a:xfrm>
          <a:prstGeom prst="roundRect">
            <a:avLst>
              <a:gd name="adj" fmla="val 50000"/>
            </a:avLst>
          </a:prstGeom>
          <a:solidFill>
            <a:srgbClr val="F2A93B"/>
          </a:solidFill>
        </p:spPr>
        <p:txBody>
          <a:bodyPr/>
          <a:lstStyle/>
          <a:p>
            <a:endParaRPr/>
          </a:p>
        </p:txBody>
      </p:sp>
      <p:sp>
        <p:nvSpPr>
          <p:cNvPr id="876" name="t875"/>
          <p:cNvSpPr txBox="1"/>
          <p:nvPr/>
        </p:nvSpPr>
        <p:spPr>
          <a:xfrm>
            <a:off x="8400288" y="4590288"/>
            <a:ext cx="30937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/>
                <a:cs typeface="Trebuchet MS"/>
              </a:rPr>
              <a:t>License</a:t>
            </a:r>
          </a:p>
        </p:txBody>
      </p:sp>
      <p:sp>
        <p:nvSpPr>
          <p:cNvPr id="878" name="t877"/>
          <p:cNvSpPr txBox="1"/>
          <p:nvPr/>
        </p:nvSpPr>
        <p:spPr>
          <a:xfrm>
            <a:off x="8400288" y="4974336"/>
            <a:ext cx="3093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150" b="0" dirty="0">
                <a:solidFill>
                  <a:srgbClr val="9DB2C7"/>
                </a:solidFill>
                <a:latin typeface="Calibri"/>
                <a:cs typeface="Calibri"/>
              </a:rPr>
              <a:t>MIT</a:t>
            </a:r>
          </a:p>
        </p:txBody>
      </p:sp>
      <p:sp>
        <p:nvSpPr>
          <p:cNvPr id="880" name="t879"/>
          <p:cNvSpPr txBox="1"/>
          <p:nvPr/>
        </p:nvSpPr>
        <p:spPr>
          <a:xfrm>
            <a:off x="566928" y="5742432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250" b="0" i="1" dirty="0">
                <a:solidFill>
                  <a:srgbClr val="9DB2C7"/>
                </a:solidFill>
                <a:latin typeface="Calibri"/>
                <a:cs typeface="Calibri"/>
              </a:rPr>
              <a:t>Inspired by Synthea - it complements it, it doesn’t replace it.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841320" y="1043640"/>
            <a:ext cx="10515240" cy="886320"/>
          </a:xfrm>
          <a:prstGeom prst="rect">
            <a:avLst/>
          </a:prstGeom>
          <a:noFill/>
          <a:ln w="0">
            <a:noFill/>
          </a:ln>
        </p:spPr>
        <p:txBody>
          <a:bodyPr lIns="0" tIns="45000" rIns="90000" bIns="45000" anchor="t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600" b="0" strike="noStrike" spc="-1">
                <a:solidFill>
                  <a:srgbClr val="0091B9"/>
                </a:solidFill>
                <a:latin typeface="Calibri"/>
                <a:ea typeface="Calibri"/>
              </a:rPr>
              <a:t>Contact</a:t>
            </a:r>
            <a:endParaRPr lang="en-US" sz="36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86C1D-2F4D-6C4D-1948-D4732F423D6C}"/>
              </a:ext>
            </a:extLst>
          </p:cNvPr>
          <p:cNvSpPr/>
          <p:nvPr/>
        </p:nvSpPr>
        <p:spPr>
          <a:xfrm>
            <a:off x="841320" y="2194560"/>
            <a:ext cx="7314840" cy="24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600" b="0" strike="noStrike" spc="-1">
                <a:solidFill>
                  <a:srgbClr val="444A4D"/>
                </a:solidFill>
                <a:latin typeface="Calibri"/>
              </a:rPr>
              <a:t>You can find / reach me here: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1CE07328-5C89-6FDD-900B-63533338704B}"/>
              </a:ext>
            </a:extLst>
          </p:cNvPr>
          <p:cNvSpPr/>
          <p:nvPr/>
        </p:nvSpPr>
        <p:spPr>
          <a:xfrm>
            <a:off x="841320" y="5473700"/>
            <a:ext cx="7680600" cy="86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1"/>
            </a:solidFill>
          </a:ln>
          <a:effectLst>
            <a:outerShdw blurRad="90000" dist="38160" dir="5400000" rotWithShape="0">
              <a:srgbClr val="1B2A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AA6B97F-7E63-774A-3FD2-5D3D467CAA82}"/>
              </a:ext>
            </a:extLst>
          </p:cNvPr>
          <p:cNvSpPr/>
          <p:nvPr/>
        </p:nvSpPr>
        <p:spPr>
          <a:xfrm>
            <a:off x="841320" y="5537200"/>
            <a:ext cx="63720" cy="758520"/>
          </a:xfrm>
          <a:prstGeom prst="rect">
            <a:avLst/>
          </a:prstGeom>
          <a:solidFill>
            <a:srgbClr val="009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" name="Picture 5" descr="github.png">
            <a:extLst>
              <a:ext uri="{FF2B5EF4-FFF2-40B4-BE49-F238E27FC236}">
                <a16:creationId xmlns:a16="http://schemas.microsoft.com/office/drawing/2014/main" id="{766B1BAE-8CD6-A7D8-705A-0962C0DBAA3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115640" y="56769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06C1A22D-45A1-4C8B-715C-DA8821A1F535}"/>
              </a:ext>
            </a:extLst>
          </p:cNvPr>
          <p:cNvSpPr/>
          <p:nvPr/>
        </p:nvSpPr>
        <p:spPr>
          <a:xfrm>
            <a:off x="1801440" y="5626100"/>
            <a:ext cx="64004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500" b="1" strike="noStrike" spc="-1">
                <a:solidFill>
                  <a:srgbClr val="222A2E"/>
                </a:solidFill>
                <a:latin typeface="Calibri"/>
              </a:rPr>
              <a:t>GitHub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22DB453B-53B7-3501-6836-6602DB235298}"/>
              </a:ext>
            </a:extLst>
          </p:cNvPr>
          <p:cNvSpPr/>
          <p:nvPr/>
        </p:nvSpPr>
        <p:spPr>
          <a:xfrm>
            <a:off x="1801440" y="5956300"/>
            <a:ext cx="640044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50" b="0" strike="noStrike" spc="-1">
                <a:solidFill>
                  <a:srgbClr val="006E8C"/>
                </a:solidFill>
                <a:latin typeface="Consolas"/>
              </a:rPr>
              <a:t>github.com/brendankowitz/ignixa-fhir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73D4D013-B4FA-07AA-06D2-5540B48A230C}"/>
              </a:ext>
            </a:extLst>
          </p:cNvPr>
          <p:cNvSpPr/>
          <p:nvPr/>
        </p:nvSpPr>
        <p:spPr>
          <a:xfrm>
            <a:off x="841320" y="2540000"/>
            <a:ext cx="7680600" cy="86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1"/>
            </a:solidFill>
          </a:ln>
          <a:effectLst>
            <a:outerShdw blurRad="90000" dist="38160" dir="5400000" rotWithShape="0">
              <a:srgbClr val="1B2A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E93FAF09-3EE8-E65B-04BC-D016E0F88DAD}"/>
              </a:ext>
            </a:extLst>
          </p:cNvPr>
          <p:cNvSpPr/>
          <p:nvPr/>
        </p:nvSpPr>
        <p:spPr>
          <a:xfrm>
            <a:off x="841320" y="2590800"/>
            <a:ext cx="63720" cy="758520"/>
          </a:xfrm>
          <a:prstGeom prst="rect">
            <a:avLst/>
          </a:prstGeom>
          <a:solidFill>
            <a:srgbClr val="009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FA9E4395-8E0A-1555-0EC9-3625323B1B4A}"/>
              </a:ext>
            </a:extLst>
          </p:cNvPr>
          <p:cNvSpPr/>
          <p:nvPr/>
        </p:nvSpPr>
        <p:spPr>
          <a:xfrm>
            <a:off x="1801440" y="2679700"/>
            <a:ext cx="64004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500" b="1" strike="noStrike" spc="-1">
                <a:solidFill>
                  <a:srgbClr val="222A2E"/>
                </a:solidFill>
                <a:latin typeface="Calibri"/>
                <a:ea typeface="Calibri"/>
                <a:cs typeface="Calibri"/>
              </a:rPr>
              <a:t>Speaker's Gallery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705D5A98-A206-AC50-7F73-1DB20B181157}"/>
              </a:ext>
            </a:extLst>
          </p:cNvPr>
          <p:cNvSpPr/>
          <p:nvPr/>
        </p:nvSpPr>
        <p:spPr>
          <a:xfrm>
            <a:off x="1801440" y="3009900"/>
            <a:ext cx="640044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50" strike="noStrike" spc="-1">
                <a:solidFill>
                  <a:srgbClr val="006E8C"/>
                </a:solidFill>
                <a:latin typeface="Calibri"/>
                <a:ea typeface="Calibri"/>
                <a:cs typeface="Calibri"/>
              </a:rPr>
              <a:t>Via the DevDays app</a:t>
            </a:r>
          </a:p>
        </p:txBody>
      </p:sp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7C151271-B6E0-0229-60AD-303AA0CDEC4E}"/>
              </a:ext>
            </a:extLst>
          </p:cNvPr>
          <p:cNvSpPr/>
          <p:nvPr/>
        </p:nvSpPr>
        <p:spPr>
          <a:xfrm>
            <a:off x="841320" y="3517900"/>
            <a:ext cx="7680600" cy="868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1"/>
            </a:solidFill>
          </a:ln>
          <a:effectLst>
            <a:outerShdw blurRad="90000" dist="38160" dir="5400000" rotWithShape="0">
              <a:srgbClr val="1B2A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7C52DF00-B5AD-5A83-62AC-49A734A15CD7}"/>
              </a:ext>
            </a:extLst>
          </p:cNvPr>
          <p:cNvSpPr/>
          <p:nvPr/>
        </p:nvSpPr>
        <p:spPr>
          <a:xfrm>
            <a:off x="841320" y="3568700"/>
            <a:ext cx="63720" cy="758520"/>
          </a:xfrm>
          <a:prstGeom prst="rect">
            <a:avLst/>
          </a:prstGeom>
          <a:solidFill>
            <a:srgbClr val="009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BDD7DB1D-5D8B-727F-468A-73C3FAEBA0F4}"/>
              </a:ext>
            </a:extLst>
          </p:cNvPr>
          <p:cNvSpPr/>
          <p:nvPr/>
        </p:nvSpPr>
        <p:spPr>
          <a:xfrm>
            <a:off x="1801440" y="3657600"/>
            <a:ext cx="6400440" cy="2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500" b="1" strike="noStrike" spc="-1">
                <a:solidFill>
                  <a:srgbClr val="222A2E"/>
                </a:solidFill>
                <a:latin typeface="Calibri"/>
                <a:ea typeface="Calibri"/>
                <a:cs typeface="Calibri"/>
              </a:rPr>
              <a:t>Email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918BF176-7706-1F57-F633-22F772A55B85}"/>
              </a:ext>
            </a:extLst>
          </p:cNvPr>
          <p:cNvSpPr/>
          <p:nvPr/>
        </p:nvSpPr>
        <p:spPr>
          <a:xfrm>
            <a:off x="1801440" y="3987800"/>
            <a:ext cx="6400440" cy="19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250" strike="noStrike" spc="-1" dirty="0">
                <a:solidFill>
                  <a:srgbClr val="006E8C"/>
                </a:solidFill>
                <a:latin typeface="Consolas"/>
              </a:rPr>
              <a:t>bkowitz@microsoft.com</a:t>
            </a:r>
          </a:p>
        </p:txBody>
      </p:sp>
      <p:sp>
        <p:nvSpPr>
          <p:cNvPr id="31" name="BskyCard">
            <a:extLst>
              <a:ext uri="{FF2B5EF4-FFF2-40B4-BE49-F238E27FC236}">
                <a16:creationId xmlns:a16="http://schemas.microsoft.com/office/drawing/2014/main" id="{F00CC6C9-94F1-638F-CC46-3F9AB6A2D8CC}"/>
              </a:ext>
            </a:extLst>
          </p:cNvPr>
          <p:cNvSpPr/>
          <p:nvPr/>
        </p:nvSpPr>
        <p:spPr>
          <a:xfrm>
            <a:off x="838200" y="4495800"/>
            <a:ext cx="76835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BskyBar">
            <a:extLst>
              <a:ext uri="{FF2B5EF4-FFF2-40B4-BE49-F238E27FC236}">
                <a16:creationId xmlns:a16="http://schemas.microsoft.com/office/drawing/2014/main" id="{6CB31C10-0A21-988F-5647-7A048937F602}"/>
              </a:ext>
            </a:extLst>
          </p:cNvPr>
          <p:cNvSpPr/>
          <p:nvPr/>
        </p:nvSpPr>
        <p:spPr>
          <a:xfrm>
            <a:off x="838200" y="4559300"/>
            <a:ext cx="63500" cy="762000"/>
          </a:xfrm>
          <a:prstGeom prst="rect">
            <a:avLst/>
          </a:prstGeom>
          <a:solidFill>
            <a:srgbClr val="0091B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BskyTitle">
            <a:extLst>
              <a:ext uri="{FF2B5EF4-FFF2-40B4-BE49-F238E27FC236}">
                <a16:creationId xmlns:a16="http://schemas.microsoft.com/office/drawing/2014/main" id="{B2FE08B8-4A42-A26E-C89C-98B67D900CE5}"/>
              </a:ext>
            </a:extLst>
          </p:cNvPr>
          <p:cNvSpPr txBox="1"/>
          <p:nvPr/>
        </p:nvSpPr>
        <p:spPr>
          <a:xfrm>
            <a:off x="1803400" y="4648200"/>
            <a:ext cx="6400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500" b="1">
                <a:solidFill>
                  <a:srgbClr val="222A2E"/>
                </a:solidFill>
                <a:latin typeface="Calibri"/>
                <a:ea typeface="Calibri"/>
                <a:cs typeface="Calibri"/>
              </a:rPr>
              <a:t>Bluesky</a:t>
            </a:r>
          </a:p>
        </p:txBody>
      </p:sp>
      <p:sp>
        <p:nvSpPr>
          <p:cNvPr id="37" name="BskySub">
            <a:extLst>
              <a:ext uri="{FF2B5EF4-FFF2-40B4-BE49-F238E27FC236}">
                <a16:creationId xmlns:a16="http://schemas.microsoft.com/office/drawing/2014/main" id="{2D5CBABA-8FC5-0A21-CB85-AF515814D3CC}"/>
              </a:ext>
            </a:extLst>
          </p:cNvPr>
          <p:cNvSpPr txBox="1"/>
          <p:nvPr/>
        </p:nvSpPr>
        <p:spPr>
          <a:xfrm>
            <a:off x="1803400" y="4978400"/>
            <a:ext cx="6400800" cy="190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250">
                <a:solidFill>
                  <a:srgbClr val="006E8C"/>
                </a:solidFill>
                <a:latin typeface="Consolas"/>
              </a:rPr>
              <a:t>@brendankowitz.bsky.social</a:t>
            </a:r>
          </a:p>
        </p:txBody>
      </p:sp>
      <p:pic>
        <p:nvPicPr>
          <p:cNvPr id="39" name="Graphic 378" descr="Email icon">
            <a:extLst>
              <a:ext uri="{FF2B5EF4-FFF2-40B4-BE49-F238E27FC236}">
                <a16:creationId xmlns:a16="http://schemas.microsoft.com/office/drawing/2014/main" id="{4856917A-E0AC-30AB-D07F-2C41713E9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" y="3721100"/>
            <a:ext cx="457200" cy="457200"/>
          </a:xfrm>
          <a:prstGeom prst="rect">
            <a:avLst/>
          </a:prstGeom>
        </p:spPr>
      </p:pic>
      <p:pic>
        <p:nvPicPr>
          <p:cNvPr id="41" name="BlueskyLogo">
            <a:extLst>
              <a:ext uri="{FF2B5EF4-FFF2-40B4-BE49-F238E27FC236}">
                <a16:creationId xmlns:a16="http://schemas.microsoft.com/office/drawing/2014/main" id="{2582AF19-3FF5-0879-11E7-75655E0024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4724400"/>
            <a:ext cx="482600" cy="419100"/>
          </a:xfrm>
          <a:prstGeom prst="rect">
            <a:avLst/>
          </a:prstGeom>
        </p:spPr>
      </p:pic>
      <p:sp>
        <p:nvSpPr>
          <p:cNvPr id="43" name="HeadCircle">
            <a:extLst>
              <a:ext uri="{FF2B5EF4-FFF2-40B4-BE49-F238E27FC236}">
                <a16:creationId xmlns:a16="http://schemas.microsoft.com/office/drawing/2014/main" id="{02BB85DA-2110-E8AD-BE40-3C8713C8DFD9}"/>
              </a:ext>
            </a:extLst>
          </p:cNvPr>
          <p:cNvSpPr/>
          <p:nvPr/>
        </p:nvSpPr>
        <p:spPr>
          <a:xfrm>
            <a:off x="1257300" y="2743200"/>
            <a:ext cx="190500" cy="190500"/>
          </a:xfrm>
          <a:prstGeom prst="ellipse">
            <a:avLst/>
          </a:prstGeom>
          <a:solidFill>
            <a:srgbClr val="0091B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5" name="HeadBody">
            <a:extLst>
              <a:ext uri="{FF2B5EF4-FFF2-40B4-BE49-F238E27FC236}">
                <a16:creationId xmlns:a16="http://schemas.microsoft.com/office/drawing/2014/main" id="{446873C3-DA27-77AA-11CB-C01F6BBBBE64}"/>
              </a:ext>
            </a:extLst>
          </p:cNvPr>
          <p:cNvSpPr/>
          <p:nvPr/>
        </p:nvSpPr>
        <p:spPr>
          <a:xfrm>
            <a:off x="1155700" y="2933700"/>
            <a:ext cx="393700" cy="228600"/>
          </a:xfrm>
          <a:prstGeom prst="trapezoid">
            <a:avLst/>
          </a:prstGeom>
          <a:solidFill>
            <a:srgbClr val="0091B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06A7-423D-897B-9C01-5B9B07CB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E3342-DCF0-4B89-A727-A52A53BE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CD59B-DB00-D6F4-ADF7-D046A34F2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11020426" cy="4225143"/>
          </a:xfrm>
        </p:spPr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53333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0914-D3A0-C488-B986-BC1E8D95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D873-805E-0520-5D5B-98A361E0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5B61A-DD9A-93C6-67EB-5421DB8A3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6515101" cy="4225143"/>
          </a:xfrm>
        </p:spPr>
        <p:txBody>
          <a:bodyPr/>
          <a:lstStyle/>
          <a:p>
            <a:r>
              <a:rPr lang="en-US" dirty="0"/>
              <a:t>Enjoyed this talk? I’d love your feedback — it genuinely helps. </a:t>
            </a:r>
            <a:br>
              <a:rPr lang="en-US" dirty="0"/>
            </a:br>
            <a:r>
              <a:rPr lang="en-US" dirty="0"/>
              <a:t>Scan the QR code, or visit:</a:t>
            </a:r>
          </a:p>
          <a:p>
            <a:r>
              <a:rPr lang="nl-NL" dirty="0">
                <a:hlinkClick r:id="rId2"/>
              </a:rPr>
              <a:t>https://www.devdays.com/feedback/</a:t>
            </a:r>
            <a:endParaRPr lang="nl-NL" sz="2400" dirty="0"/>
          </a:p>
          <a:p>
            <a:endParaRPr lang="en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F0A7CE0-A52B-A41A-FD5C-ABB2F7373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651" y="1022040"/>
            <a:ext cx="4304149" cy="52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27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12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>
          <a:defRPr sz="3000" b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3861DC-D99A-477D-8AEC-B48AA375F768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2a74753-ae63-4947-b5e1-20dfae39778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16949</TotalTime>
  <Words>1736</Words>
  <Application>Microsoft Office PowerPoint</Application>
  <PresentationFormat>Widescreen</PresentationFormat>
  <Paragraphs>302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Consolas</vt:lpstr>
      <vt:lpstr>Open Sans</vt:lpstr>
      <vt:lpstr>Open Sans Semibold</vt:lpstr>
      <vt:lpstr>Roboto</vt:lpstr>
      <vt:lpstr>Trebuchet MS</vt:lpstr>
      <vt:lpstr>Office Theme</vt:lpstr>
      <vt:lpstr>Brendan Kowitz — Principal Software Engineering Manager, Microsoft (Azure FHIR Server)</vt:lpstr>
      <vt:lpstr>Who am I?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  <vt:lpstr>Q&amp;A</vt:lpstr>
      <vt:lpstr>Feedback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Marita</dc:creator>
  <cp:keywords/>
  <dc:description/>
  <cp:lastModifiedBy>Brendan Kowitz</cp:lastModifiedBy>
  <cp:revision>274</cp:revision>
  <dcterms:created xsi:type="dcterms:W3CDTF">2017-07-13T07:33:22Z</dcterms:created>
  <dcterms:modified xsi:type="dcterms:W3CDTF">2026-06-14T23:32:59Z</dcterms:modified>
  <cp:category/>
</cp:coreProperties>
</file>