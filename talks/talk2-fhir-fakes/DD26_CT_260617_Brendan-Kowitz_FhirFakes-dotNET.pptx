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00" r:id="rId2"/>
    <p:sldId id="301" r:id="rId3"/>
    <p:sldId id="302" r:id="rId4"/>
    <p:sldId id="304" r:id="rId5"/>
    <p:sldId id="305" r:id="rId6"/>
    <p:sldId id="379" r:id="rId7"/>
    <p:sldId id="382" r:id="rId8"/>
    <p:sldId id="306" r:id="rId9"/>
    <p:sldId id="307" r:id="rId10"/>
    <p:sldId id="317" r:id="rId11"/>
    <p:sldId id="311" r:id="rId12"/>
    <p:sldId id="383" r:id="rId13"/>
    <p:sldId id="312" r:id="rId14"/>
    <p:sldId id="309" r:id="rId15"/>
    <p:sldId id="387" r:id="rId16"/>
    <p:sldId id="310" r:id="rId17"/>
    <p:sldId id="314" r:id="rId18"/>
    <p:sldId id="331" r:id="rId19"/>
    <p:sldId id="389" r:id="rId20"/>
    <p:sldId id="319" r:id="rId21"/>
    <p:sldId id="330" r:id="rId22"/>
    <p:sldId id="320" r:id="rId23"/>
    <p:sldId id="321" r:id="rId24"/>
    <p:sldId id="32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4960"/>
    <a:srgbClr val="FCE32D"/>
    <a:srgbClr val="A72931"/>
    <a:srgbClr val="B6B6B6"/>
    <a:srgbClr val="0091B9"/>
    <a:srgbClr val="F8E12B"/>
    <a:srgbClr val="0092B9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EE691E-302B-45FB-BD4D-4E4300111568}" v="6" dt="2026-06-14T23:32:45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9" autoAdjust="0"/>
    <p:restoredTop sz="95000"/>
  </p:normalViewPr>
  <p:slideViewPr>
    <p:cSldViewPr snapToGrid="0" snapToObjects="1" showGuides="1">
      <p:cViewPr varScale="1">
        <p:scale>
          <a:sx n="104" d="100"/>
          <a:sy n="104" d="100"/>
        </p:scale>
        <p:origin x="108" y="148"/>
      </p:cViewPr>
      <p:guideLst>
        <p:guide orient="horz" pos="2160"/>
        <p:guide pos="3840"/>
      </p:guideLst>
    </p:cSldViewPr>
  </p:slideViewPr>
  <p:notesTextViewPr>
    <p:cViewPr>
      <p:scale>
        <a:sx n="85" d="100"/>
        <a:sy n="85" d="100"/>
      </p:scale>
      <p:origin x="0" y="0"/>
    </p:cViewPr>
  </p:notesTextViewPr>
  <p:notesViewPr>
    <p:cSldViewPr snapToGrid="0" snapToObjects="1" showGuides="1">
      <p:cViewPr varScale="1">
        <p:scale>
          <a:sx n="159" d="100"/>
          <a:sy n="159" d="100"/>
        </p:scale>
        <p:origin x="2624" y="1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dan Kowitz" userId="78f460ffbb23f3a5" providerId="LiveId" clId="{9B7601C6-B36E-4F0B-A9E1-9E7E69A268BF}"/>
    <pc:docChg chg="custSel addSld delSld modSld">
      <pc:chgData name="Brendan Kowitz" userId="78f460ffbb23f3a5" providerId="LiveId" clId="{9B7601C6-B36E-4F0B-A9E1-9E7E69A268BF}" dt="2026-06-14T23:32:54.866" v="45" actId="207"/>
      <pc:docMkLst>
        <pc:docMk/>
      </pc:docMkLst>
      <pc:sldChg chg="modSp mod">
        <pc:chgData name="Brendan Kowitz" userId="78f460ffbb23f3a5" providerId="LiveId" clId="{9B7601C6-B36E-4F0B-A9E1-9E7E69A268BF}" dt="2026-06-14T20:09:28.876" v="28" actId="27636"/>
        <pc:sldMkLst>
          <pc:docMk/>
          <pc:sldMk cId="30502263" sldId="300"/>
        </pc:sldMkLst>
        <pc:spChg chg="mod">
          <ac:chgData name="Brendan Kowitz" userId="78f460ffbb23f3a5" providerId="LiveId" clId="{9B7601C6-B36E-4F0B-A9E1-9E7E69A268BF}" dt="2026-06-14T20:09:28.876" v="28" actId="27636"/>
          <ac:spMkLst>
            <pc:docMk/>
            <pc:sldMk cId="30502263" sldId="300"/>
            <ac:spMk id="2" creationId="{2E96588F-E356-15BC-F4EC-039964E9AF3F}"/>
          </ac:spMkLst>
        </pc:spChg>
      </pc:sldChg>
      <pc:sldChg chg="delSp mod">
        <pc:chgData name="Brendan Kowitz" userId="78f460ffbb23f3a5" providerId="LiveId" clId="{9B7601C6-B36E-4F0B-A9E1-9E7E69A268BF}" dt="2026-06-14T20:05:22.712" v="0" actId="478"/>
        <pc:sldMkLst>
          <pc:docMk/>
          <pc:sldMk cId="0" sldId="305"/>
        </pc:sldMkLst>
        <pc:spChg chg="del">
          <ac:chgData name="Brendan Kowitz" userId="78f460ffbb23f3a5" providerId="LiveId" clId="{9B7601C6-B36E-4F0B-A9E1-9E7E69A268BF}" dt="2026-06-14T20:05:22.712" v="0" actId="478"/>
          <ac:spMkLst>
            <pc:docMk/>
            <pc:sldMk cId="0" sldId="305"/>
            <ac:spMk id="410" creationId="{00000000-0000-0000-0000-000000000000}"/>
          </ac:spMkLst>
        </pc:spChg>
      </pc:sldChg>
      <pc:sldChg chg="delSp modSp mod">
        <pc:chgData name="Brendan Kowitz" userId="78f460ffbb23f3a5" providerId="LiveId" clId="{9B7601C6-B36E-4F0B-A9E1-9E7E69A268BF}" dt="2026-06-14T20:07:05.811" v="6" actId="478"/>
        <pc:sldMkLst>
          <pc:docMk/>
          <pc:sldMk cId="0" sldId="310"/>
        </pc:sldMkLst>
        <pc:spChg chg="mod">
          <ac:chgData name="Brendan Kowitz" userId="78f460ffbb23f3a5" providerId="LiveId" clId="{9B7601C6-B36E-4F0B-A9E1-9E7E69A268BF}" dt="2026-06-14T20:06:43.952" v="5" actId="20577"/>
          <ac:spMkLst>
            <pc:docMk/>
            <pc:sldMk cId="0" sldId="310"/>
            <ac:spMk id="584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0:07:05.811" v="6" actId="478"/>
          <ac:spMkLst>
            <pc:docMk/>
            <pc:sldMk cId="0" sldId="310"/>
            <ac:spMk id="644" creationId="{00000000-0000-0000-0000-000000000000}"/>
          </ac:spMkLst>
        </pc:spChg>
      </pc:sldChg>
      <pc:sldChg chg="delSp modSp mod">
        <pc:chgData name="Brendan Kowitz" userId="78f460ffbb23f3a5" providerId="LiveId" clId="{9B7601C6-B36E-4F0B-A9E1-9E7E69A268BF}" dt="2026-06-14T20:08:17.871" v="27" actId="20577"/>
        <pc:sldMkLst>
          <pc:docMk/>
          <pc:sldMk cId="0" sldId="311"/>
        </pc:sldMkLst>
        <pc:spChg chg="mod">
          <ac:chgData name="Brendan Kowitz" userId="78f460ffbb23f3a5" providerId="LiveId" clId="{9B7601C6-B36E-4F0B-A9E1-9E7E69A268BF}" dt="2026-06-14T20:07:25.467" v="7" actId="20577"/>
          <ac:spMkLst>
            <pc:docMk/>
            <pc:sldMk cId="0" sldId="311"/>
            <ac:spMk id="650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0:08:17.871" v="27" actId="20577"/>
          <ac:spMkLst>
            <pc:docMk/>
            <pc:sldMk cId="0" sldId="311"/>
            <ac:spMk id="664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0:07:51.102" v="8" actId="478"/>
          <ac:spMkLst>
            <pc:docMk/>
            <pc:sldMk cId="0" sldId="311"/>
            <ac:spMk id="666" creationId="{00000000-0000-0000-0000-000000000000}"/>
          </ac:spMkLst>
        </pc:spChg>
      </pc:sldChg>
      <pc:sldChg chg="del">
        <pc:chgData name="Brendan Kowitz" userId="78f460ffbb23f3a5" providerId="LiveId" clId="{9B7601C6-B36E-4F0B-A9E1-9E7E69A268BF}" dt="2026-06-14T20:14:11.883" v="30"/>
        <pc:sldMkLst>
          <pc:docMk/>
          <pc:sldMk cId="0" sldId="315"/>
        </pc:sldMkLst>
      </pc:sldChg>
      <pc:sldChg chg="modSp mod">
        <pc:chgData name="Brendan Kowitz" userId="78f460ffbb23f3a5" providerId="LiveId" clId="{9B7601C6-B36E-4F0B-A9E1-9E7E69A268BF}" dt="2026-06-14T23:30:41.185" v="37" actId="20577"/>
        <pc:sldMkLst>
          <pc:docMk/>
          <pc:sldMk cId="0" sldId="319"/>
        </pc:sldMkLst>
        <pc:spChg chg="mod">
          <ac:chgData name="Brendan Kowitz" userId="78f460ffbb23f3a5" providerId="LiveId" clId="{9B7601C6-B36E-4F0B-A9E1-9E7E69A268BF}" dt="2026-06-14T23:30:26.862" v="33" actId="20577"/>
          <ac:spMkLst>
            <pc:docMk/>
            <pc:sldMk cId="0" sldId="319"/>
            <ac:spMk id="878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3:30:41.185" v="37" actId="20577"/>
          <ac:spMkLst>
            <pc:docMk/>
            <pc:sldMk cId="0" sldId="319"/>
            <ac:spMk id="880" creationId="{00000000-0000-0000-0000-000000000000}"/>
          </ac:spMkLst>
        </pc:spChg>
      </pc:sldChg>
      <pc:sldChg chg="addSp delSp mod">
        <pc:chgData name="Brendan Kowitz" userId="78f460ffbb23f3a5" providerId="LiveId" clId="{9B7601C6-B36E-4F0B-A9E1-9E7E69A268BF}" dt="2026-06-14T23:30:08.373" v="32" actId="22"/>
        <pc:sldMkLst>
          <pc:docMk/>
          <pc:sldMk cId="0" sldId="330"/>
        </pc:sldMkLst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" creationId="{A5986C1D-2F4D-6C4D-1948-D4732F423D6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15" creationId="{73D4D013-B4FA-07AA-06D2-5540B48A230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19" creationId="{FA9E4395-8E0A-1555-0EC9-3625323B1B4A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1" creationId="{705D5A98-A206-AC50-7F73-1DB20B181157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3" creationId="{7C151271-B6E0-0229-60AD-303AA0CDEC4E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5" creationId="{7C52DF00-B5AD-5A83-62AC-49A734A15CD7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29" creationId="{918BF176-7706-1F57-F633-22F772A55B85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5" creationId="{B2FE08B8-4A42-A26E-C89C-98B67D900CE5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37" creationId="{2D5CBABA-8FC5-0A21-CB85-AF515814D3CC}"/>
          </ac:spMkLst>
        </pc:spChg>
        <pc:spChg chg="add">
          <ac:chgData name="Brendan Kowitz" userId="78f460ffbb23f3a5" providerId="LiveId" clId="{9B7601C6-B36E-4F0B-A9E1-9E7E69A268BF}" dt="2026-06-14T23:30:08.373" v="32" actId="22"/>
          <ac:spMkLst>
            <pc:docMk/>
            <pc:sldMk cId="0" sldId="330"/>
            <ac:spMk id="43" creationId="{02BB85DA-2110-E8AD-BE40-3C8713C8DFD9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1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2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6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68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0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1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2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3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5" creationId="{00000000-0000-0000-0000-000000000000}"/>
          </ac:spMkLst>
        </pc:spChg>
        <pc:spChg chg="del">
          <ac:chgData name="Brendan Kowitz" userId="78f460ffbb23f3a5" providerId="LiveId" clId="{9B7601C6-B36E-4F0B-A9E1-9E7E69A268BF}" dt="2026-06-14T23:30:08.064" v="31" actId="478"/>
          <ac:spMkLst>
            <pc:docMk/>
            <pc:sldMk cId="0" sldId="330"/>
            <ac:spMk id="376" creationId="{00000000-0000-0000-0000-000000000000}"/>
          </ac:spMkLst>
        </pc:spChg>
      </pc:sldChg>
      <pc:sldChg chg="modSp add mod">
        <pc:chgData name="Brendan Kowitz" userId="78f460ffbb23f3a5" providerId="LiveId" clId="{9B7601C6-B36E-4F0B-A9E1-9E7E69A268BF}" dt="2026-06-14T23:32:54.866" v="45" actId="207"/>
        <pc:sldMkLst>
          <pc:docMk/>
          <pc:sldMk cId="118742918" sldId="331"/>
        </pc:sldMkLst>
        <pc:spChg chg="mod">
          <ac:chgData name="Brendan Kowitz" userId="78f460ffbb23f3a5" providerId="LiveId" clId="{9B7601C6-B36E-4F0B-A9E1-9E7E69A268BF}" dt="2026-06-14T23:32:49.957" v="44" actId="207"/>
          <ac:spMkLst>
            <pc:docMk/>
            <pc:sldMk cId="118742918" sldId="331"/>
            <ac:spMk id="756" creationId="{00000000-0000-0000-0000-000000000000}"/>
          </ac:spMkLst>
        </pc:spChg>
        <pc:spChg chg="mod">
          <ac:chgData name="Brendan Kowitz" userId="78f460ffbb23f3a5" providerId="LiveId" clId="{9B7601C6-B36E-4F0B-A9E1-9E7E69A268BF}" dt="2026-06-14T23:32:54.866" v="45" actId="207"/>
          <ac:spMkLst>
            <pc:docMk/>
            <pc:sldMk cId="118742918" sldId="331"/>
            <ac:spMk id="762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2FAFB1-094A-5D42-8886-B282110F4595}" type="datetimeFigureOut">
              <a:rPr lang="en-US" b="1" smtClean="0">
                <a:latin typeface="Open Sans Semibold" panose="020B0606030504020204" pitchFamily="34" charset="0"/>
              </a:rPr>
              <a:t>6/17/2026</a:t>
            </a:fld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b="1" dirty="0">
              <a:latin typeface="Open Sans Semibold" panose="020B0606030504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82984-3105-B544-B3D7-84F0E25761C1}" type="slidenum">
              <a:rPr lang="en-US" b="1" smtClean="0">
                <a:latin typeface="Open Sans Semibold" panose="020B0606030504020204" pitchFamily="34" charset="0"/>
              </a:rPr>
              <a:t>‹#›</a:t>
            </a:fld>
            <a:endParaRPr lang="en-US" b="1" dirty="0">
              <a:latin typeface="Open Sans Semibold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62991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1" i="0">
                <a:latin typeface="Open Sans Semibold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1" i="0">
                <a:latin typeface="Open Sans Semibold" panose="020B0606030504020204" pitchFamily="34" charset="0"/>
              </a:defRPr>
            </a:lvl1pPr>
          </a:lstStyle>
          <a:p>
            <a:fld id="{E128261A-6A60-FE4F-8563-E0524938461B}" type="datetimeFigureOut">
              <a:rPr lang="en-US" smtClean="0"/>
              <a:pPr/>
              <a:t>6/17/2026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1" i="0">
                <a:latin typeface="Open Sans Semibold" panose="020B060603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 i="0">
                <a:latin typeface="Open Sans Semibold" panose="020B0606030504020204" pitchFamily="34" charset="0"/>
              </a:defRPr>
            </a:lvl1pPr>
          </a:lstStyle>
          <a:p>
            <a:fld id="{A69C946F-C9B2-9B49-8DCA-D38D97C43A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02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1" i="0" kern="1200">
        <a:solidFill>
          <a:schemeClr val="tx1"/>
        </a:solidFill>
        <a:latin typeface="Open Sans Semibold" panose="020B06060305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31520" y="4620672"/>
            <a:ext cx="5851776" cy="3780000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t">
            <a:noAutofit/>
          </a:bodyPr>
          <a:lstStyle/>
          <a:p>
            <a:pPr indent="0"/>
            <a:r>
              <a:rPr lang="en-US" sz="2100" spc="-1">
                <a:solidFill>
                  <a:srgbClr val="000000"/>
                </a:solidFill>
                <a:latin typeface="Arial"/>
              </a:rPr>
              <a:t>Each layer is a standalone NuGet package. Just need the FHIRPath engine? Take Ignixa.FhirPath. Want ViewDefinition evaluation in your app? Take Ignixa.SqlOnFhir. The CLI is the full stack as a tool. This modularity is also how we unit-test each layer independently — which is how the conformance suite is built.</a:t>
            </a:r>
          </a:p>
        </p:txBody>
      </p:sp>
      <p:sp>
        <p:nvSpPr>
          <p:cNvPr id="408" name="PlaceHolder 3"/>
          <p:cNvSpPr>
            <a:spLocks noGrp="1"/>
          </p:cNvSpPr>
          <p:nvPr>
            <p:ph type="sldNum" idx="12"/>
          </p:nvPr>
        </p:nvSpPr>
        <p:spPr>
          <a:xfrm>
            <a:off x="4143744" y="9119628"/>
            <a:ext cx="3169536" cy="481194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1" strike="noStrike" spc="-1">
                <a:solidFill>
                  <a:srgbClr val="000000"/>
                </a:solidFill>
                <a:latin typeface="Open Sans Semibold"/>
              </a:defRPr>
            </a:lvl1pPr>
          </a:lstStyle>
          <a:p>
            <a:fld id="{9DB4AA69-249A-44D8-BC08-F20E9C034DA5}" type="slidenum">
              <a:rPr lang="en-US"/>
              <a:pPr/>
              <a:t>5</a:t>
            </a:fld>
            <a:endParaRPr lang="en-US" b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731520" y="4620672"/>
            <a:ext cx="5851776" cy="3780000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t">
            <a:noAutofit/>
          </a:bodyPr>
          <a:lstStyle/>
          <a:p>
            <a:pPr indent="0"/>
            <a:r>
              <a:rPr lang="en-US" sz="2100" spc="-1">
                <a:solidFill>
                  <a:srgbClr val="000000"/>
                </a:solidFill>
                <a:latin typeface="Arial"/>
              </a:rPr>
              <a:t>Each layer is a standalone NuGet package. Just need the FHIRPath engine? Take Ignixa.FhirPath. Want ViewDefinition evaluation in your app? Take Ignixa.SqlOnFhir. The CLI is the full stack as a tool. This modularity is also how we unit-test each layer independently — which is how the conformance suite is built.</a:t>
            </a:r>
          </a:p>
        </p:txBody>
      </p:sp>
      <p:sp>
        <p:nvSpPr>
          <p:cNvPr id="408" name="PlaceHolder 3"/>
          <p:cNvSpPr>
            <a:spLocks noGrp="1"/>
          </p:cNvSpPr>
          <p:nvPr>
            <p:ph type="sldNum" idx="12"/>
          </p:nvPr>
        </p:nvSpPr>
        <p:spPr>
          <a:xfrm>
            <a:off x="4143744" y="9119628"/>
            <a:ext cx="3169536" cy="481194"/>
          </a:xfrm>
          <a:prstGeom prst="rect">
            <a:avLst/>
          </a:prstGeom>
          <a:noFill/>
          <a:ln w="0">
            <a:noFill/>
          </a:ln>
        </p:spPr>
        <p:txBody>
          <a:bodyPr lIns="96661" tIns="48331" rIns="96661" bIns="48331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1" strike="noStrike" spc="-1">
                <a:solidFill>
                  <a:srgbClr val="000000"/>
                </a:solidFill>
                <a:latin typeface="Open Sans Semibold"/>
              </a:defRPr>
            </a:lvl1pPr>
          </a:lstStyle>
          <a:p>
            <a:fld id="{9DB4AA69-249A-44D8-BC08-F20E9C034DA5}" type="slidenum">
              <a:rPr lang="en-US"/>
              <a:pPr/>
              <a:t>6</a:t>
            </a:fld>
            <a:endParaRPr lang="en-US" b="0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pen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35EDDA-3C0D-1241-AC8F-D017C7E79D3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2338987"/>
            <a:ext cx="12191999" cy="41909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D37FFF-18DE-4F4D-B77B-22BABB2CEC3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846315" y="280459"/>
            <a:ext cx="4198193" cy="65895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938C624-0D8D-7E41-BEF0-C701F9C77C76}"/>
              </a:ext>
            </a:extLst>
          </p:cNvPr>
          <p:cNvSpPr/>
          <p:nvPr userDrawn="1"/>
        </p:nvSpPr>
        <p:spPr>
          <a:xfrm>
            <a:off x="0" y="5309666"/>
            <a:ext cx="12192000" cy="15737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i="0" dirty="0">
              <a:latin typeface="Open Sans Semibold" panose="020B0606030504020204" pitchFamily="34" charset="0"/>
            </a:endParaRP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C2AE1739-E845-8A25-C071-BFCF66D89432}"/>
              </a:ext>
            </a:extLst>
          </p:cNvPr>
          <p:cNvSpPr txBox="1">
            <a:spLocks/>
          </p:cNvSpPr>
          <p:nvPr userDrawn="1"/>
        </p:nvSpPr>
        <p:spPr>
          <a:xfrm>
            <a:off x="1253486" y="28676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b="1" i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HL7 FHIR </a:t>
            </a:r>
            <a:r>
              <a:rPr lang="en-GB" b="1" i="0" dirty="0" err="1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DevDays</a:t>
            </a:r>
            <a:br>
              <a:rPr lang="en-GB" b="1" i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</a:br>
            <a:endParaRPr lang="en-GB" b="1" i="0" dirty="0">
              <a:solidFill>
                <a:srgbClr val="FFD82D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29CB3B69-12B6-1B0A-646D-2C474C59C4A1}"/>
              </a:ext>
            </a:extLst>
          </p:cNvPr>
          <p:cNvSpPr txBox="1">
            <a:spLocks/>
          </p:cNvSpPr>
          <p:nvPr userDrawn="1"/>
        </p:nvSpPr>
        <p:spPr>
          <a:xfrm>
            <a:off x="1253486" y="33248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The largest FHIR-only</a:t>
            </a:r>
            <a:b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</a:br>
            <a:r>
              <a:rPr lang="en-GB" sz="2400" b="1" i="0" baseline="0" dirty="0">
                <a:solidFill>
                  <a:srgbClr val="FFD82D"/>
                </a:solidFill>
                <a:effectLst/>
                <a:latin typeface="Roboto" panose="02000000000000000000" pitchFamily="2" charset="0"/>
              </a:rPr>
              <a:t>event in the world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7C5BFA46-7080-1DEA-3859-6133A3941FDC}"/>
              </a:ext>
            </a:extLst>
          </p:cNvPr>
          <p:cNvSpPr txBox="1">
            <a:spLocks/>
          </p:cNvSpPr>
          <p:nvPr userDrawn="1"/>
        </p:nvSpPr>
        <p:spPr>
          <a:xfrm>
            <a:off x="1253486" y="4317266"/>
            <a:ext cx="10515600" cy="784225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800" kern="1200"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b="1" i="0" baseline="0" dirty="0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Minneapolis, MN</a:t>
            </a:r>
          </a:p>
          <a:p>
            <a:pPr algn="l"/>
            <a:r>
              <a:rPr lang="en-GB" sz="1600" b="1" i="0" baseline="0" dirty="0" err="1">
                <a:solidFill>
                  <a:schemeClr val="bg1"/>
                </a:solidFill>
                <a:effectLst/>
                <a:latin typeface="Roboto" panose="02000000000000000000" pitchFamily="2" charset="0"/>
              </a:rPr>
              <a:t>www.devdays.com</a:t>
            </a:r>
            <a:endParaRPr lang="en-GB" sz="1600" b="1" i="0" baseline="0" dirty="0">
              <a:solidFill>
                <a:schemeClr val="bg1"/>
              </a:solidFill>
              <a:effectLst/>
              <a:latin typeface="Roboto" panose="02000000000000000000" pitchFamily="2" charset="0"/>
            </a:endParaRPr>
          </a:p>
          <a:p>
            <a:pPr algn="l"/>
            <a:endParaRPr lang="en-GB" sz="1600" b="1" i="0" baseline="0" dirty="0">
              <a:solidFill>
                <a:schemeClr val="bg1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13B5BC-5A3A-5E7B-D634-363F86ED6400}"/>
              </a:ext>
            </a:extLst>
          </p:cNvPr>
          <p:cNvSpPr/>
          <p:nvPr userDrawn="1"/>
        </p:nvSpPr>
        <p:spPr>
          <a:xfrm>
            <a:off x="0" y="1189104"/>
            <a:ext cx="12192000" cy="1245362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F419FCED-BCF4-C294-3CAC-6C7CD9BF8B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213327"/>
            <a:ext cx="10515600" cy="942158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lnSpc>
                <a:spcPct val="100000"/>
              </a:lnSpc>
              <a:buNone/>
              <a:defRPr sz="28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lvl="0"/>
            <a:r>
              <a:rPr lang="en-US" dirty="0"/>
              <a:t>Title of presentation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26BFC-6193-4960-BEFB-D9E780D5811F}"/>
              </a:ext>
            </a:extLst>
          </p:cNvPr>
          <p:cNvSpPr/>
          <p:nvPr userDrawn="1"/>
        </p:nvSpPr>
        <p:spPr>
          <a:xfrm>
            <a:off x="0" y="1957609"/>
            <a:ext cx="12192000" cy="524296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B0831A5-20BF-2D6A-9E54-D1EA713991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58943"/>
            <a:ext cx="10515600" cy="441529"/>
          </a:xfrm>
          <a:prstGeom prst="rect">
            <a:avLst/>
          </a:prstGeom>
        </p:spPr>
        <p:txBody>
          <a:bodyPr tIns="54000" anchor="ctr" anchorCtr="0"/>
          <a:lstStyle>
            <a:lvl1pPr>
              <a:defRPr sz="2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Speaker Name and Company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6F7A54-E6A3-4D0E-841C-58885BF71A68}"/>
              </a:ext>
            </a:extLst>
          </p:cNvPr>
          <p:cNvSpPr/>
          <p:nvPr userDrawn="1"/>
        </p:nvSpPr>
        <p:spPr>
          <a:xfrm>
            <a:off x="0" y="1182730"/>
            <a:ext cx="12192000" cy="125999"/>
          </a:xfrm>
          <a:prstGeom prst="rect">
            <a:avLst/>
          </a:prstGeom>
          <a:solidFill>
            <a:srgbClr val="B6B6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7682B1-9E20-27B0-3334-3126914A2BC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329A9AC-BDE6-650D-878E-FF451464206F}"/>
              </a:ext>
            </a:extLst>
          </p:cNvPr>
          <p:cNvSpPr txBox="1"/>
          <p:nvPr userDrawn="1"/>
        </p:nvSpPr>
        <p:spPr>
          <a:xfrm>
            <a:off x="0" y="6581436"/>
            <a:ext cx="12191999" cy="246221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0" i="0" kern="1200" dirty="0">
                <a:solidFill>
                  <a:schemeClr val="bg2">
                    <a:lumMod val="50000"/>
                  </a:schemeClr>
                </a:solidFill>
                <a:effectLst/>
                <a:latin typeface="Calibri" charset="0"/>
                <a:ea typeface="Calibri" charset="0"/>
                <a:cs typeface="Calibri" charset="0"/>
              </a:rPr>
              <a:t>HL7®, FHIR® and the flame Design mark are the registered trademarks of Health Level Seven International and are used with permission.</a:t>
            </a:r>
            <a:endParaRPr lang="en-US" sz="1000" b="0" i="0" dirty="0">
              <a:solidFill>
                <a:schemeClr val="bg2">
                  <a:lumMod val="50000"/>
                </a:schemeClr>
              </a:solidFill>
              <a:latin typeface="Calibri" charset="0"/>
              <a:ea typeface="Calibri" charset="0"/>
              <a:cs typeface="Calibri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F0B8E78-F0FA-1A3A-7572-7E734F03781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4592706" y="5822612"/>
            <a:ext cx="3175825" cy="711384"/>
          </a:xfrm>
          <a:prstGeom prst="rect">
            <a:avLst/>
          </a:prstGeom>
        </p:spPr>
      </p:pic>
      <p:sp>
        <p:nvSpPr>
          <p:cNvPr id="21" name="Tekstvak 1">
            <a:extLst>
              <a:ext uri="{FF2B5EF4-FFF2-40B4-BE49-F238E27FC236}">
                <a16:creationId xmlns:a16="http://schemas.microsoft.com/office/drawing/2014/main" id="{AFDAE317-0BEB-F21D-A488-DBC5AA7E361D}"/>
              </a:ext>
            </a:extLst>
          </p:cNvPr>
          <p:cNvSpPr txBox="1"/>
          <p:nvPr userDrawn="1"/>
        </p:nvSpPr>
        <p:spPr>
          <a:xfrm>
            <a:off x="1399062" y="5401066"/>
            <a:ext cx="9817578" cy="276999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HL7 FHIR </a:t>
            </a:r>
            <a:r>
              <a:rPr lang="nl-NL" sz="12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DevDays</a:t>
            </a: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2026  |  Minneapolis, MN 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|  </a:t>
            </a:r>
            <a:r>
              <a:rPr lang="nl-NL" sz="1200" b="0" baseline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June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15-18, 2026  |  @</a:t>
            </a:r>
            <a:r>
              <a:rPr lang="nl-NL" sz="1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HL7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@</a:t>
            </a:r>
            <a:r>
              <a:rPr lang="nl-NL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FirelyTeam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#</a:t>
            </a:r>
            <a:r>
              <a:rPr lang="nl-NL" sz="12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fhirdevdays</a:t>
            </a:r>
            <a:r>
              <a:rPr lang="nl-NL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|  </a:t>
            </a:r>
            <a:r>
              <a:rPr lang="nl-NL" sz="1200" b="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www.devdays.com</a:t>
            </a:r>
            <a:r>
              <a:rPr lang="nl-NL" sz="1200" b="0" baseline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endParaRPr lang="nl-NL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2F4CE1-E321-1F28-7B27-B44F0E5EE1A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5932923" y="2670499"/>
            <a:ext cx="4294442" cy="263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7123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FBB214-C2A2-7641-AE6E-2E5B971EA3CE}"/>
              </a:ext>
            </a:extLst>
          </p:cNvPr>
          <p:cNvSpPr/>
          <p:nvPr userDrawn="1"/>
        </p:nvSpPr>
        <p:spPr>
          <a:xfrm>
            <a:off x="0" y="591018"/>
            <a:ext cx="12192000" cy="626698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49B3CA-8180-BFEB-4A85-03AB957B8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rgbClr val="0091B9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07B795F-28F6-A753-5499-3725E1154B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5464629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CBFF9F7D-FA7B-6608-810C-30B43C2521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8588" y="1997075"/>
            <a:ext cx="4875212" cy="4225925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EE912B-46AA-E548-E5A3-EFF80CFC7A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DFC2A5-549C-6529-C346-087B457EF727}"/>
              </a:ext>
            </a:extLst>
          </p:cNvPr>
          <p:cNvSpPr/>
          <p:nvPr userDrawn="1"/>
        </p:nvSpPr>
        <p:spPr>
          <a:xfrm>
            <a:off x="0" y="6357257"/>
            <a:ext cx="12192000" cy="50074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5F49E0-5585-8AFA-C6B1-717C0403E394}"/>
              </a:ext>
            </a:extLst>
          </p:cNvPr>
          <p:cNvSpPr/>
          <p:nvPr userDrawn="1"/>
        </p:nvSpPr>
        <p:spPr>
          <a:xfrm>
            <a:off x="0" y="591018"/>
            <a:ext cx="12192000" cy="6020722"/>
          </a:xfrm>
          <a:prstGeom prst="rect">
            <a:avLst/>
          </a:prstGeom>
          <a:solidFill>
            <a:srgbClr val="009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FDD8AE-FA25-A668-9A1E-0B907959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308E6911-6621-D8EB-BFD9-4E06B28965A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5464629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ED969B-58C4-BC43-E46E-4704E7A6DD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39EBDE0-AF7D-701F-436A-53DC92CACC55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3ADB96-BBC5-AE1A-BF37-422A9AADD0E4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BD073C91-7DFD-C016-C70D-F54BD7C1B23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78588" y="1997075"/>
            <a:ext cx="4875212" cy="4225925"/>
          </a:xfrm>
          <a:prstGeom prst="rect">
            <a:avLst/>
          </a:prstGeom>
        </p:spPr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7CA3FF-8A92-3CBA-B049-08973DD1FB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17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5E36E0A-7CE4-2C29-FD0C-99C5F3D29A94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1A63BA-96AA-95A2-6BEA-1D267E6682D8}"/>
              </a:ext>
            </a:extLst>
          </p:cNvPr>
          <p:cNvSpPr/>
          <p:nvPr userDrawn="1"/>
        </p:nvSpPr>
        <p:spPr>
          <a:xfrm>
            <a:off x="0" y="6357257"/>
            <a:ext cx="12192000" cy="50074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7F4A87-FEAD-8913-FDFE-E3B2D7761837}"/>
              </a:ext>
            </a:extLst>
          </p:cNvPr>
          <p:cNvSpPr/>
          <p:nvPr userDrawn="1"/>
        </p:nvSpPr>
        <p:spPr>
          <a:xfrm>
            <a:off x="0" y="591018"/>
            <a:ext cx="12192000" cy="6020722"/>
          </a:xfrm>
          <a:prstGeom prst="rect">
            <a:avLst/>
          </a:prstGeom>
          <a:solidFill>
            <a:srgbClr val="009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B6AEEBF-F2CE-8A22-701A-07BD4AB4F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3753"/>
            <a:ext cx="10515600" cy="886732"/>
          </a:xfrm>
          <a:prstGeom prst="rect">
            <a:avLst/>
          </a:prstGeom>
        </p:spPr>
        <p:txBody>
          <a:bodyPr/>
          <a:lstStyle>
            <a:lvl1pPr algn="l">
              <a:defRPr sz="36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C69FD6D5-1630-A8D0-1EB3-CEF908F41C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10515600" cy="422514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A456878-A438-1B5E-9F39-FF5F0C7477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B3FF62D-9A17-3B3D-CF3D-2DFB2BACF05C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F97CCD-3ED8-82F2-78C1-44930238F0A9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370ABC6-4C42-ECC4-BD89-9E45C5E5AB9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5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1D9488-ADE3-D885-CDD2-3798BEAE7C9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612601" y="2908940"/>
            <a:ext cx="4643392" cy="10401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70F6C9C-2808-9A59-B3CE-BDEDE4F8D7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51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pening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FF715-DBF2-E645-B559-0085F351CB07}"/>
              </a:ext>
            </a:extLst>
          </p:cNvPr>
          <p:cNvSpPr txBox="1"/>
          <p:nvPr userDrawn="1"/>
        </p:nvSpPr>
        <p:spPr>
          <a:xfrm>
            <a:off x="-787078" y="2581154"/>
            <a:ext cx="184731" cy="553998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endParaRPr lang="en-US" sz="3000" b="1" i="0" dirty="0">
              <a:latin typeface="Open Sans Semibold" panose="020B0606030504020204" pitchFamily="34" charset="0"/>
            </a:endParaRP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754B8974-C8AF-6B44-8952-DFDAB3AF4E05}"/>
              </a:ext>
            </a:extLst>
          </p:cNvPr>
          <p:cNvSpPr txBox="1">
            <a:spLocks/>
          </p:cNvSpPr>
          <p:nvPr userDrawn="1"/>
        </p:nvSpPr>
        <p:spPr>
          <a:xfrm>
            <a:off x="9140951" y="4802521"/>
            <a:ext cx="3323192" cy="638422"/>
          </a:xfrm>
          <a:prstGeom prst="rect">
            <a:avLst/>
          </a:prstGeom>
        </p:spPr>
        <p:txBody>
          <a:bodyPr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3000" kern="1200" baseline="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0" dirty="0">
                <a:latin typeface="Open Sans Semibold" panose="020B0606030504020204" pitchFamily="34" charset="0"/>
                <a:ea typeface="Open Sans Semibold" panose="020B0606030504020204" pitchFamily="34" charset="0"/>
                <a:cs typeface="Open Sans Semibold" panose="020B0606030504020204" pitchFamily="34" charset="0"/>
              </a:rPr>
              <a:t>Virtual Edition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F21769-7EBA-03AE-D43C-3F05485EE5D7}"/>
              </a:ext>
            </a:extLst>
          </p:cNvPr>
          <p:cNvSpPr/>
          <p:nvPr userDrawn="1"/>
        </p:nvSpPr>
        <p:spPr>
          <a:xfrm>
            <a:off x="0" y="6490276"/>
            <a:ext cx="12192000" cy="216000"/>
          </a:xfrm>
          <a:prstGeom prst="rect">
            <a:avLst/>
          </a:prstGeom>
          <a:solidFill>
            <a:srgbClr val="FCE3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8AA2F9-B0A6-2E87-161D-34625E87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8198" y="83274"/>
            <a:ext cx="2774403" cy="4354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F6A02E-5A10-9A79-1C53-14963C2BD546}"/>
              </a:ext>
            </a:extLst>
          </p:cNvPr>
          <p:cNvSpPr txBox="1"/>
          <p:nvPr userDrawn="1"/>
        </p:nvSpPr>
        <p:spPr>
          <a:xfrm>
            <a:off x="11513256" y="6492128"/>
            <a:ext cx="409503" cy="214147"/>
          </a:xfrm>
          <a:prstGeom prst="rect">
            <a:avLst/>
          </a:prstGeom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fld id="{DE63DE5B-D6E9-7B40-84C0-058E84E3C55A}" type="slidenum">
              <a:rPr lang="en-US" sz="1200" b="0" cap="none" spc="0" baseline="0" smtClean="0">
                <a:ln w="0"/>
                <a:solidFill>
                  <a:schemeClr val="bg1"/>
                </a:solidFill>
                <a:effectLst/>
              </a:rPr>
              <a:pPr algn="r"/>
              <a:t>‹#›</a:t>
            </a:fld>
            <a:r>
              <a:rPr lang="en-US" sz="1300" b="0" cap="none" spc="0" baseline="0" dirty="0">
                <a:ln w="0"/>
                <a:solidFill>
                  <a:schemeClr val="bg1"/>
                </a:solidFill>
                <a:effectLst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D4B5E0-A57F-F038-1862-4E7381A05A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526104" y="66501"/>
            <a:ext cx="1523597" cy="52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509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1801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56" r:id="rId2"/>
    <p:sldLayoutId id="2147483659" r:id="rId3"/>
    <p:sldLayoutId id="2147483660" r:id="rId4"/>
    <p:sldLayoutId id="2147483661" r:id="rId5"/>
    <p:sldLayoutId id="2147483662" r:id="rId6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Open Sans" charset="0"/>
          <a:ea typeface="Open Sans" charset="0"/>
          <a:cs typeface="Open Sans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brendankowitz.github.io/ignixa-fhir/docs/core-sdk/fhir-fake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devdays.com/feedback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E96588F-E356-15BC-F4EC-039964E9AF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312333"/>
            <a:ext cx="10515600" cy="645276"/>
          </a:xfrm>
          <a:prstGeom prst="rect">
            <a:avLst/>
          </a:prstGeom>
        </p:spPr>
        <p:txBody>
          <a:bodyPr anchor="ctr" anchorCtr="0">
            <a:normAutofit fontScale="92500" lnSpcReduction="20000"/>
          </a:bodyPr>
          <a:lstStyle/>
          <a:p>
            <a:pPr algn="ctr"/>
            <a:r>
              <a:rPr lang="en-US" sz="2800" b="1" dirty="0">
                <a:solidFill>
                  <a:srgbClr val="0B1F33"/>
                </a:solidFill>
              </a:rPr>
              <a:t>Fluent, Fast, and Fake</a:t>
            </a:r>
          </a:p>
          <a:p>
            <a:pPr algn="ctr">
              <a:spcBef>
                <a:spcPts val="500"/>
              </a:spcBef>
            </a:pPr>
            <a:r>
              <a:rPr lang="en-US" sz="1400" b="0" dirty="0">
                <a:solidFill>
                  <a:srgbClr val="0B1F33"/>
                </a:solidFill>
              </a:rPr>
              <a:t>.NET Synthetic FHIR Data for Developer Happiness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301C68-73F3-5DE9-B720-FFD53931A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Brendan Kowitz, Microsoft</a:t>
            </a:r>
          </a:p>
        </p:txBody>
      </p:sp>
    </p:spTree>
    <p:extLst>
      <p:ext uri="{BB962C8B-B14F-4D97-AF65-F5344CB8AC3E}">
        <p14:creationId xmlns:p14="http://schemas.microsoft.com/office/powerpoint/2010/main" val="3050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15430-5185-BD8E-9E91-9A36C6F2B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  <a:endParaRPr lang="en-NL" dirty="0"/>
          </a:p>
        </p:txBody>
      </p:sp>
      <p:pic>
        <p:nvPicPr>
          <p:cNvPr id="91" name="Speaker Photo"/>
          <p:cNvPicPr/>
          <p:nvPr/>
        </p:nvPicPr>
        <p:blipFill>
          <a:blip r:embed="rId2"/>
          <a:stretch>
            <a:fillRect/>
          </a:stretch>
        </p:blipFill>
        <p:spPr>
          <a:xfrm>
            <a:off x="9300000" y="2100000"/>
            <a:ext cx="1850000" cy="1850000"/>
          </a:xfrm>
          <a:prstGeom prst="ellipse">
            <a:avLst/>
          </a:prstGeom>
          <a:ln w="28575">
            <a:solidFill>
              <a:srgbClr val="0091B9"/>
            </a:solidFill>
          </a:ln>
        </p:spPr>
      </p:pic>
      <p:sp>
        <p:nvSpPr>
          <p:cNvPr id="19" name="TextBox 2">
            <a:extLst>
              <a:ext uri="{FF2B5EF4-FFF2-40B4-BE49-F238E27FC236}">
                <a16:creationId xmlns:a16="http://schemas.microsoft.com/office/drawing/2014/main" id="{F091B856-EF77-8127-8310-CB27B2D0D50B}"/>
              </a:ext>
            </a:extLst>
          </p:cNvPr>
          <p:cNvSpPr/>
          <p:nvPr/>
        </p:nvSpPr>
        <p:spPr>
          <a:xfrm>
            <a:off x="851569" y="1929960"/>
            <a:ext cx="7685211" cy="23237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t">
            <a:sp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Brendan Kowitz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 for FHIR OSS, Azure Health Data Services (FHIR)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Originally from Australia; lived in the Pacific Northwest for the past 10+ years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brendankowitz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ounded Rectangle 3">
            <a:extLst>
              <a:ext uri="{FF2B5EF4-FFF2-40B4-BE49-F238E27FC236}">
                <a16:creationId xmlns:a16="http://schemas.microsoft.com/office/drawing/2014/main" id="{4EA791B4-77B7-0916-8E95-08B5B2B86A31}"/>
              </a:ext>
            </a:extLst>
          </p:cNvPr>
          <p:cNvSpPr/>
          <p:nvPr/>
        </p:nvSpPr>
        <p:spPr>
          <a:xfrm>
            <a:off x="841320" y="54737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" name="Rectangle 4">
            <a:extLst>
              <a:ext uri="{FF2B5EF4-FFF2-40B4-BE49-F238E27FC236}">
                <a16:creationId xmlns:a16="http://schemas.microsoft.com/office/drawing/2014/main" id="{438A0897-D919-B651-AEA4-9B3BA11D7EBE}"/>
              </a:ext>
            </a:extLst>
          </p:cNvPr>
          <p:cNvSpPr/>
          <p:nvPr/>
        </p:nvSpPr>
        <p:spPr>
          <a:xfrm>
            <a:off x="841320" y="55372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" name="Picture 5" descr="github.png">
            <a:extLst>
              <a:ext uri="{FF2B5EF4-FFF2-40B4-BE49-F238E27FC236}">
                <a16:creationId xmlns:a16="http://schemas.microsoft.com/office/drawing/2014/main" id="{AD5883DE-AD24-7555-31C2-6FE294FCA8E6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115640" y="56769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27" name="TextBox 6">
            <a:extLst>
              <a:ext uri="{FF2B5EF4-FFF2-40B4-BE49-F238E27FC236}">
                <a16:creationId xmlns:a16="http://schemas.microsoft.com/office/drawing/2014/main" id="{54C7B83C-0E93-7909-995D-47F35FC2B9ED}"/>
              </a:ext>
            </a:extLst>
          </p:cNvPr>
          <p:cNvSpPr/>
          <p:nvPr/>
        </p:nvSpPr>
        <p:spPr>
          <a:xfrm>
            <a:off x="1801440" y="56261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</a:rPr>
              <a:t>GitHub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C17E43AB-261F-D00C-F88A-3DC65BFE5F94}"/>
              </a:ext>
            </a:extLst>
          </p:cNvPr>
          <p:cNvSpPr/>
          <p:nvPr/>
        </p:nvSpPr>
        <p:spPr>
          <a:xfrm>
            <a:off x="1801440" y="59563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>
              <a:spcAft>
                <a:spcPts val="201"/>
              </a:spcAft>
            </a:pPr>
            <a:r>
              <a:rPr lang="en-US" sz="1250" spc="-1" dirty="0">
                <a:solidFill>
                  <a:srgbClr val="006E8C"/>
                </a:solidFill>
                <a:latin typeface="Consolas"/>
              </a:rPr>
              <a:t>github.com/</a:t>
            </a:r>
            <a:r>
              <a:rPr lang="en-US" sz="1250" spc="-1" dirty="0" err="1">
                <a:solidFill>
                  <a:srgbClr val="006E8C"/>
                </a:solidFill>
                <a:latin typeface="Consolas"/>
              </a:rPr>
              <a:t>brendankowitz</a:t>
            </a:r>
            <a:r>
              <a:rPr lang="en-US" sz="1250" spc="-1" dirty="0">
                <a:solidFill>
                  <a:srgbClr val="006E8C"/>
                </a:solidFill>
                <a:latin typeface="Consolas"/>
              </a:rPr>
              <a:t>/FHIRDevDays2026</a:t>
            </a:r>
            <a:endParaRPr lang="en-US" sz="125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6474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20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THE PROBLEM</a:t>
            </a:r>
          </a:p>
        </p:txBody>
      </p:sp>
      <p:sp>
        <p:nvSpPr>
          <p:cNvPr id="204" name="t20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Every FHIR dev hits this wall.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You need test data.</a:t>
            </a:r>
          </a:p>
        </p:txBody>
      </p:sp>
      <p:sp>
        <p:nvSpPr>
          <p:cNvPr id="206" name="t205"/>
          <p:cNvSpPr txBox="1"/>
          <p:nvPr/>
        </p:nvSpPr>
        <p:spPr>
          <a:xfrm>
            <a:off x="566928" y="1905327"/>
            <a:ext cx="1069848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4000"/>
              </a:lnSpc>
              <a:buNone/>
            </a:pPr>
            <a:r>
              <a:rPr lang="en-US" sz="1500" b="0" dirty="0">
                <a:solidFill>
                  <a:srgbClr val="33485A"/>
                </a:solidFill>
                <a:latin typeface="Calibri"/>
                <a:cs typeface="Calibri"/>
              </a:rPr>
              <a:t>You’re writing a test. You need a Patient with type-2 diabetes — 3 conditions, 2 medications, realistic vitals over 5 years. </a:t>
            </a:r>
            <a:r>
              <a:rPr lang="en-US" sz="1500" b="1" dirty="0">
                <a:solidFill>
                  <a:srgbClr val="0B1F33"/>
                </a:solidFill>
                <a:latin typeface="Calibri"/>
                <a:cs typeface="Calibri"/>
              </a:rPr>
              <a:t>Every option in front of you feels a little unsatisfying.</a:t>
            </a:r>
          </a:p>
        </p:txBody>
      </p:sp>
      <p:sp>
        <p:nvSpPr>
          <p:cNvPr id="208" name="r207"/>
          <p:cNvSpPr/>
          <p:nvPr/>
        </p:nvSpPr>
        <p:spPr>
          <a:xfrm>
            <a:off x="566928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0" name="r209"/>
          <p:cNvSpPr/>
          <p:nvPr/>
        </p:nvSpPr>
        <p:spPr>
          <a:xfrm>
            <a:off x="566928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12" name="r211"/>
          <p:cNvSpPr/>
          <p:nvPr/>
        </p:nvSpPr>
        <p:spPr>
          <a:xfrm>
            <a:off x="877824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214" name="t213"/>
          <p:cNvSpPr txBox="1"/>
          <p:nvPr/>
        </p:nvSpPr>
        <p:spPr>
          <a:xfrm>
            <a:off x="877824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216" name="t215"/>
          <p:cNvSpPr txBox="1"/>
          <p:nvPr/>
        </p:nvSpPr>
        <p:spPr>
          <a:xfrm>
            <a:off x="877824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Hand-craft JSON</a:t>
            </a:r>
          </a:p>
        </p:txBody>
      </p:sp>
      <p:sp>
        <p:nvSpPr>
          <p:cNvPr id="218" name="t217"/>
          <p:cNvSpPr txBox="1"/>
          <p:nvPr/>
        </p:nvSpPr>
        <p:spPr>
          <a:xfrm>
            <a:off x="877824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Hours of work. Breaks on every model change. Zero clinical realism.</a:t>
            </a:r>
          </a:p>
        </p:txBody>
      </p:sp>
      <p:sp>
        <p:nvSpPr>
          <p:cNvPr id="220" name="r219"/>
          <p:cNvSpPr/>
          <p:nvPr/>
        </p:nvSpPr>
        <p:spPr>
          <a:xfrm>
            <a:off x="4297680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2" name="r221"/>
          <p:cNvSpPr/>
          <p:nvPr/>
        </p:nvSpPr>
        <p:spPr>
          <a:xfrm>
            <a:off x="4297680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D9534F"/>
          </a:solidFill>
        </p:spPr>
        <p:txBody>
          <a:bodyPr/>
          <a:lstStyle/>
          <a:p>
            <a:endParaRPr/>
          </a:p>
        </p:txBody>
      </p:sp>
      <p:sp>
        <p:nvSpPr>
          <p:cNvPr id="224" name="r223"/>
          <p:cNvSpPr/>
          <p:nvPr/>
        </p:nvSpPr>
        <p:spPr>
          <a:xfrm>
            <a:off x="4608576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9534F"/>
          </a:solidFill>
        </p:spPr>
        <p:txBody>
          <a:bodyPr/>
          <a:lstStyle/>
          <a:p>
            <a:endParaRPr/>
          </a:p>
        </p:txBody>
      </p:sp>
      <p:sp>
        <p:nvSpPr>
          <p:cNvPr id="226" name="t225"/>
          <p:cNvSpPr txBox="1"/>
          <p:nvPr/>
        </p:nvSpPr>
        <p:spPr>
          <a:xfrm>
            <a:off x="4608576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228" name="t227"/>
          <p:cNvSpPr txBox="1"/>
          <p:nvPr/>
        </p:nvSpPr>
        <p:spPr>
          <a:xfrm>
            <a:off x="4608575" y="3675888"/>
            <a:ext cx="3108961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Bespoke scripts / generator??</a:t>
            </a:r>
          </a:p>
        </p:txBody>
      </p:sp>
      <p:sp>
        <p:nvSpPr>
          <p:cNvPr id="230" name="t229"/>
          <p:cNvSpPr txBox="1"/>
          <p:nvPr/>
        </p:nvSpPr>
        <p:spPr>
          <a:xfrm>
            <a:off x="4608576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dirty="0">
                <a:solidFill>
                  <a:srgbClr val="33485A"/>
                </a:solidFill>
                <a:latin typeface="Calibri"/>
                <a:cs typeface="Calibri"/>
              </a:rPr>
              <a:t>Likely produces unrealistic data or hard to model</a:t>
            </a:r>
            <a:endParaRPr lang="en-US" sz="1400" b="0" dirty="0">
              <a:solidFill>
                <a:srgbClr val="33485A"/>
              </a:solidFill>
              <a:latin typeface="Calibri"/>
              <a:cs typeface="Calibri"/>
            </a:endParaRPr>
          </a:p>
        </p:txBody>
      </p:sp>
      <p:sp>
        <p:nvSpPr>
          <p:cNvPr id="232" name="r231"/>
          <p:cNvSpPr/>
          <p:nvPr/>
        </p:nvSpPr>
        <p:spPr>
          <a:xfrm>
            <a:off x="8028432" y="2706624"/>
            <a:ext cx="3456432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4" name="r233"/>
          <p:cNvSpPr/>
          <p:nvPr/>
        </p:nvSpPr>
        <p:spPr>
          <a:xfrm>
            <a:off x="8028432" y="2706624"/>
            <a:ext cx="3456432" cy="77724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236" name="r235"/>
          <p:cNvSpPr/>
          <p:nvPr/>
        </p:nvSpPr>
        <p:spPr>
          <a:xfrm>
            <a:off x="8339328" y="3035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238" name="t237"/>
          <p:cNvSpPr txBox="1"/>
          <p:nvPr/>
        </p:nvSpPr>
        <p:spPr>
          <a:xfrm>
            <a:off x="8339328" y="30403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240" name="t239"/>
          <p:cNvSpPr txBox="1"/>
          <p:nvPr/>
        </p:nvSpPr>
        <p:spPr>
          <a:xfrm>
            <a:off x="8339328" y="3675888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B1F33"/>
                </a:solidFill>
                <a:latin typeface="Trebuchet MS"/>
                <a:cs typeface="Trebuchet MS"/>
              </a:rPr>
              <a:t>Fire up Synthea</a:t>
            </a:r>
          </a:p>
        </p:txBody>
      </p:sp>
      <p:sp>
        <p:nvSpPr>
          <p:cNvPr id="242" name="t241"/>
          <p:cNvSpPr txBox="1"/>
          <p:nvPr/>
        </p:nvSpPr>
        <p:spPr>
          <a:xfrm>
            <a:off x="8339328" y="4334256"/>
            <a:ext cx="283464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400" b="0" dirty="0">
                <a:solidFill>
                  <a:srgbClr val="33485A"/>
                </a:solidFill>
                <a:latin typeface="Calibri"/>
                <a:cs typeface="Calibri"/>
              </a:rPr>
              <a:t>JVM dependency. Minutes per run. Built for cohorts, not unit tests.</a:t>
            </a:r>
          </a:p>
        </p:txBody>
      </p:sp>
      <p:sp>
        <p:nvSpPr>
          <p:cNvPr id="244" name="t243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There is a better way — built for .NET, by a .NET developer.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267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THE REQUIREMENTS NOBODY WROTE DOWN</a:t>
            </a:r>
          </a:p>
        </p:txBody>
      </p:sp>
      <p:sp>
        <p:nvSpPr>
          <p:cNvPr id="270" name="t269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What developers actually need.</a:t>
            </a:r>
          </a:p>
        </p:txBody>
      </p:sp>
      <p:sp>
        <p:nvSpPr>
          <p:cNvPr id="272" name="r271"/>
          <p:cNvSpPr/>
          <p:nvPr/>
        </p:nvSpPr>
        <p:spPr>
          <a:xfrm>
            <a:off x="566928" y="1828800"/>
            <a:ext cx="11064240" cy="548640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274" name="r273"/>
          <p:cNvSpPr/>
          <p:nvPr/>
        </p:nvSpPr>
        <p:spPr>
          <a:xfrm>
            <a:off x="9375648" y="1828800"/>
            <a:ext cx="2255520" cy="548640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276" name="t275"/>
          <p:cNvSpPr txBox="1"/>
          <p:nvPr/>
        </p:nvSpPr>
        <p:spPr>
          <a:xfrm>
            <a:off x="804672" y="18288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Requirement</a:t>
            </a:r>
          </a:p>
        </p:txBody>
      </p:sp>
      <p:sp>
        <p:nvSpPr>
          <p:cNvPr id="278" name="t277"/>
          <p:cNvSpPr txBox="1"/>
          <p:nvPr/>
        </p:nvSpPr>
        <p:spPr>
          <a:xfrm>
            <a:off x="486460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Hand-crafted</a:t>
            </a:r>
          </a:p>
        </p:txBody>
      </p:sp>
      <p:sp>
        <p:nvSpPr>
          <p:cNvPr id="280" name="t279"/>
          <p:cNvSpPr txBox="1"/>
          <p:nvPr/>
        </p:nvSpPr>
        <p:spPr>
          <a:xfrm>
            <a:off x="712012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Synthea</a:t>
            </a:r>
          </a:p>
        </p:txBody>
      </p:sp>
      <p:sp>
        <p:nvSpPr>
          <p:cNvPr id="282" name="t281"/>
          <p:cNvSpPr txBox="1"/>
          <p:nvPr/>
        </p:nvSpPr>
        <p:spPr>
          <a:xfrm>
            <a:off x="9375648" y="1828800"/>
            <a:ext cx="225552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/>
                <a:cs typeface="Trebuchet MS"/>
              </a:rPr>
              <a:t>FhirFakes</a:t>
            </a:r>
          </a:p>
        </p:txBody>
      </p:sp>
      <p:sp>
        <p:nvSpPr>
          <p:cNvPr id="284" name="r283"/>
          <p:cNvSpPr/>
          <p:nvPr/>
        </p:nvSpPr>
        <p:spPr>
          <a:xfrm>
            <a:off x="9375648" y="2377440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286" name="t285"/>
          <p:cNvSpPr txBox="1"/>
          <p:nvPr/>
        </p:nvSpPr>
        <p:spPr>
          <a:xfrm>
            <a:off x="804672" y="2377440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Fast</a:t>
            </a:r>
          </a:p>
        </p:txBody>
      </p:sp>
      <p:sp>
        <p:nvSpPr>
          <p:cNvPr id="288" name="t287"/>
          <p:cNvSpPr txBox="1"/>
          <p:nvPr/>
        </p:nvSpPr>
        <p:spPr>
          <a:xfrm>
            <a:off x="486460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290" name="t289"/>
          <p:cNvSpPr txBox="1"/>
          <p:nvPr/>
        </p:nvSpPr>
        <p:spPr>
          <a:xfrm>
            <a:off x="712012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292" name="t291"/>
          <p:cNvSpPr txBox="1"/>
          <p:nvPr/>
        </p:nvSpPr>
        <p:spPr>
          <a:xfrm>
            <a:off x="9375648" y="237744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294" name="r293"/>
          <p:cNvSpPr/>
          <p:nvPr/>
        </p:nvSpPr>
        <p:spPr>
          <a:xfrm>
            <a:off x="566928" y="2875788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296" name="r295"/>
          <p:cNvSpPr/>
          <p:nvPr/>
        </p:nvSpPr>
        <p:spPr>
          <a:xfrm>
            <a:off x="9375648" y="2875788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298" name="t297"/>
          <p:cNvSpPr txBox="1"/>
          <p:nvPr/>
        </p:nvSpPr>
        <p:spPr>
          <a:xfrm>
            <a:off x="804672" y="2875788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Can be deterministic per test</a:t>
            </a:r>
          </a:p>
        </p:txBody>
      </p:sp>
      <p:sp>
        <p:nvSpPr>
          <p:cNvPr id="300" name="t299"/>
          <p:cNvSpPr txBox="1"/>
          <p:nvPr/>
        </p:nvSpPr>
        <p:spPr>
          <a:xfrm>
            <a:off x="486460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02" name="t301"/>
          <p:cNvSpPr txBox="1"/>
          <p:nvPr/>
        </p:nvSpPr>
        <p:spPr>
          <a:xfrm>
            <a:off x="712012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04" name="t303"/>
          <p:cNvSpPr txBox="1"/>
          <p:nvPr/>
        </p:nvSpPr>
        <p:spPr>
          <a:xfrm>
            <a:off x="9375648" y="287578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06" name="r305"/>
          <p:cNvSpPr/>
          <p:nvPr/>
        </p:nvSpPr>
        <p:spPr>
          <a:xfrm>
            <a:off x="9375648" y="3374136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08" name="t307"/>
          <p:cNvSpPr txBox="1"/>
          <p:nvPr/>
        </p:nvSpPr>
        <p:spPr>
          <a:xfrm>
            <a:off x="804672" y="3374136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Native .NET / NuGet</a:t>
            </a:r>
          </a:p>
        </p:txBody>
      </p:sp>
      <p:sp>
        <p:nvSpPr>
          <p:cNvPr id="310" name="t309"/>
          <p:cNvSpPr txBox="1"/>
          <p:nvPr/>
        </p:nvSpPr>
        <p:spPr>
          <a:xfrm>
            <a:off x="486460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12" name="t311"/>
          <p:cNvSpPr txBox="1"/>
          <p:nvPr/>
        </p:nvSpPr>
        <p:spPr>
          <a:xfrm>
            <a:off x="712012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14" name="t313"/>
          <p:cNvSpPr txBox="1"/>
          <p:nvPr/>
        </p:nvSpPr>
        <p:spPr>
          <a:xfrm>
            <a:off x="9375648" y="3374136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16" name="r315"/>
          <p:cNvSpPr/>
          <p:nvPr/>
        </p:nvSpPr>
        <p:spPr>
          <a:xfrm>
            <a:off x="566928" y="3872484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318" name="r317"/>
          <p:cNvSpPr/>
          <p:nvPr/>
        </p:nvSpPr>
        <p:spPr>
          <a:xfrm>
            <a:off x="9375648" y="3872484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20" name="t319"/>
          <p:cNvSpPr txBox="1"/>
          <p:nvPr/>
        </p:nvSpPr>
        <p:spPr>
          <a:xfrm>
            <a:off x="804672" y="3872484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Realistic options</a:t>
            </a:r>
          </a:p>
        </p:txBody>
      </p:sp>
      <p:sp>
        <p:nvSpPr>
          <p:cNvPr id="322" name="t321"/>
          <p:cNvSpPr txBox="1"/>
          <p:nvPr/>
        </p:nvSpPr>
        <p:spPr>
          <a:xfrm>
            <a:off x="486460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24" name="t323"/>
          <p:cNvSpPr txBox="1"/>
          <p:nvPr/>
        </p:nvSpPr>
        <p:spPr>
          <a:xfrm>
            <a:off x="712012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26" name="t325"/>
          <p:cNvSpPr txBox="1"/>
          <p:nvPr/>
        </p:nvSpPr>
        <p:spPr>
          <a:xfrm>
            <a:off x="9375648" y="3872484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28" name="r327"/>
          <p:cNvSpPr/>
          <p:nvPr/>
        </p:nvSpPr>
        <p:spPr>
          <a:xfrm>
            <a:off x="9375648" y="4370832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30" name="t329"/>
          <p:cNvSpPr txBox="1"/>
          <p:nvPr/>
        </p:nvSpPr>
        <p:spPr>
          <a:xfrm>
            <a:off x="804672" y="4370832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Fluent C# API</a:t>
            </a:r>
          </a:p>
        </p:txBody>
      </p:sp>
      <p:sp>
        <p:nvSpPr>
          <p:cNvPr id="332" name="t331"/>
          <p:cNvSpPr txBox="1"/>
          <p:nvPr/>
        </p:nvSpPr>
        <p:spPr>
          <a:xfrm>
            <a:off x="486460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34" name="t333"/>
          <p:cNvSpPr txBox="1"/>
          <p:nvPr/>
        </p:nvSpPr>
        <p:spPr>
          <a:xfrm>
            <a:off x="712012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36" name="t335"/>
          <p:cNvSpPr txBox="1"/>
          <p:nvPr/>
        </p:nvSpPr>
        <p:spPr>
          <a:xfrm>
            <a:off x="9375648" y="4370832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38" name="r337"/>
          <p:cNvSpPr/>
          <p:nvPr/>
        </p:nvSpPr>
        <p:spPr>
          <a:xfrm>
            <a:off x="566928" y="4869180"/>
            <a:ext cx="11064240" cy="498348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340" name="r339"/>
          <p:cNvSpPr/>
          <p:nvPr/>
        </p:nvSpPr>
        <p:spPr>
          <a:xfrm>
            <a:off x="9375648" y="4869180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42" name="t341"/>
          <p:cNvSpPr txBox="1"/>
          <p:nvPr/>
        </p:nvSpPr>
        <p:spPr>
          <a:xfrm>
            <a:off x="804672" y="4869180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FHIR-valid output</a:t>
            </a:r>
          </a:p>
        </p:txBody>
      </p:sp>
      <p:sp>
        <p:nvSpPr>
          <p:cNvPr id="344" name="t343"/>
          <p:cNvSpPr txBox="1"/>
          <p:nvPr/>
        </p:nvSpPr>
        <p:spPr>
          <a:xfrm>
            <a:off x="486460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46" name="t345"/>
          <p:cNvSpPr txBox="1"/>
          <p:nvPr/>
        </p:nvSpPr>
        <p:spPr>
          <a:xfrm>
            <a:off x="712012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48" name="t347"/>
          <p:cNvSpPr txBox="1"/>
          <p:nvPr/>
        </p:nvSpPr>
        <p:spPr>
          <a:xfrm>
            <a:off x="9375648" y="4869180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50" name="r349"/>
          <p:cNvSpPr/>
          <p:nvPr/>
        </p:nvSpPr>
        <p:spPr>
          <a:xfrm>
            <a:off x="9375648" y="5367528"/>
            <a:ext cx="2255520" cy="498348"/>
          </a:xfrm>
          <a:prstGeom prst="rect">
            <a:avLst/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352" name="t351"/>
          <p:cNvSpPr txBox="1"/>
          <p:nvPr/>
        </p:nvSpPr>
        <p:spPr>
          <a:xfrm>
            <a:off x="804672" y="5367528"/>
            <a:ext cx="402336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50" b="1" dirty="0">
                <a:solidFill>
                  <a:srgbClr val="0B1F33"/>
                </a:solidFill>
                <a:latin typeface="Calibri"/>
                <a:cs typeface="Calibri"/>
              </a:rPr>
              <a:t>Population-scale</a:t>
            </a:r>
          </a:p>
        </p:txBody>
      </p:sp>
      <p:sp>
        <p:nvSpPr>
          <p:cNvPr id="354" name="t353"/>
          <p:cNvSpPr txBox="1"/>
          <p:nvPr/>
        </p:nvSpPr>
        <p:spPr>
          <a:xfrm>
            <a:off x="486460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C2CBD2"/>
                </a:solidFill>
                <a:latin typeface="Trebuchet MS"/>
                <a:cs typeface="Trebuchet MS"/>
              </a:rPr>
              <a:t>✕</a:t>
            </a:r>
          </a:p>
        </p:txBody>
      </p:sp>
      <p:sp>
        <p:nvSpPr>
          <p:cNvPr id="356" name="t355"/>
          <p:cNvSpPr txBox="1"/>
          <p:nvPr/>
        </p:nvSpPr>
        <p:spPr>
          <a:xfrm>
            <a:off x="712012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0E9C8A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58" name="t357"/>
          <p:cNvSpPr txBox="1"/>
          <p:nvPr/>
        </p:nvSpPr>
        <p:spPr>
          <a:xfrm>
            <a:off x="9375648" y="5367528"/>
            <a:ext cx="2255520" cy="4983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700" b="1" dirty="0">
                <a:solidFill>
                  <a:srgbClr val="6D49E0"/>
                </a:solidFill>
                <a:latin typeface="Trebuchet MS"/>
                <a:cs typeface="Trebuchet MS"/>
              </a:rPr>
              <a:t>✓</a:t>
            </a:r>
          </a:p>
        </p:txBody>
      </p:sp>
      <p:sp>
        <p:nvSpPr>
          <p:cNvPr id="360" name="r359"/>
          <p:cNvSpPr/>
          <p:nvPr/>
        </p:nvSpPr>
        <p:spPr>
          <a:xfrm>
            <a:off x="566928" y="1828800"/>
            <a:ext cx="11064240" cy="4037076"/>
          </a:xfrm>
          <a:prstGeom prst="rect">
            <a:avLst/>
          </a:prstGeom>
          <a:noFill/>
          <a:ln w="12700">
            <a:solidFill>
              <a:srgbClr val="DCE3E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62" name="t361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 missing piece between static JSON and Synthea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363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366" name="t365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INTRODUCING</a:t>
            </a:r>
          </a:p>
        </p:txBody>
      </p:sp>
      <p:sp>
        <p:nvSpPr>
          <p:cNvPr id="368" name="t367"/>
          <p:cNvSpPr txBox="1"/>
          <p:nvPr/>
        </p:nvSpPr>
        <p:spPr>
          <a:xfrm>
            <a:off x="566928" y="1170432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/>
                <a:cs typeface="Trebuchet MS"/>
              </a:rPr>
              <a:t>Ignixa.FhirFakes</a:t>
            </a:r>
          </a:p>
        </p:txBody>
      </p:sp>
      <p:sp>
        <p:nvSpPr>
          <p:cNvPr id="370" name="t369"/>
          <p:cNvSpPr txBox="1"/>
          <p:nvPr/>
        </p:nvSpPr>
        <p:spPr>
          <a:xfrm>
            <a:off x="566928" y="2157984"/>
            <a:ext cx="1042416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lang="en-US" sz="1700" b="0" dirty="0">
                <a:solidFill>
                  <a:srgbClr val="9DB2C7"/>
                </a:solidFill>
                <a:latin typeface="Calibri"/>
                <a:cs typeface="Calibri"/>
              </a:rPr>
              <a:t>Native .NET synthetic FHIR data — </a:t>
            </a: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fluent, fast, and deterministic.</a:t>
            </a:r>
          </a:p>
        </p:txBody>
      </p:sp>
      <p:sp>
        <p:nvSpPr>
          <p:cNvPr id="372" name="r371"/>
          <p:cNvSpPr/>
          <p:nvPr/>
        </p:nvSpPr>
        <p:spPr>
          <a:xfrm>
            <a:off x="56692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74" name="r373"/>
          <p:cNvSpPr/>
          <p:nvPr/>
        </p:nvSpPr>
        <p:spPr>
          <a:xfrm>
            <a:off x="56692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76" name="t375"/>
          <p:cNvSpPr txBox="1"/>
          <p:nvPr/>
        </p:nvSpPr>
        <p:spPr>
          <a:xfrm>
            <a:off x="82296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Native .NET 9/10</a:t>
            </a:r>
          </a:p>
        </p:txBody>
      </p:sp>
      <p:sp>
        <p:nvSpPr>
          <p:cNvPr id="378" name="t377"/>
          <p:cNvSpPr txBox="1"/>
          <p:nvPr/>
        </p:nvSpPr>
        <p:spPr>
          <a:xfrm>
            <a:off x="82296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No JVM. Generates in milliseconds.</a:t>
            </a:r>
          </a:p>
        </p:txBody>
      </p:sp>
      <p:sp>
        <p:nvSpPr>
          <p:cNvPr id="380" name="r379"/>
          <p:cNvSpPr/>
          <p:nvPr/>
        </p:nvSpPr>
        <p:spPr>
          <a:xfrm>
            <a:off x="340156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82" name="r381"/>
          <p:cNvSpPr/>
          <p:nvPr/>
        </p:nvSpPr>
        <p:spPr>
          <a:xfrm>
            <a:off x="340156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84" name="t383"/>
          <p:cNvSpPr txBox="1"/>
          <p:nvPr/>
        </p:nvSpPr>
        <p:spPr>
          <a:xfrm>
            <a:off x="365760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FHIR-valid</a:t>
            </a:r>
          </a:p>
        </p:txBody>
      </p:sp>
      <p:sp>
        <p:nvSpPr>
          <p:cNvPr id="386" name="t385"/>
          <p:cNvSpPr txBox="1"/>
          <p:nvPr/>
        </p:nvSpPr>
        <p:spPr>
          <a:xfrm>
            <a:off x="365760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Passes schema + binding validation.</a:t>
            </a:r>
          </a:p>
        </p:txBody>
      </p:sp>
      <p:sp>
        <p:nvSpPr>
          <p:cNvPr id="388" name="r387"/>
          <p:cNvSpPr/>
          <p:nvPr/>
        </p:nvSpPr>
        <p:spPr>
          <a:xfrm>
            <a:off x="623620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0" name="r389"/>
          <p:cNvSpPr/>
          <p:nvPr/>
        </p:nvSpPr>
        <p:spPr>
          <a:xfrm>
            <a:off x="623620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392" name="t391"/>
          <p:cNvSpPr txBox="1"/>
          <p:nvPr/>
        </p:nvSpPr>
        <p:spPr>
          <a:xfrm>
            <a:off x="649224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Multi-version</a:t>
            </a:r>
          </a:p>
        </p:txBody>
      </p:sp>
      <p:sp>
        <p:nvSpPr>
          <p:cNvPr id="394" name="t393"/>
          <p:cNvSpPr txBox="1"/>
          <p:nvPr/>
        </p:nvSpPr>
        <p:spPr>
          <a:xfrm>
            <a:off x="649224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STU3 · R4 · R4B · R5 · R6-ballot2</a:t>
            </a:r>
          </a:p>
        </p:txBody>
      </p:sp>
      <p:sp>
        <p:nvSpPr>
          <p:cNvPr id="396" name="r395"/>
          <p:cNvSpPr/>
          <p:nvPr/>
        </p:nvSpPr>
        <p:spPr>
          <a:xfrm>
            <a:off x="9070848" y="2889504"/>
            <a:ext cx="2615184" cy="1335024"/>
          </a:xfrm>
          <a:prstGeom prst="roundRect">
            <a:avLst>
              <a:gd name="adj" fmla="val 4794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98" name="r397"/>
          <p:cNvSpPr/>
          <p:nvPr/>
        </p:nvSpPr>
        <p:spPr>
          <a:xfrm>
            <a:off x="9070848" y="2889504"/>
            <a:ext cx="68580" cy="1335024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400" name="t399"/>
          <p:cNvSpPr txBox="1"/>
          <p:nvPr/>
        </p:nvSpPr>
        <p:spPr>
          <a:xfrm>
            <a:off x="9326880" y="3090672"/>
            <a:ext cx="2231136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50" b="1" dirty="0">
                <a:solidFill>
                  <a:srgbClr val="FFFFFF"/>
                </a:solidFill>
                <a:latin typeface="Trebuchet MS"/>
                <a:cs typeface="Trebuchet MS"/>
              </a:rPr>
              <a:t>MIT · open source</a:t>
            </a:r>
          </a:p>
        </p:txBody>
      </p:sp>
      <p:sp>
        <p:nvSpPr>
          <p:cNvPr id="402" name="t401"/>
          <p:cNvSpPr txBox="1"/>
          <p:nvPr/>
        </p:nvSpPr>
        <p:spPr>
          <a:xfrm>
            <a:off x="9326880" y="3511296"/>
            <a:ext cx="2231136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Inspired by Synthea.</a:t>
            </a:r>
          </a:p>
        </p:txBody>
      </p:sp>
      <p:sp>
        <p:nvSpPr>
          <p:cNvPr id="404" name="r403"/>
          <p:cNvSpPr/>
          <p:nvPr/>
        </p:nvSpPr>
        <p:spPr>
          <a:xfrm>
            <a:off x="566928" y="4535424"/>
            <a:ext cx="11064240" cy="1078992"/>
          </a:xfrm>
          <a:prstGeom prst="roundRect">
            <a:avLst>
              <a:gd name="adj" fmla="val 4237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6" name="t405"/>
          <p:cNvSpPr txBox="1"/>
          <p:nvPr/>
        </p:nvSpPr>
        <p:spPr>
          <a:xfrm>
            <a:off x="932688" y="4718304"/>
            <a:ext cx="10332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50" b="0" dirty="0">
                <a:solidFill>
                  <a:srgbClr val="E6EDF3"/>
                </a:solidFill>
                <a:latin typeface="Consolas"/>
                <a:cs typeface="Consolas"/>
              </a:rPr>
              <a:t>dotnet add package Ignixa.FhirFakes</a:t>
            </a:r>
          </a:p>
        </p:txBody>
      </p:sp>
      <p:sp>
        <p:nvSpPr>
          <p:cNvPr id="408" name="t407"/>
          <p:cNvSpPr txBox="1"/>
          <p:nvPr/>
        </p:nvSpPr>
        <p:spPr>
          <a:xfrm>
            <a:off x="932688" y="5102352"/>
            <a:ext cx="103327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50" b="0" dirty="0">
                <a:solidFill>
                  <a:srgbClr val="E6EDF3"/>
                </a:solidFill>
                <a:latin typeface="Consolas"/>
                <a:cs typeface="Consolas"/>
              </a:rPr>
              <a:t>dotnet tool install -g Ignixa.FhirFakes.Cli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rgbClr val="0091B9"/>
                </a:solidFill>
                <a:latin typeface="Calibri"/>
                <a:ea typeface="Calibri"/>
              </a:rPr>
              <a:t>What is “</a:t>
            </a:r>
            <a:r>
              <a:rPr lang="en-US" sz="3600" b="0" strike="noStrike" spc="-1" dirty="0" err="1">
                <a:solidFill>
                  <a:srgbClr val="0091B9"/>
                </a:solidFill>
                <a:latin typeface="Calibri"/>
                <a:ea typeface="Calibri"/>
              </a:rPr>
              <a:t>Ignixa</a:t>
            </a:r>
            <a:r>
              <a:rPr lang="en-US" sz="3600" b="0" strike="noStrike" spc="-1" dirty="0">
                <a:solidFill>
                  <a:srgbClr val="0091B9"/>
                </a:solidFill>
                <a:latin typeface="Calibri"/>
                <a:ea typeface="Calibri"/>
              </a:rPr>
              <a:t>”</a:t>
            </a:r>
          </a:p>
        </p:txBody>
      </p:sp>
      <p:sp>
        <p:nvSpPr>
          <p:cNvPr id="2" name="LeadText">
            <a:extLst>
              <a:ext uri="{FF2B5EF4-FFF2-40B4-BE49-F238E27FC236}">
                <a16:creationId xmlns:a16="http://schemas.microsoft.com/office/drawing/2014/main" id="{DBDCC0FF-F275-4A07-B03D-72C8F03D56D4}"/>
              </a:ext>
            </a:extLst>
          </p:cNvPr>
          <p:cNvSpPr txBox="1"/>
          <p:nvPr/>
        </p:nvSpPr>
        <p:spPr>
          <a:xfrm>
            <a:off x="985459" y="1929960"/>
            <a:ext cx="9842445" cy="51139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noAutofit/>
          </a:bodyPr>
          <a:lstStyle/>
          <a:p>
            <a:pPr algn="ctr"/>
            <a:r>
              <a:rPr lang="en-US" sz="1600" dirty="0" err="1">
                <a:solidFill>
                  <a:srgbClr val="404040"/>
                </a:solidFill>
                <a:latin typeface="Calibri"/>
              </a:rPr>
              <a:t>Ignixa</a:t>
            </a:r>
            <a:r>
              <a:rPr lang="en-US" sz="1600" dirty="0">
                <a:solidFill>
                  <a:srgbClr val="404040"/>
                </a:solidFill>
                <a:latin typeface="Calibri"/>
              </a:rPr>
              <a:t> started as a personal open-source project for rethinking FHIR/.NET from a clean slate.</a:t>
            </a:r>
          </a:p>
        </p:txBody>
      </p:sp>
      <p:sp>
        <p:nvSpPr>
          <p:cNvPr id="3" name="Card1">
            <a:extLst>
              <a:ext uri="{FF2B5EF4-FFF2-40B4-BE49-F238E27FC236}">
                <a16:creationId xmlns:a16="http://schemas.microsoft.com/office/drawing/2014/main" id="{99D0E78A-8B62-4109-9B02-9828831E7031}"/>
              </a:ext>
            </a:extLst>
          </p:cNvPr>
          <p:cNvSpPr/>
          <p:nvPr/>
        </p:nvSpPr>
        <p:spPr>
          <a:xfrm>
            <a:off x="838200" y="2692400"/>
            <a:ext cx="3302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0091B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37160" tIns="990600" rIns="137160" bIns="91440" rtlCol="0" anchor="t"/>
          <a:lstStyle/>
          <a:p>
            <a:pPr algn="ctr">
              <a:spcAft>
                <a:spcPts val="600"/>
              </a:spcAft>
            </a:pPr>
            <a:r>
              <a:rPr lang="en-US" sz="1700" b="1" spc="-1" dirty="0">
                <a:solidFill>
                  <a:srgbClr val="0091B9"/>
                </a:solidFill>
                <a:latin typeface="Calibri"/>
              </a:rPr>
              <a:t>Research</a:t>
            </a:r>
          </a:p>
          <a:p>
            <a:pPr algn="ctr">
              <a:lnSpc>
                <a:spcPct val="105000"/>
              </a:lnSpc>
            </a:pP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A proving ground for new FHIR/.NET ideas, built to learn and explore. Tackling even advanced parts of the spec.</a:t>
            </a:r>
          </a:p>
        </p:txBody>
      </p:sp>
      <p:sp>
        <p:nvSpPr>
          <p:cNvPr id="4" name="Card2">
            <a:extLst>
              <a:ext uri="{FF2B5EF4-FFF2-40B4-BE49-F238E27FC236}">
                <a16:creationId xmlns:a16="http://schemas.microsoft.com/office/drawing/2014/main" id="{2D4BE342-2BA9-49A5-81FD-ACA5B60E0C32}"/>
              </a:ext>
            </a:extLst>
          </p:cNvPr>
          <p:cNvSpPr/>
          <p:nvPr/>
        </p:nvSpPr>
        <p:spPr>
          <a:xfrm>
            <a:off x="4445000" y="2692400"/>
            <a:ext cx="3302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0091B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37160" tIns="990600" rIns="137160" bIns="91440" rtlCol="0" anchor="t"/>
          <a:lstStyle/>
          <a:p>
            <a:pPr algn="ctr">
              <a:spcAft>
                <a:spcPts val="600"/>
              </a:spcAft>
            </a:pPr>
            <a:r>
              <a:rPr lang="en-US" sz="1700" b="1" spc="-1" dirty="0">
                <a:solidFill>
                  <a:srgbClr val="0091B9"/>
                </a:solidFill>
                <a:latin typeface="Calibri"/>
              </a:rPr>
              <a:t>Architecture</a:t>
            </a:r>
          </a:p>
          <a:p>
            <a:pPr algn="ctr">
              <a:lnSpc>
                <a:spcPct val="105000"/>
              </a:lnSpc>
            </a:pP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Rethinks FHIR on modern .NET:</a:t>
            </a:r>
            <a:endParaRPr lang="en-US" sz="1400" spc="-1" dirty="0">
              <a:solidFill>
                <a:srgbClr val="404040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lang="en-US" sz="1400" spc="-1" dirty="0">
                <a:solidFill>
                  <a:srgbClr val="404040"/>
                </a:solidFill>
                <a:latin typeface="Calibri"/>
              </a:rPr>
              <a:t>Ground up Parsing, Specification, Serialization, </a:t>
            </a:r>
            <a:r>
              <a:rPr lang="en-US" sz="1400" spc="-1" dirty="0" err="1">
                <a:solidFill>
                  <a:srgbClr val="404040"/>
                </a:solidFill>
                <a:latin typeface="Calibri"/>
              </a:rPr>
              <a:t>FHIRPath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 with clean, modular packages. </a:t>
            </a:r>
          </a:p>
          <a:p>
            <a:pPr algn="ctr">
              <a:lnSpc>
                <a:spcPct val="105000"/>
              </a:lnSpc>
            </a:pPr>
            <a:endParaRPr lang="en-US" sz="1400" spc="-1" dirty="0">
              <a:solidFill>
                <a:srgbClr val="404040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lang="en-US" sz="1400" spc="-1" dirty="0">
                <a:solidFill>
                  <a:srgbClr val="404040"/>
                </a:solidFill>
                <a:latin typeface="Calibri"/>
              </a:rPr>
              <a:t>P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ublishing 20+ </a:t>
            </a:r>
            <a:r>
              <a:rPr lang="en-US" sz="1400" b="0" spc="-1" dirty="0" err="1">
                <a:solidFill>
                  <a:srgbClr val="404040"/>
                </a:solidFill>
                <a:latin typeface="Calibri"/>
              </a:rPr>
              <a:t>nuget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 packages. </a:t>
            </a:r>
            <a:r>
              <a:rPr lang="en-US" sz="1400" b="0" spc="-1" dirty="0" err="1">
                <a:solidFill>
                  <a:srgbClr val="404040"/>
                </a:solidFill>
                <a:latin typeface="Calibri"/>
              </a:rPr>
              <a:t>FHIRPath</a:t>
            </a: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 Engine has 45K downloads</a:t>
            </a:r>
          </a:p>
        </p:txBody>
      </p:sp>
      <p:sp>
        <p:nvSpPr>
          <p:cNvPr id="5" name="Card3">
            <a:extLst>
              <a:ext uri="{FF2B5EF4-FFF2-40B4-BE49-F238E27FC236}">
                <a16:creationId xmlns:a16="http://schemas.microsoft.com/office/drawing/2014/main" id="{4D36A043-0AE0-4B5E-B264-294B8DA42F81}"/>
              </a:ext>
            </a:extLst>
          </p:cNvPr>
          <p:cNvSpPr/>
          <p:nvPr/>
        </p:nvSpPr>
        <p:spPr>
          <a:xfrm>
            <a:off x="8051800" y="2692400"/>
            <a:ext cx="3302000" cy="3175000"/>
          </a:xfrm>
          <a:prstGeom prst="roundRect">
            <a:avLst/>
          </a:prstGeom>
          <a:solidFill>
            <a:srgbClr val="FFFFFF"/>
          </a:solidFill>
          <a:ln w="19050" cap="flat" cmpd="sng" algn="ctr">
            <a:solidFill>
              <a:srgbClr val="0091B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37160" tIns="990600" rIns="137160" bIns="91440" rtlCol="0" anchor="t"/>
          <a:lstStyle/>
          <a:p>
            <a:pPr algn="ctr">
              <a:spcAft>
                <a:spcPts val="600"/>
              </a:spcAft>
            </a:pPr>
            <a:r>
              <a:rPr lang="en-US" sz="1700" b="1" spc="-1" dirty="0">
                <a:solidFill>
                  <a:srgbClr val="0091B9"/>
                </a:solidFill>
                <a:latin typeface="Calibri"/>
              </a:rPr>
              <a:t>Built with frontier AI</a:t>
            </a:r>
          </a:p>
          <a:p>
            <a:pPr algn="ctr">
              <a:lnSpc>
                <a:spcPct val="105000"/>
              </a:lnSpc>
            </a:pPr>
            <a:r>
              <a:rPr lang="en-US" sz="1400" b="0" spc="-1" dirty="0">
                <a:solidFill>
                  <a:srgbClr val="404040"/>
                </a:solidFill>
                <a:latin typeface="Calibri"/>
              </a:rPr>
              <a:t>8+ years of my own experience, distilled into code with the latest AI coding tools.</a:t>
            </a:r>
          </a:p>
        </p:txBody>
      </p:sp>
      <p:pic>
        <p:nvPicPr>
          <p:cNvPr id="185" name="Graphic 185" descr="Research beake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4400" y="2997200"/>
            <a:ext cx="609600" cy="609600"/>
          </a:xfrm>
          <a:prstGeom prst="rect">
            <a:avLst/>
          </a:prstGeom>
        </p:spPr>
      </p:pic>
      <p:pic>
        <p:nvPicPr>
          <p:cNvPr id="186" name="Graphic 186" descr="Layers architectur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91200" y="2997200"/>
            <a:ext cx="609600" cy="609600"/>
          </a:xfrm>
          <a:prstGeom prst="rect">
            <a:avLst/>
          </a:prstGeom>
        </p:spPr>
      </p:pic>
      <p:pic>
        <p:nvPicPr>
          <p:cNvPr id="187" name="Graphic 187" descr="AI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8000" y="2997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355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 dirty="0">
                <a:solidFill>
                  <a:srgbClr val="0091B9"/>
                </a:solidFill>
                <a:latin typeface="Calibri"/>
                <a:ea typeface="Calibri"/>
              </a:rPr>
              <a:t>Modular. Pick what you need.</a:t>
            </a:r>
            <a:endParaRPr lang="en-US" sz="3600" b="0" strike="noStrike" spc="-1" dirty="0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4" name="TextBox 2"/>
          <p:cNvSpPr/>
          <p:nvPr/>
        </p:nvSpPr>
        <p:spPr>
          <a:xfrm>
            <a:off x="841320" y="1554480"/>
            <a:ext cx="105062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00" b="1" strike="noStrike" spc="-1">
                <a:solidFill>
                  <a:srgbClr val="F26B21"/>
                </a:solidFill>
                <a:latin typeface="Calibri"/>
              </a:rPr>
              <a:t>PACKAGE ANATOMY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Rounded Rectangle 3"/>
          <p:cNvSpPr/>
          <p:nvPr/>
        </p:nvSpPr>
        <p:spPr>
          <a:xfrm>
            <a:off x="3351240" y="2240280"/>
            <a:ext cx="548604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808A90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4"/>
          <p:cNvSpPr/>
          <p:nvPr/>
        </p:nvSpPr>
        <p:spPr>
          <a:xfrm>
            <a:off x="3579840" y="2359080"/>
            <a:ext cx="502884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>
                <a:solidFill>
                  <a:srgbClr val="808A90"/>
                </a:solidFill>
                <a:latin typeface="Consolas"/>
              </a:rPr>
              <a:t>Ignixa.Abstractions</a:t>
            </a:r>
          </a:p>
        </p:txBody>
      </p:sp>
      <p:sp>
        <p:nvSpPr>
          <p:cNvPr id="187" name="TextBox 5"/>
          <p:cNvSpPr/>
          <p:nvPr/>
        </p:nvSpPr>
        <p:spPr>
          <a:xfrm>
            <a:off x="3579840" y="2697480"/>
            <a:ext cx="502884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IElement, ISourceNavigator — no dependencies</a:t>
            </a:r>
          </a:p>
        </p:txBody>
      </p:sp>
      <p:sp>
        <p:nvSpPr>
          <p:cNvPr id="188" name="Down Arrow 6"/>
          <p:cNvSpPr/>
          <p:nvPr/>
        </p:nvSpPr>
        <p:spPr>
          <a:xfrm>
            <a:off x="6003000" y="3099960"/>
            <a:ext cx="182520" cy="173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08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Rounded Rectangle 7"/>
          <p:cNvSpPr/>
          <p:nvPr/>
        </p:nvSpPr>
        <p:spPr>
          <a:xfrm>
            <a:off x="1705320" y="3282840"/>
            <a:ext cx="877788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091B9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8"/>
          <p:cNvSpPr/>
          <p:nvPr/>
        </p:nvSpPr>
        <p:spPr>
          <a:xfrm>
            <a:off x="1933920" y="3401640"/>
            <a:ext cx="832068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>
                <a:solidFill>
                  <a:srgbClr val="0091B9"/>
                </a:solidFill>
                <a:latin typeface="Consolas"/>
              </a:rPr>
              <a:t>Ignixa.Serialization  ·  Ignixa.Specification  ·  Ignixa.FhirPath</a:t>
            </a:r>
          </a:p>
        </p:txBody>
      </p:sp>
      <p:sp>
        <p:nvSpPr>
          <p:cNvPr id="191" name="TextBox 9"/>
          <p:cNvSpPr/>
          <p:nvPr/>
        </p:nvSpPr>
        <p:spPr>
          <a:xfrm>
            <a:off x="1933920" y="3740040"/>
            <a:ext cx="832068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JSON → navigator · version-aware schema · compiled FHIRPath</a:t>
            </a:r>
          </a:p>
        </p:txBody>
      </p:sp>
      <p:sp>
        <p:nvSpPr>
          <p:cNvPr id="192" name="Down Arrow 10"/>
          <p:cNvSpPr/>
          <p:nvPr/>
        </p:nvSpPr>
        <p:spPr>
          <a:xfrm>
            <a:off x="6003000" y="4142160"/>
            <a:ext cx="182520" cy="173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08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Rounded Rectangle 11"/>
          <p:cNvSpPr/>
          <p:nvPr/>
        </p:nvSpPr>
        <p:spPr>
          <a:xfrm>
            <a:off x="1705320" y="4325040"/>
            <a:ext cx="877788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006E8C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TextBox 12"/>
          <p:cNvSpPr/>
          <p:nvPr/>
        </p:nvSpPr>
        <p:spPr>
          <a:xfrm>
            <a:off x="1933920" y="4443840"/>
            <a:ext cx="832068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 dirty="0" err="1">
                <a:solidFill>
                  <a:srgbClr val="006E8C"/>
                </a:solidFill>
                <a:latin typeface="Consolas"/>
              </a:rPr>
              <a:t>Ignixa.FhirFakes</a:t>
            </a:r>
            <a:endParaRPr lang="en-US" sz="1450" b="1" strike="noStrike" spc="-1" dirty="0">
              <a:solidFill>
                <a:srgbClr val="006E8C"/>
              </a:solidFill>
              <a:latin typeface="Consolas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1933920" y="4782240"/>
            <a:ext cx="832068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Schema faker · builders · scenarios · population generators</a:t>
            </a:r>
          </a:p>
        </p:txBody>
      </p:sp>
      <p:sp>
        <p:nvSpPr>
          <p:cNvPr id="196" name="Down Arrow 14"/>
          <p:cNvSpPr/>
          <p:nvPr/>
        </p:nvSpPr>
        <p:spPr>
          <a:xfrm>
            <a:off x="6003000" y="5184720"/>
            <a:ext cx="182520" cy="1735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808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Rounded Rectangle 15"/>
          <p:cNvSpPr/>
          <p:nvPr/>
        </p:nvSpPr>
        <p:spPr>
          <a:xfrm>
            <a:off x="3625560" y="5367600"/>
            <a:ext cx="4937400" cy="840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26B2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16"/>
          <p:cNvSpPr/>
          <p:nvPr/>
        </p:nvSpPr>
        <p:spPr>
          <a:xfrm>
            <a:off x="3854160" y="5486400"/>
            <a:ext cx="4480200" cy="22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450" b="1" strike="noStrike" spc="-1" dirty="0" err="1">
                <a:solidFill>
                  <a:srgbClr val="F26B21"/>
                </a:solidFill>
                <a:latin typeface="Consolas"/>
              </a:rPr>
              <a:t>Ignixa.FhirFakes.Cli</a:t>
            </a:r>
            <a:endParaRPr lang="en-US" sz="1450" b="1" strike="noStrike" spc="-1" dirty="0">
              <a:solidFill>
                <a:srgbClr val="F26B21"/>
              </a:solidFill>
              <a:latin typeface="Consolas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3854160" y="5824800"/>
            <a:ext cx="4480200" cy="17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spcAft>
                <a:spcPts val="201"/>
              </a:spcAft>
            </a:pPr>
            <a:r>
              <a:rPr lang="en-US" sz="1150" b="0" strike="noStrike" spc="-1">
                <a:solidFill>
                  <a:srgbClr val="444A4D"/>
                </a:solidFill>
                <a:latin typeface="Calibri"/>
              </a:rPr>
              <a:t>dotnet global tool  (ignixa-fhirfakes)</a:t>
            </a:r>
          </a:p>
        </p:txBody>
      </p:sp>
    </p:spTree>
    <p:extLst>
      <p:ext uri="{BB962C8B-B14F-4D97-AF65-F5344CB8AC3E}">
        <p14:creationId xmlns:p14="http://schemas.microsoft.com/office/powerpoint/2010/main" val="11885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t41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THE CORE DESIGN</a:t>
            </a:r>
          </a:p>
        </p:txBody>
      </p:sp>
      <p:sp>
        <p:nvSpPr>
          <p:cNvPr id="414" name="t4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Four layers. Pick your level.</a:t>
            </a:r>
          </a:p>
        </p:txBody>
      </p:sp>
      <p:sp>
        <p:nvSpPr>
          <p:cNvPr id="416" name="r415"/>
          <p:cNvSpPr/>
          <p:nvPr/>
        </p:nvSpPr>
        <p:spPr>
          <a:xfrm>
            <a:off x="566928" y="5141976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8" name="r417"/>
          <p:cNvSpPr/>
          <p:nvPr/>
        </p:nvSpPr>
        <p:spPr>
          <a:xfrm>
            <a:off x="566928" y="5141976"/>
            <a:ext cx="786384" cy="969264"/>
          </a:xfrm>
          <a:prstGeom prst="roundRect">
            <a:avLst>
              <a:gd name="adj" fmla="val 5232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0" name="r419"/>
          <p:cNvSpPr/>
          <p:nvPr/>
        </p:nvSpPr>
        <p:spPr>
          <a:xfrm>
            <a:off x="1280160" y="5141976"/>
            <a:ext cx="91440" cy="969264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2" name="t421"/>
          <p:cNvSpPr txBox="1"/>
          <p:nvPr/>
        </p:nvSpPr>
        <p:spPr>
          <a:xfrm>
            <a:off x="566928" y="5141976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</a:p>
        </p:txBody>
      </p:sp>
      <p:sp>
        <p:nvSpPr>
          <p:cNvPr id="424" name="t423"/>
          <p:cNvSpPr txBox="1"/>
          <p:nvPr/>
        </p:nvSpPr>
        <p:spPr>
          <a:xfrm>
            <a:off x="1554480" y="529285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4 · Population Generation</a:t>
            </a:r>
          </a:p>
        </p:txBody>
      </p:sp>
      <p:sp>
        <p:nvSpPr>
          <p:cNvPr id="426" name="t425"/>
          <p:cNvSpPr txBox="1"/>
          <p:nvPr/>
        </p:nvSpPr>
        <p:spPr>
          <a:xfrm>
            <a:off x="1554480" y="5686044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Realistic cohorts — US Census demographics</a:t>
            </a:r>
          </a:p>
        </p:txBody>
      </p:sp>
      <p:cxnSp>
        <p:nvCxnSpPr>
          <p:cNvPr id="428" name="l427"/>
          <p:cNvCxnSpPr/>
          <p:nvPr/>
        </p:nvCxnSpPr>
        <p:spPr>
          <a:xfrm>
            <a:off x="6007608" y="5343144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30" name="t429"/>
          <p:cNvSpPr txBox="1"/>
          <p:nvPr/>
        </p:nvSpPr>
        <p:spPr>
          <a:xfrm>
            <a:off x="6236208" y="5141976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ignixa-fakes r4 population --from Seattle --count 1000</a:t>
            </a:r>
          </a:p>
        </p:txBody>
      </p:sp>
      <p:sp>
        <p:nvSpPr>
          <p:cNvPr id="432" name="r431"/>
          <p:cNvSpPr/>
          <p:nvPr/>
        </p:nvSpPr>
        <p:spPr>
          <a:xfrm>
            <a:off x="566928" y="4050283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4" name="r433"/>
          <p:cNvSpPr/>
          <p:nvPr/>
        </p:nvSpPr>
        <p:spPr>
          <a:xfrm>
            <a:off x="566928" y="4050283"/>
            <a:ext cx="786384" cy="969264"/>
          </a:xfrm>
          <a:prstGeom prst="roundRect">
            <a:avLst>
              <a:gd name="adj" fmla="val 5232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6" name="r435"/>
          <p:cNvSpPr/>
          <p:nvPr/>
        </p:nvSpPr>
        <p:spPr>
          <a:xfrm>
            <a:off x="1280160" y="4050283"/>
            <a:ext cx="91440" cy="969264"/>
          </a:xfrm>
          <a:prstGeom prst="rect">
            <a:avLst/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8" name="t437"/>
          <p:cNvSpPr txBox="1"/>
          <p:nvPr/>
        </p:nvSpPr>
        <p:spPr>
          <a:xfrm>
            <a:off x="566928" y="4050283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440" name="t439"/>
          <p:cNvSpPr txBox="1"/>
          <p:nvPr/>
        </p:nvSpPr>
        <p:spPr>
          <a:xfrm>
            <a:off x="1554480" y="420116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3 · Patient Lifecycles</a:t>
            </a:r>
          </a:p>
        </p:txBody>
      </p:sp>
      <p:sp>
        <p:nvSpPr>
          <p:cNvPr id="442" name="t441"/>
          <p:cNvSpPr txBox="1"/>
          <p:nvPr/>
        </p:nvSpPr>
        <p:spPr>
          <a:xfrm>
            <a:off x="1554480" y="4594352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A full life simulated, birth to today</a:t>
            </a:r>
          </a:p>
        </p:txBody>
      </p:sp>
      <p:cxnSp>
        <p:nvCxnSpPr>
          <p:cNvPr id="444" name="l443"/>
          <p:cNvCxnSpPr/>
          <p:nvPr/>
        </p:nvCxnSpPr>
        <p:spPr>
          <a:xfrm>
            <a:off x="6007608" y="4251452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46" name="t445"/>
          <p:cNvSpPr txBox="1"/>
          <p:nvPr/>
        </p:nvSpPr>
        <p:spPr>
          <a:xfrm>
            <a:off x="6236208" y="4050283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50-year-old with metabolic syndrome, full history</a:t>
            </a:r>
          </a:p>
        </p:txBody>
      </p:sp>
      <p:sp>
        <p:nvSpPr>
          <p:cNvPr id="448" name="r447"/>
          <p:cNvSpPr/>
          <p:nvPr/>
        </p:nvSpPr>
        <p:spPr>
          <a:xfrm>
            <a:off x="566928" y="2958591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0" name="r449"/>
          <p:cNvSpPr/>
          <p:nvPr/>
        </p:nvSpPr>
        <p:spPr>
          <a:xfrm>
            <a:off x="566928" y="2958591"/>
            <a:ext cx="786384" cy="969264"/>
          </a:xfrm>
          <a:prstGeom prst="roundRect">
            <a:avLst>
              <a:gd name="adj" fmla="val 5232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2" name="r451"/>
          <p:cNvSpPr/>
          <p:nvPr/>
        </p:nvSpPr>
        <p:spPr>
          <a:xfrm>
            <a:off x="1280160" y="2958591"/>
            <a:ext cx="91440" cy="969264"/>
          </a:xfrm>
          <a:prstGeom prst="rect">
            <a:avLst/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4" name="t453"/>
          <p:cNvSpPr txBox="1"/>
          <p:nvPr/>
        </p:nvSpPr>
        <p:spPr>
          <a:xfrm>
            <a:off x="566928" y="2958591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456" name="t455"/>
          <p:cNvSpPr txBox="1"/>
          <p:nvPr/>
        </p:nvSpPr>
        <p:spPr>
          <a:xfrm>
            <a:off x="1554480" y="3109467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2 · Clinical Scenarios</a:t>
            </a:r>
          </a:p>
        </p:txBody>
      </p:sp>
      <p:sp>
        <p:nvSpPr>
          <p:cNvPr id="458" name="t457"/>
          <p:cNvSpPr txBox="1"/>
          <p:nvPr/>
        </p:nvSpPr>
        <p:spPr>
          <a:xfrm>
            <a:off x="1554480" y="3502660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Fluent C# — express clinical intent</a:t>
            </a:r>
          </a:p>
        </p:txBody>
      </p:sp>
      <p:cxnSp>
        <p:nvCxnSpPr>
          <p:cNvPr id="460" name="l459"/>
          <p:cNvCxnSpPr/>
          <p:nvPr/>
        </p:nvCxnSpPr>
        <p:spPr>
          <a:xfrm>
            <a:off x="6007608" y="3159760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62" name="t461"/>
          <p:cNvSpPr txBox="1"/>
          <p:nvPr/>
        </p:nvSpPr>
        <p:spPr>
          <a:xfrm>
            <a:off x="6236208" y="2958591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Wellness visit, 15% chance of hyperlipidemia</a:t>
            </a:r>
          </a:p>
        </p:txBody>
      </p:sp>
      <p:sp>
        <p:nvSpPr>
          <p:cNvPr id="464" name="r463"/>
          <p:cNvSpPr/>
          <p:nvPr/>
        </p:nvSpPr>
        <p:spPr>
          <a:xfrm>
            <a:off x="566928" y="1866900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6" name="r465"/>
          <p:cNvSpPr/>
          <p:nvPr/>
        </p:nvSpPr>
        <p:spPr>
          <a:xfrm>
            <a:off x="566928" y="1866900"/>
            <a:ext cx="786384" cy="969264"/>
          </a:xfrm>
          <a:prstGeom prst="roundRect">
            <a:avLst>
              <a:gd name="adj" fmla="val 5232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68" name="r467"/>
          <p:cNvSpPr/>
          <p:nvPr/>
        </p:nvSpPr>
        <p:spPr>
          <a:xfrm>
            <a:off x="1280160" y="1866900"/>
            <a:ext cx="91440" cy="969264"/>
          </a:xfrm>
          <a:prstGeom prst="rect">
            <a:avLst/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70" name="t469"/>
          <p:cNvSpPr txBox="1"/>
          <p:nvPr/>
        </p:nvSpPr>
        <p:spPr>
          <a:xfrm>
            <a:off x="566928" y="1866900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472" name="t471"/>
          <p:cNvSpPr txBox="1"/>
          <p:nvPr/>
        </p:nvSpPr>
        <p:spPr>
          <a:xfrm>
            <a:off x="1554480" y="201777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Layer 1 · Random Valid Resources</a:t>
            </a:r>
          </a:p>
        </p:txBody>
      </p:sp>
      <p:sp>
        <p:nvSpPr>
          <p:cNvPr id="474" name="t473"/>
          <p:cNvSpPr txBox="1"/>
          <p:nvPr/>
        </p:nvSpPr>
        <p:spPr>
          <a:xfrm>
            <a:off x="1554480" y="2410967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Schema-driven, binding-aware</a:t>
            </a:r>
          </a:p>
        </p:txBody>
      </p:sp>
      <p:cxnSp>
        <p:nvCxnSpPr>
          <p:cNvPr id="476" name="l475"/>
          <p:cNvCxnSpPr/>
          <p:nvPr/>
        </p:nvCxnSpPr>
        <p:spPr>
          <a:xfrm>
            <a:off x="6007608" y="2068067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78" name="t477"/>
          <p:cNvSpPr txBox="1"/>
          <p:nvPr/>
        </p:nvSpPr>
        <p:spPr>
          <a:xfrm>
            <a:off x="6236208" y="1866900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A valid Patient resource in three lines</a:t>
            </a:r>
          </a:p>
        </p:txBody>
      </p:sp>
      <p:sp>
        <p:nvSpPr>
          <p:cNvPr id="480" name="r479"/>
          <p:cNvSpPr/>
          <p:nvPr/>
        </p:nvSpPr>
        <p:spPr>
          <a:xfrm>
            <a:off x="9610344" y="1865376"/>
            <a:ext cx="2020824" cy="4288536"/>
          </a:xfrm>
          <a:prstGeom prst="roundRect">
            <a:avLst>
              <a:gd name="adj" fmla="val 2262"/>
            </a:avLst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482" name="t481"/>
          <p:cNvSpPr txBox="1"/>
          <p:nvPr/>
        </p:nvSpPr>
        <p:spPr>
          <a:xfrm>
            <a:off x="9866376" y="2103120"/>
            <a:ext cx="15636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/>
                <a:cs typeface="Trebuchet MS"/>
              </a:rPr>
              <a:t>Each layer builds on the one below.</a:t>
            </a:r>
          </a:p>
        </p:txBody>
      </p:sp>
      <p:sp>
        <p:nvSpPr>
          <p:cNvPr id="484" name="t483"/>
          <p:cNvSpPr txBox="1"/>
          <p:nvPr/>
        </p:nvSpPr>
        <p:spPr>
          <a:xfrm>
            <a:off x="9866376" y="3017520"/>
            <a:ext cx="1563624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▴  more control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more realism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▾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Use as much — or as little — as the test needs.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48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LAYER 1 · SCHEMA-DRIVEN</a:t>
            </a:r>
          </a:p>
        </p:txBody>
      </p:sp>
      <p:sp>
        <p:nvSpPr>
          <p:cNvPr id="488" name="t48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Random — but valid.</a:t>
            </a:r>
          </a:p>
        </p:txBody>
      </p:sp>
      <p:sp>
        <p:nvSpPr>
          <p:cNvPr id="490" name="t489"/>
          <p:cNvSpPr txBox="1"/>
          <p:nvPr/>
        </p:nvSpPr>
        <p:spPr>
          <a:xfrm>
            <a:off x="566928" y="1874520"/>
            <a:ext cx="598932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SchemaBasedFhirResourceFaker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generates any FHIR resource type from schema metadata, not JSON templates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Binding-aware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picks codes from the correct value sets, not random strings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Semantically valid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a Patient gets a valid gender code; an Observation a valid LOINC code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All FHIR versions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STU3, R4, R4B, R5, R6</a:t>
            </a:r>
          </a:p>
        </p:txBody>
      </p:sp>
      <p:sp>
        <p:nvSpPr>
          <p:cNvPr id="492" name="r491"/>
          <p:cNvSpPr/>
          <p:nvPr/>
        </p:nvSpPr>
        <p:spPr>
          <a:xfrm>
            <a:off x="6922008" y="1874520"/>
            <a:ext cx="4709160" cy="4160520"/>
          </a:xfrm>
          <a:prstGeom prst="roundRect">
            <a:avLst>
              <a:gd name="adj" fmla="val 109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4" name="t493"/>
          <p:cNvSpPr txBox="1"/>
          <p:nvPr/>
        </p:nvSpPr>
        <p:spPr>
          <a:xfrm>
            <a:off x="7232904" y="2103120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50" b="1" dirty="0">
                <a:solidFill>
                  <a:srgbClr val="C97A0E"/>
                </a:solidFill>
                <a:latin typeface="Trebuchet MS"/>
                <a:cs typeface="Trebuchet MS"/>
              </a:rPr>
              <a:t>BindingCodeMapper</a:t>
            </a:r>
          </a:p>
        </p:txBody>
      </p:sp>
      <p:sp>
        <p:nvSpPr>
          <p:cNvPr id="496" name="t495"/>
          <p:cNvSpPr txBox="1"/>
          <p:nvPr/>
        </p:nvSpPr>
        <p:spPr>
          <a:xfrm>
            <a:off x="7232904" y="2468880"/>
            <a:ext cx="4160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i="1" dirty="0">
                <a:solidFill>
                  <a:srgbClr val="5E7382"/>
                </a:solidFill>
                <a:latin typeface="Calibri"/>
                <a:cs typeface="Calibri"/>
              </a:rPr>
              <a:t>value set  →  terminology</a:t>
            </a:r>
          </a:p>
        </p:txBody>
      </p:sp>
      <p:sp>
        <p:nvSpPr>
          <p:cNvPr id="498" name="t497"/>
          <p:cNvSpPr txBox="1"/>
          <p:nvPr/>
        </p:nvSpPr>
        <p:spPr>
          <a:xfrm>
            <a:off x="7232904" y="2889504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observation-codes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LOINC</a:t>
            </a:r>
          </a:p>
        </p:txBody>
      </p:sp>
      <p:sp>
        <p:nvSpPr>
          <p:cNvPr id="500" name="t499"/>
          <p:cNvSpPr txBox="1"/>
          <p:nvPr/>
        </p:nvSpPr>
        <p:spPr>
          <a:xfrm>
            <a:off x="7232904" y="3337560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condition-code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02" name="t501"/>
          <p:cNvSpPr txBox="1"/>
          <p:nvPr/>
        </p:nvSpPr>
        <p:spPr>
          <a:xfrm>
            <a:off x="7232904" y="3785616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medication-codes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RxNorm</a:t>
            </a:r>
          </a:p>
        </p:txBody>
      </p:sp>
      <p:sp>
        <p:nvSpPr>
          <p:cNvPr id="504" name="t503"/>
          <p:cNvSpPr txBox="1"/>
          <p:nvPr/>
        </p:nvSpPr>
        <p:spPr>
          <a:xfrm>
            <a:off x="7232904" y="4233672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vaccine-code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CVX</a:t>
            </a:r>
          </a:p>
        </p:txBody>
      </p:sp>
      <p:sp>
        <p:nvSpPr>
          <p:cNvPr id="506" name="t505"/>
          <p:cNvSpPr txBox="1"/>
          <p:nvPr/>
        </p:nvSpPr>
        <p:spPr>
          <a:xfrm>
            <a:off x="7232904" y="4681728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procedure-code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08" name="t507"/>
          <p:cNvSpPr txBox="1"/>
          <p:nvPr/>
        </p:nvSpPr>
        <p:spPr>
          <a:xfrm>
            <a:off x="7232904" y="5129784"/>
            <a:ext cx="41605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0B1F33"/>
                </a:solidFill>
                <a:latin typeface="Consolas"/>
                <a:cs typeface="Consolas"/>
              </a:rPr>
              <a:t>allergyintolerance</a:t>
            </a:r>
            <a:r>
              <a:rPr lang="en-US" sz="1200" b="0" dirty="0">
                <a:solidFill>
                  <a:srgbClr val="94A4B0"/>
                </a:solidFill>
                <a:latin typeface="Calibri"/>
                <a:cs typeface="Calibri"/>
              </a:rPr>
              <a:t>   →   </a:t>
            </a:r>
            <a:r>
              <a:rPr lang="en-US" sz="1200" b="1" dirty="0">
                <a:solidFill>
                  <a:srgbClr val="0E9C8A"/>
                </a:solidFill>
                <a:latin typeface="Consolas"/>
                <a:cs typeface="Consolas"/>
              </a:rPr>
              <a:t>SNOMED CT</a:t>
            </a:r>
          </a:p>
        </p:txBody>
      </p:sp>
      <p:sp>
        <p:nvSpPr>
          <p:cNvPr id="510" name="t509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Not just structurally valid — semantically valid.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t78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F2A93B"/>
                </a:solidFill>
                <a:latin typeface="Trebuchet MS"/>
                <a:cs typeface="Trebuchet MS"/>
              </a:rPr>
              <a:t>THE HARD PART</a:t>
            </a:r>
          </a:p>
        </p:txBody>
      </p:sp>
      <p:sp>
        <p:nvSpPr>
          <p:cNvPr id="788" name="t78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Clinical correlation is a design constraint.</a:t>
            </a:r>
          </a:p>
        </p:txBody>
      </p:sp>
      <p:sp>
        <p:nvSpPr>
          <p:cNvPr id="790" name="t789"/>
          <p:cNvSpPr txBox="1"/>
          <p:nvPr/>
        </p:nvSpPr>
        <p:spPr>
          <a:xfrm>
            <a:off x="566928" y="173736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0" dirty="0">
                <a:solidFill>
                  <a:srgbClr val="33485A"/>
                </a:solidFill>
                <a:latin typeface="Calibri"/>
                <a:cs typeface="Calibri"/>
              </a:rPr>
              <a:t>Random ≠ realistic. Vitals can’t be independent random values.</a:t>
            </a:r>
          </a:p>
        </p:txBody>
      </p:sp>
      <p:sp>
        <p:nvSpPr>
          <p:cNvPr id="792" name="t791"/>
          <p:cNvSpPr txBox="1"/>
          <p:nvPr/>
        </p:nvSpPr>
        <p:spPr>
          <a:xfrm>
            <a:off x="566928" y="2395728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BMI must correlate with obesity-related conditions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Blood glucose must track the diabetes diagnosis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HbA1c &gt; 6.5 if diabetic; systolic BP up with hypertension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F2A93B"/>
                </a:solidFill>
                <a:latin typeface="Calibri"/>
                <a:cs typeface="Calibri"/>
              </a:rPr>
              <a:t>▸  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Lab values must be physiologically plausible together</a:t>
            </a:r>
          </a:p>
        </p:txBody>
      </p:sp>
      <p:sp>
        <p:nvSpPr>
          <p:cNvPr id="794" name="r793"/>
          <p:cNvSpPr/>
          <p:nvPr/>
        </p:nvSpPr>
        <p:spPr>
          <a:xfrm>
            <a:off x="6922008" y="2395728"/>
            <a:ext cx="4709160" cy="3611880"/>
          </a:xfrm>
          <a:prstGeom prst="roundRect">
            <a:avLst>
              <a:gd name="adj" fmla="val 1265"/>
            </a:avLst>
          </a:prstGeom>
          <a:solidFill>
            <a:srgbClr val="0B1F33"/>
          </a:solidFill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96" name="t795"/>
          <p:cNvSpPr txBox="1"/>
          <p:nvPr/>
        </p:nvSpPr>
        <p:spPr>
          <a:xfrm>
            <a:off x="7251192" y="2670048"/>
            <a:ext cx="4105656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The FHIR spec tells you the </a:t>
            </a:r>
            <a:r>
              <a:rPr lang="en-US" sz="1600" b="1" dirty="0">
                <a:solidFill>
                  <a:srgbClr val="16C2AC"/>
                </a:solidFill>
                <a:latin typeface="Trebuchet MS"/>
                <a:cs typeface="Trebuchet MS"/>
              </a:rPr>
              <a:t>schema</a:t>
            </a: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buNone/>
            </a:pP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Clinical medicine tells you the </a:t>
            </a:r>
            <a:r>
              <a:rPr lang="en-US" sz="1600" b="1" dirty="0">
                <a:solidFill>
                  <a:srgbClr val="F2A93B"/>
                </a:solidFill>
                <a:latin typeface="Trebuchet MS"/>
                <a:cs typeface="Trebuchet MS"/>
              </a:rPr>
              <a:t>constraints</a:t>
            </a:r>
            <a:r>
              <a:rPr lang="en-US" sz="1600" b="0" dirty="0">
                <a:solidFill>
                  <a:srgbClr val="9DB2C7"/>
                </a:solidFill>
                <a:latin typeface="Calibri"/>
                <a:cs typeface="Calibri"/>
              </a:rPr>
              <a:t>.</a:t>
            </a:r>
          </a:p>
        </p:txBody>
      </p:sp>
      <p:cxnSp>
        <p:nvCxnSpPr>
          <p:cNvPr id="798" name="l797"/>
          <p:cNvCxnSpPr/>
          <p:nvPr/>
        </p:nvCxnSpPr>
        <p:spPr>
          <a:xfrm>
            <a:off x="7251192" y="4370832"/>
            <a:ext cx="4050792" cy="0"/>
          </a:xfrm>
          <a:prstGeom prst="line">
            <a:avLst/>
          </a:prstGeom>
          <a:ln w="12700" cap="rnd">
            <a:solidFill>
              <a:srgbClr val="26405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800" name="t799"/>
          <p:cNvSpPr txBox="1"/>
          <p:nvPr/>
        </p:nvSpPr>
        <p:spPr>
          <a:xfrm>
            <a:off x="7251192" y="4553712"/>
            <a:ext cx="4105656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BMI 18 + type-2 diabetes + normal glucose is valid FHIR — and useless for testing. Any test relying on correlation would pass for the wrong reason.</a:t>
            </a:r>
          </a:p>
        </p:txBody>
      </p:sp>
      <p:sp>
        <p:nvSpPr>
          <p:cNvPr id="802" name="t801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VitalSignCorrelationEngine models the physiology explicitly.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r64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48" name="t647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1 IN PRACTICE</a:t>
            </a:r>
          </a:p>
        </p:txBody>
      </p:sp>
      <p:sp>
        <p:nvSpPr>
          <p:cNvPr id="650" name="t649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Three lines. </a:t>
            </a:r>
          </a:p>
        </p:txBody>
      </p:sp>
      <p:sp>
        <p:nvSpPr>
          <p:cNvPr id="652" name="r651"/>
          <p:cNvSpPr/>
          <p:nvPr/>
        </p:nvSpPr>
        <p:spPr>
          <a:xfrm>
            <a:off x="566928" y="2103120"/>
            <a:ext cx="11064240" cy="3200400"/>
          </a:xfrm>
          <a:prstGeom prst="roundRect">
            <a:avLst>
              <a:gd name="adj" fmla="val 1285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4" name="r653"/>
          <p:cNvSpPr/>
          <p:nvPr/>
        </p:nvSpPr>
        <p:spPr>
          <a:xfrm>
            <a:off x="877824" y="234543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656" name="r655"/>
          <p:cNvSpPr/>
          <p:nvPr/>
        </p:nvSpPr>
        <p:spPr>
          <a:xfrm>
            <a:off x="1110996" y="234543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658" name="r657"/>
          <p:cNvSpPr/>
          <p:nvPr/>
        </p:nvSpPr>
        <p:spPr>
          <a:xfrm>
            <a:off x="1344168" y="234543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660" name="t659"/>
          <p:cNvSpPr txBox="1"/>
          <p:nvPr/>
        </p:nvSpPr>
        <p:spPr>
          <a:xfrm>
            <a:off x="1709928" y="226771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662" name="l661"/>
          <p:cNvCxnSpPr/>
          <p:nvPr/>
        </p:nvCxnSpPr>
        <p:spPr>
          <a:xfrm>
            <a:off x="566928" y="261518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664" name="t663"/>
          <p:cNvSpPr txBox="1"/>
          <p:nvPr/>
        </p:nvSpPr>
        <p:spPr>
          <a:xfrm>
            <a:off x="950976" y="2779776"/>
            <a:ext cx="10424160" cy="23774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schema =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FhirVersion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.R5.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GetSchemaProvider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();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faker 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SchemaBasedFhirResourceFaker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patient = faker.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Generate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"Patient"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);</a:t>
            </a:r>
          </a:p>
          <a:p>
            <a:pPr algn="l">
              <a:lnSpc>
                <a:spcPct val="118000"/>
              </a:lnSpc>
              <a:buNone/>
            </a:pPr>
            <a:r>
              <a:rPr lang="en-US" sz="900" b="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Valid R5 Patient — correct structure,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5C7488"/>
                </a:solidFill>
                <a:latin typeface="Consolas"/>
                <a:cs typeface="Consolas"/>
              </a:rPr>
              <a:t>// valid coded values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t51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LAYER 2 · FLUENT BUILDERS</a:t>
            </a:r>
          </a:p>
        </p:txBody>
      </p:sp>
      <p:sp>
        <p:nvSpPr>
          <p:cNvPr id="514" name="t5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Express clinical intent in C#.</a:t>
            </a:r>
          </a:p>
        </p:txBody>
      </p:sp>
      <p:sp>
        <p:nvSpPr>
          <p:cNvPr id="516" name="t515"/>
          <p:cNvSpPr txBox="1"/>
          <p:nvPr/>
        </p:nvSpPr>
        <p:spPr>
          <a:xfrm>
            <a:off x="566928" y="182880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0B1F33"/>
                </a:solidFill>
                <a:latin typeface="Consolas"/>
                <a:cs typeface="Consolas"/>
              </a:rPr>
              <a:t>ScenarioBuilder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is a fluent composition API. You don’t construct JSON — you describe what happened to a patient.</a:t>
            </a:r>
          </a:p>
        </p:txBody>
      </p:sp>
      <p:sp>
        <p:nvSpPr>
          <p:cNvPr id="518" name="t517"/>
          <p:cNvSpPr txBox="1"/>
          <p:nvPr/>
        </p:nvSpPr>
        <p:spPr>
          <a:xfrm>
            <a:off x="566928" y="30175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.WithPatient(p =&gt; p.WithAge(55))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.AddEncounter("Annual wellness visit")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.AddSubScenario(CommonScenarios.LipidPanel())</a:t>
            </a:r>
          </a:p>
          <a:p>
            <a:pPr marL="274320" indent="-274320" algn="l">
              <a:lnSpc>
                <a:spcPct val="120000"/>
              </a:lnSpc>
              <a:spcBef>
                <a:spcPts val="900"/>
              </a:spcBef>
              <a:buNone/>
            </a:pPr>
            <a:r>
              <a:rPr lang="en-US" sz="1300" b="1" dirty="0">
                <a:solidFill>
                  <a:srgbClr val="16C2AC"/>
                </a:solidFill>
                <a:latin typeface="Calibri"/>
                <a:cs typeface="Calibri"/>
              </a:rPr>
              <a:t>▸  </a:t>
            </a:r>
            <a:r>
              <a:rPr lang="en-US" sz="1300" b="1" dirty="0">
                <a:solidFill>
                  <a:srgbClr val="0B1F33"/>
                </a:solidFill>
                <a:latin typeface="Calibri"/>
                <a:cs typeface="Calibri"/>
              </a:rPr>
              <a:t>.AddProbabilisticBranch(0.15, ...)</a:t>
            </a:r>
          </a:p>
        </p:txBody>
      </p:sp>
      <p:sp>
        <p:nvSpPr>
          <p:cNvPr id="520" name="r519"/>
          <p:cNvSpPr/>
          <p:nvPr/>
        </p:nvSpPr>
        <p:spPr>
          <a:xfrm>
            <a:off x="6922008" y="2184400"/>
            <a:ext cx="4709160" cy="1193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22" name="r521"/>
          <p:cNvSpPr/>
          <p:nvPr/>
        </p:nvSpPr>
        <p:spPr>
          <a:xfrm>
            <a:off x="6922008" y="2184400"/>
            <a:ext cx="68580" cy="1193800"/>
          </a:xfrm>
          <a:prstGeom prst="roundRect">
            <a:avLst>
              <a:gd name="adj" fmla="val 50000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524" name="t523"/>
          <p:cNvSpPr txBox="1"/>
          <p:nvPr/>
        </p:nvSpPr>
        <p:spPr>
          <a:xfrm>
            <a:off x="7196328" y="2336800"/>
            <a:ext cx="425196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ProbabilisticBranchState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00" b="0" dirty="0">
                <a:solidFill>
                  <a:srgbClr val="16C2AC"/>
                </a:solidFill>
                <a:latin typeface="Consolas"/>
                <a:cs typeface="Consolas"/>
              </a:rPr>
              <a:t>.AddProbabilisticBranch(…)</a:t>
            </a:r>
          </a:p>
        </p:txBody>
      </p:sp>
      <p:sp>
        <p:nvSpPr>
          <p:cNvPr id="526" name="t525"/>
          <p:cNvSpPr txBox="1"/>
          <p:nvPr/>
        </p:nvSpPr>
        <p:spPr>
          <a:xfrm>
            <a:off x="7196328" y="2870200"/>
            <a:ext cx="420624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15% chance of hyperlipidemia — matches real-world prevalence</a:t>
            </a:r>
          </a:p>
        </p:txBody>
      </p:sp>
      <p:sp>
        <p:nvSpPr>
          <p:cNvPr id="528" name="r527"/>
          <p:cNvSpPr/>
          <p:nvPr/>
        </p:nvSpPr>
        <p:spPr>
          <a:xfrm>
            <a:off x="6922008" y="3479800"/>
            <a:ext cx="4709160" cy="1193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0" name="r529"/>
          <p:cNvSpPr/>
          <p:nvPr/>
        </p:nvSpPr>
        <p:spPr>
          <a:xfrm>
            <a:off x="6922008" y="3479800"/>
            <a:ext cx="68580" cy="1193800"/>
          </a:xfrm>
          <a:prstGeom prst="roundRect">
            <a:avLst>
              <a:gd name="adj" fmla="val 50000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532" name="t531"/>
          <p:cNvSpPr txBox="1"/>
          <p:nvPr/>
        </p:nvSpPr>
        <p:spPr>
          <a:xfrm>
            <a:off x="7196328" y="3632200"/>
            <a:ext cx="425196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VitalSignCorrelationEngine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00" b="0" dirty="0">
                <a:solidFill>
                  <a:srgbClr val="16C2AC"/>
                </a:solidFill>
                <a:latin typeface="Consolas"/>
                <a:cs typeface="Consolas"/>
              </a:rPr>
              <a:t>// applied automatically</a:t>
            </a:r>
          </a:p>
        </p:txBody>
      </p:sp>
      <p:sp>
        <p:nvSpPr>
          <p:cNvPr id="534" name="t533"/>
          <p:cNvSpPr txBox="1"/>
          <p:nvPr/>
        </p:nvSpPr>
        <p:spPr>
          <a:xfrm>
            <a:off x="7196328" y="4165600"/>
            <a:ext cx="420624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BMI correlates with conditions; labs stay physiologically plausible</a:t>
            </a:r>
          </a:p>
        </p:txBody>
      </p:sp>
      <p:sp>
        <p:nvSpPr>
          <p:cNvPr id="536" name="r535"/>
          <p:cNvSpPr/>
          <p:nvPr/>
        </p:nvSpPr>
        <p:spPr>
          <a:xfrm>
            <a:off x="6922008" y="4775200"/>
            <a:ext cx="4709160" cy="1193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38" name="r537"/>
          <p:cNvSpPr/>
          <p:nvPr/>
        </p:nvSpPr>
        <p:spPr>
          <a:xfrm>
            <a:off x="6922008" y="4775200"/>
            <a:ext cx="68580" cy="1193800"/>
          </a:xfrm>
          <a:prstGeom prst="roundRect">
            <a:avLst>
              <a:gd name="adj" fmla="val 50000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540" name="t539"/>
          <p:cNvSpPr txBox="1"/>
          <p:nvPr/>
        </p:nvSpPr>
        <p:spPr>
          <a:xfrm>
            <a:off x="7196328" y="4927600"/>
            <a:ext cx="425196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1F33"/>
                </a:solidFill>
                <a:latin typeface="Trebuchet MS"/>
                <a:cs typeface="Trebuchet MS"/>
              </a:rPr>
              <a:t>CommonScenarios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00" b="0" dirty="0">
                <a:solidFill>
                  <a:srgbClr val="16C2AC"/>
                </a:solidFill>
                <a:latin typeface="Consolas"/>
                <a:cs typeface="Consolas"/>
              </a:rPr>
              <a:t>CommonScenarios.LipidPanel()</a:t>
            </a:r>
          </a:p>
        </p:txBody>
      </p:sp>
      <p:sp>
        <p:nvSpPr>
          <p:cNvPr id="542" name="t541"/>
          <p:cNvSpPr txBox="1"/>
          <p:nvPr/>
        </p:nvSpPr>
        <p:spPr>
          <a:xfrm>
            <a:off x="7196328" y="5461000"/>
            <a:ext cx="420624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Reusable fragments: RecordVitalSigns, LipidPanel, BloodGlucose</a:t>
            </a:r>
          </a:p>
        </p:txBody>
      </p:sp>
      <p:sp>
        <p:nvSpPr>
          <p:cNvPr id="544" name="t543"/>
          <p:cNvSpPr txBox="1"/>
          <p:nvPr/>
        </p:nvSpPr>
        <p:spPr>
          <a:xfrm>
            <a:off x="566928" y="60533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The fluent API reads like a clinical protocol.</a:t>
            </a:r>
          </a:p>
        </p:txBody>
      </p:sp>
      <p:sp>
        <p:nvSpPr>
          <p:cNvPr id="2" name="cardColHeader">
            <a:extLst>
              <a:ext uri="{FF2B5EF4-FFF2-40B4-BE49-F238E27FC236}">
                <a16:creationId xmlns:a16="http://schemas.microsoft.com/office/drawing/2014/main" id="{CC4A4EE6-52D9-4157-BF25-0B0F22117B81}"/>
              </a:ext>
            </a:extLst>
          </p:cNvPr>
          <p:cNvSpPr txBox="1"/>
          <p:nvPr/>
        </p:nvSpPr>
        <p:spPr>
          <a:xfrm>
            <a:off x="7200900" y="1828800"/>
            <a:ext cx="44323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n-US" sz="1150" b="1">
                <a:solidFill>
                  <a:srgbClr val="16C2AC"/>
                </a:solidFill>
                <a:latin typeface="Trebuchet MS"/>
              </a:rPr>
              <a:t>BEHIND THE FLUENT CALLS</a:t>
            </a:r>
          </a:p>
        </p:txBody>
      </p:sp>
    </p:spTree>
    <p:extLst>
      <p:ext uri="{BB962C8B-B14F-4D97-AF65-F5344CB8AC3E}">
        <p14:creationId xmlns:p14="http://schemas.microsoft.com/office/powerpoint/2010/main" val="296292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r667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70" name="t669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2 IN PRACTICE</a:t>
            </a:r>
          </a:p>
        </p:txBody>
      </p:sp>
      <p:sp>
        <p:nvSpPr>
          <p:cNvPr id="672" name="t671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Fluent syntax for complex scenario building.</a:t>
            </a:r>
          </a:p>
        </p:txBody>
      </p:sp>
      <p:sp>
        <p:nvSpPr>
          <p:cNvPr id="674" name="r673"/>
          <p:cNvSpPr/>
          <p:nvPr/>
        </p:nvSpPr>
        <p:spPr>
          <a:xfrm>
            <a:off x="566928" y="2011680"/>
            <a:ext cx="11064240" cy="370332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76" name="r675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678" name="r677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680" name="r679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682" name="t681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684" name="l683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686" name="t685"/>
          <p:cNvSpPr txBox="1"/>
          <p:nvPr/>
        </p:nvSpPr>
        <p:spPr>
          <a:xfrm>
            <a:off x="950976" y="2688336"/>
            <a:ext cx="10424160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ctx =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ScenarioBuilder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(schema)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WithPatient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(p =&gt; p.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WithAge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55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WithGender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(g =&gt; g.Male))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AddEncounter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250" b="0" dirty="0">
                <a:solidFill>
                  <a:srgbClr val="8FD98B"/>
                </a:solidFill>
                <a:latin typeface="Consolas"/>
                <a:cs typeface="Consolas"/>
              </a:rPr>
              <a:t>"Annual wellness visit"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AddSubScenario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(CommonScenarios.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RecordVitalSigns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AddSubScenario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(CommonScenarios.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LipidPanel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AddProbabilisticBranch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    probability: </a:t>
            </a:r>
            <a:r>
              <a:rPr lang="en-US" sz="1250" b="0" dirty="0">
                <a:solidFill>
                  <a:srgbClr val="F0B760"/>
                </a:solidFill>
                <a:latin typeface="Consolas"/>
                <a:cs typeface="Consolas"/>
              </a:rPr>
              <a:t>0.15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    trueState: </a:t>
            </a:r>
            <a:r>
              <a:rPr lang="en-US" sz="125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250" b="0" dirty="0">
                <a:solidFill>
                  <a:srgbClr val="3FD9C4"/>
                </a:solidFill>
                <a:latin typeface="Consolas"/>
                <a:cs typeface="Consolas"/>
              </a:rPr>
              <a:t>ConditionOnsetState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{ Code = Conditions.Hyperlipidemia })</a:t>
            </a:r>
          </a:p>
          <a:p>
            <a:pPr algn="l">
              <a:lnSpc>
                <a:spcPct val="128000"/>
              </a:lnSpc>
              <a:buNone/>
            </a:pP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250" b="0" dirty="0">
                <a:solidFill>
                  <a:srgbClr val="6FC9EA"/>
                </a:solidFill>
                <a:latin typeface="Consolas"/>
                <a:cs typeface="Consolas"/>
              </a:rPr>
              <a:t>Build</a:t>
            </a:r>
            <a:r>
              <a:rPr lang="en-US" sz="1250" b="0" dirty="0">
                <a:solidFill>
                  <a:srgbClr val="E6EDF3"/>
                </a:solidFill>
                <a:latin typeface="Consolas"/>
                <a:cs typeface="Consolas"/>
              </a:rPr>
              <a:t>();</a:t>
            </a:r>
          </a:p>
        </p:txBody>
      </p:sp>
      <p:sp>
        <p:nvSpPr>
          <p:cNvPr id="688" name="t687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300" b="0" i="1" dirty="0">
                <a:solidFill>
                  <a:srgbClr val="9DB2C7"/>
                </a:solidFill>
                <a:latin typeface="Calibri"/>
                <a:cs typeface="Calibri"/>
              </a:rPr>
              <a:t>55-year-old male · wellness visit · vitals · 15% hyperlipidemia — correlated, not random.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54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3B82C4"/>
                </a:solidFill>
                <a:latin typeface="Trebuchet MS"/>
                <a:cs typeface="Trebuchet MS"/>
              </a:rPr>
              <a:t>LAYER 3 · PATIENT LIFECYCLES</a:t>
            </a:r>
          </a:p>
        </p:txBody>
      </p:sp>
      <p:sp>
        <p:nvSpPr>
          <p:cNvPr id="548" name="t54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A full life, simulated.</a:t>
            </a:r>
          </a:p>
        </p:txBody>
      </p:sp>
      <p:sp>
        <p:nvSpPr>
          <p:cNvPr id="550" name="t549"/>
          <p:cNvSpPr txBox="1"/>
          <p:nvPr/>
        </p:nvSpPr>
        <p:spPr>
          <a:xfrm>
            <a:off x="566928" y="1874520"/>
            <a:ext cx="585216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PatientLifecycleGenerator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age-based event scheduling, birth to today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DiseaseRiskCalculator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evidence-based, age-adjusted onset probabilities</a:t>
            </a:r>
          </a:p>
          <a:p>
            <a:pPr marL="274320" indent="-274320" algn="l">
              <a:lnSpc>
                <a:spcPct val="124000"/>
              </a:lnSpc>
              <a:spcBef>
                <a:spcPts val="1400"/>
              </a:spcBef>
              <a:buNone/>
            </a:pPr>
            <a:r>
              <a:rPr lang="en-US" sz="14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Wellness schedules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realistic visit frequency, pediatric vs adult</a:t>
            </a:r>
          </a:p>
        </p:txBody>
      </p:sp>
      <p:sp>
        <p:nvSpPr>
          <p:cNvPr id="552" name="t551"/>
          <p:cNvSpPr txBox="1"/>
          <p:nvPr/>
        </p:nvSpPr>
        <p:spPr>
          <a:xfrm>
            <a:off x="566928" y="3931920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180" dirty="0">
                <a:solidFill>
                  <a:srgbClr val="5E7382"/>
                </a:solidFill>
                <a:latin typeface="Trebuchet MS"/>
                <a:cs typeface="Trebuchet MS"/>
              </a:rPr>
              <a:t>PRE-BUILT ARCHETYPES</a:t>
            </a:r>
          </a:p>
        </p:txBody>
      </p:sp>
      <p:sp>
        <p:nvSpPr>
          <p:cNvPr id="554" name="t553"/>
          <p:cNvSpPr txBox="1"/>
          <p:nvPr/>
        </p:nvSpPr>
        <p:spPr>
          <a:xfrm>
            <a:off x="566928" y="4334256"/>
            <a:ext cx="585216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Healthy child (0–18)</a:t>
            </a:r>
          </a:p>
          <a:p>
            <a:pPr marL="274320" indent="-274320" algn="l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Typical adult (0–45)</a:t>
            </a:r>
          </a:p>
          <a:p>
            <a:pPr marL="274320" indent="-274320" algn="l">
              <a:lnSpc>
                <a:spcPct val="118000"/>
              </a:lnSpc>
              <a:spcBef>
                <a:spcPts val="700"/>
              </a:spcBef>
              <a:buNone/>
            </a:pPr>
            <a:r>
              <a:rPr lang="en-US" sz="1350" b="1" dirty="0">
                <a:solidFill>
                  <a:srgbClr val="3B82C4"/>
                </a:solidFill>
                <a:latin typeface="Calibri"/>
                <a:cs typeface="Calibri"/>
              </a:rPr>
              <a:t>▸  </a:t>
            </a:r>
            <a:r>
              <a:rPr lang="en-US" sz="1350" b="0" dirty="0">
                <a:solidFill>
                  <a:srgbClr val="33485A"/>
                </a:solidFill>
                <a:latin typeface="Calibri"/>
                <a:cs typeface="Calibri"/>
              </a:rPr>
              <a:t>Pediatric asthma · Elderly multi-morbidity</a:t>
            </a:r>
          </a:p>
        </p:txBody>
      </p:sp>
      <p:sp>
        <p:nvSpPr>
          <p:cNvPr id="556" name="r555"/>
          <p:cNvSpPr/>
          <p:nvPr/>
        </p:nvSpPr>
        <p:spPr>
          <a:xfrm>
            <a:off x="6830568" y="1874520"/>
            <a:ext cx="4800600" cy="4160520"/>
          </a:xfrm>
          <a:prstGeom prst="roundRect">
            <a:avLst>
              <a:gd name="adj" fmla="val 1098"/>
            </a:avLst>
          </a:prstGeom>
          <a:solidFill>
            <a:srgbClr val="0B1F33"/>
          </a:solidFill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58" name="r557"/>
          <p:cNvSpPr/>
          <p:nvPr/>
        </p:nvSpPr>
        <p:spPr>
          <a:xfrm>
            <a:off x="6830568" y="1874520"/>
            <a:ext cx="4800600" cy="77724"/>
          </a:xfrm>
          <a:prstGeom prst="roundRect">
            <a:avLst>
              <a:gd name="adj" fmla="val 50000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560" name="t559"/>
          <p:cNvSpPr txBox="1"/>
          <p:nvPr/>
        </p:nvSpPr>
        <p:spPr>
          <a:xfrm>
            <a:off x="7159752" y="2139696"/>
            <a:ext cx="42519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00" b="1" spc="120" dirty="0">
                <a:solidFill>
                  <a:srgbClr val="7FB4DA"/>
                </a:solidFill>
                <a:latin typeface="Trebuchet MS"/>
                <a:cs typeface="Trebuchet MS"/>
              </a:rPr>
              <a:t>ARCHETYPE · METABOLIC SYNDROME</a:t>
            </a:r>
          </a:p>
        </p:txBody>
      </p:sp>
      <p:sp>
        <p:nvSpPr>
          <p:cNvPr id="562" name="t561"/>
          <p:cNvSpPr txBox="1"/>
          <p:nvPr/>
        </p:nvSpPr>
        <p:spPr>
          <a:xfrm>
            <a:off x="7159752" y="2505456"/>
            <a:ext cx="42519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/>
                <a:cs typeface="Trebuchet MS"/>
              </a:rPr>
              <a:t>0 → 50 years, full trajectory</a:t>
            </a:r>
          </a:p>
        </p:txBody>
      </p:sp>
      <p:sp>
        <p:nvSpPr>
          <p:cNvPr id="564" name="t563"/>
          <p:cNvSpPr txBox="1"/>
          <p:nvPr/>
        </p:nvSpPr>
        <p:spPr>
          <a:xfrm>
            <a:off x="7159752" y="312724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40–45</a:t>
            </a:r>
          </a:p>
        </p:txBody>
      </p:sp>
      <p:sp>
        <p:nvSpPr>
          <p:cNvPr id="566" name="t565"/>
          <p:cNvSpPr txBox="1"/>
          <p:nvPr/>
        </p:nvSpPr>
        <p:spPr>
          <a:xfrm>
            <a:off x="7159752" y="35844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encounters</a:t>
            </a:r>
          </a:p>
        </p:txBody>
      </p:sp>
      <p:sp>
        <p:nvSpPr>
          <p:cNvPr id="568" name="t567"/>
          <p:cNvSpPr txBox="1"/>
          <p:nvPr/>
        </p:nvSpPr>
        <p:spPr>
          <a:xfrm>
            <a:off x="9262872" y="312724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3–6</a:t>
            </a:r>
          </a:p>
        </p:txBody>
      </p:sp>
      <p:sp>
        <p:nvSpPr>
          <p:cNvPr id="570" name="t569"/>
          <p:cNvSpPr txBox="1"/>
          <p:nvPr/>
        </p:nvSpPr>
        <p:spPr>
          <a:xfrm>
            <a:off x="9262872" y="35844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medications</a:t>
            </a:r>
          </a:p>
        </p:txBody>
      </p:sp>
      <p:sp>
        <p:nvSpPr>
          <p:cNvPr id="572" name="t571"/>
          <p:cNvSpPr txBox="1"/>
          <p:nvPr/>
        </p:nvSpPr>
        <p:spPr>
          <a:xfrm>
            <a:off x="7159752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150+</a:t>
            </a:r>
          </a:p>
        </p:txBody>
      </p:sp>
      <p:sp>
        <p:nvSpPr>
          <p:cNvPr id="574" name="t573"/>
          <p:cNvSpPr txBox="1"/>
          <p:nvPr/>
        </p:nvSpPr>
        <p:spPr>
          <a:xfrm>
            <a:off x="7159752" y="4370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vitals &amp; labs</a:t>
            </a:r>
          </a:p>
        </p:txBody>
      </p:sp>
      <p:sp>
        <p:nvSpPr>
          <p:cNvPr id="576" name="t575"/>
          <p:cNvSpPr txBox="1"/>
          <p:nvPr/>
        </p:nvSpPr>
        <p:spPr>
          <a:xfrm>
            <a:off x="9262872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2500" b="1" dirty="0">
                <a:solidFill>
                  <a:srgbClr val="16C2AC"/>
                </a:solidFill>
                <a:latin typeface="Trebuchet MS"/>
                <a:cs typeface="Trebuchet MS"/>
              </a:rPr>
              <a:t>100+</a:t>
            </a:r>
          </a:p>
        </p:txBody>
      </p:sp>
      <p:sp>
        <p:nvSpPr>
          <p:cNvPr id="578" name="t577"/>
          <p:cNvSpPr txBox="1"/>
          <p:nvPr/>
        </p:nvSpPr>
        <p:spPr>
          <a:xfrm>
            <a:off x="9262872" y="4370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total resources</a:t>
            </a:r>
          </a:p>
        </p:txBody>
      </p:sp>
      <p:sp>
        <p:nvSpPr>
          <p:cNvPr id="580" name="t579"/>
          <p:cNvSpPr txBox="1"/>
          <p:nvPr/>
        </p:nvSpPr>
        <p:spPr>
          <a:xfrm>
            <a:off x="7159752" y="5541264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50" b="0" i="1" dirty="0">
                <a:solidFill>
                  <a:srgbClr val="9DB2C7"/>
                </a:solidFill>
                <a:latin typeface="Calibri"/>
                <a:cs typeface="Calibri"/>
              </a:rPr>
              <a:t>Childhood visits → obesity → diabetes → escalation.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689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692" name="t691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LAYER 3 IN PRACTICE</a:t>
            </a:r>
          </a:p>
        </p:txBody>
      </p:sp>
      <p:sp>
        <p:nvSpPr>
          <p:cNvPr id="694" name="t693"/>
          <p:cNvSpPr txBox="1"/>
          <p:nvPr/>
        </p:nvSpPr>
        <p:spPr>
          <a:xfrm>
            <a:off x="566928" y="1152144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/>
                <a:cs typeface="Trebuchet MS"/>
              </a:rPr>
              <a:t>One patient. A full lifecycle.</a:t>
            </a:r>
          </a:p>
        </p:txBody>
      </p:sp>
      <p:sp>
        <p:nvSpPr>
          <p:cNvPr id="696" name="r695"/>
          <p:cNvSpPr/>
          <p:nvPr/>
        </p:nvSpPr>
        <p:spPr>
          <a:xfrm>
            <a:off x="566928" y="2011680"/>
            <a:ext cx="11064240" cy="4140200"/>
          </a:xfrm>
          <a:prstGeom prst="roundRect">
            <a:avLst>
              <a:gd name="adj" fmla="val 1111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98" name="r697"/>
          <p:cNvSpPr/>
          <p:nvPr/>
        </p:nvSpPr>
        <p:spPr>
          <a:xfrm>
            <a:off x="877824" y="2253996"/>
            <a:ext cx="105156" cy="105156"/>
          </a:xfrm>
          <a:prstGeom prst="ellipse">
            <a:avLst/>
          </a:prstGeom>
          <a:solidFill>
            <a:srgbClr val="FF5F57"/>
          </a:solidFill>
        </p:spPr>
        <p:txBody>
          <a:bodyPr/>
          <a:lstStyle/>
          <a:p>
            <a:endParaRPr/>
          </a:p>
        </p:txBody>
      </p:sp>
      <p:sp>
        <p:nvSpPr>
          <p:cNvPr id="700" name="r699"/>
          <p:cNvSpPr/>
          <p:nvPr/>
        </p:nvSpPr>
        <p:spPr>
          <a:xfrm>
            <a:off x="1110996" y="2253996"/>
            <a:ext cx="105156" cy="105156"/>
          </a:xfrm>
          <a:prstGeom prst="ellipse">
            <a:avLst/>
          </a:prstGeom>
          <a:solidFill>
            <a:srgbClr val="FEBC2E"/>
          </a:solidFill>
        </p:spPr>
        <p:txBody>
          <a:bodyPr/>
          <a:lstStyle/>
          <a:p>
            <a:endParaRPr/>
          </a:p>
        </p:txBody>
      </p:sp>
      <p:sp>
        <p:nvSpPr>
          <p:cNvPr id="702" name="r701"/>
          <p:cNvSpPr/>
          <p:nvPr/>
        </p:nvSpPr>
        <p:spPr>
          <a:xfrm>
            <a:off x="1344168" y="2253996"/>
            <a:ext cx="105156" cy="105156"/>
          </a:xfrm>
          <a:prstGeom prst="ellipse">
            <a:avLst/>
          </a:prstGeom>
          <a:solidFill>
            <a:srgbClr val="28C840"/>
          </a:solidFill>
        </p:spPr>
        <p:txBody>
          <a:bodyPr/>
          <a:lstStyle/>
          <a:p>
            <a:endParaRPr/>
          </a:p>
        </p:txBody>
      </p:sp>
      <p:sp>
        <p:nvSpPr>
          <p:cNvPr id="704" name="t703"/>
          <p:cNvSpPr txBox="1"/>
          <p:nvPr/>
        </p:nvSpPr>
        <p:spPr>
          <a:xfrm>
            <a:off x="1709928" y="2176272"/>
            <a:ext cx="9235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9DB2C7"/>
                </a:solidFill>
                <a:latin typeface="Consolas"/>
                <a:cs typeface="Consolas"/>
              </a:rPr>
              <a:t>C#</a:t>
            </a:r>
          </a:p>
        </p:txBody>
      </p:sp>
      <p:cxnSp>
        <p:nvCxnSpPr>
          <p:cNvPr id="706" name="l705"/>
          <p:cNvCxnSpPr/>
          <p:nvPr/>
        </p:nvCxnSpPr>
        <p:spPr>
          <a:xfrm>
            <a:off x="566928" y="2523744"/>
            <a:ext cx="11064240" cy="0"/>
          </a:xfrm>
          <a:prstGeom prst="line">
            <a:avLst/>
          </a:prstGeom>
          <a:ln w="12700" cap="rnd">
            <a:solidFill>
              <a:srgbClr val="23364F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08" name="t707"/>
          <p:cNvSpPr txBox="1"/>
          <p:nvPr/>
        </p:nvSpPr>
        <p:spPr>
          <a:xfrm>
            <a:off x="950976" y="2641600"/>
            <a:ext cx="10674096" cy="342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var 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lifecycle =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PatientLifecycleGenerator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(schemaProvider)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WithBirthYear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1980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WithGender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"female"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WithGivenName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"Jennifer"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WithFamilyName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"Martinez"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AddWellnessSchedule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(pediatric: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true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 adult: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true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AddImmunizationSchedule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()</a:t>
            </a:r>
          </a:p>
          <a:p>
            <a:pPr algn="l">
              <a:lnSpc>
                <a:spcPct val="60000"/>
              </a:lnSpc>
              <a:buNone/>
            </a:pPr>
            <a:endParaRPr lang="en-US" sz="1000" dirty="0"/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5C7488"/>
                </a:solidFill>
                <a:latin typeface="Consolas"/>
                <a:cs typeface="Consolas"/>
              </a:rPr>
              <a:t>    // Probabilistic Type 2 Diabetes (15% overall probability ages 40-65)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5C7488"/>
                </a:solidFill>
                <a:latin typeface="Consolas"/>
                <a:cs typeface="Consolas"/>
              </a:rPr>
              <a:t>    // Uses age-dependent risk calculation: age 45 baseline ~10%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AddProbabilisticCondition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"Type 2 Diabetes"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onsetAges: 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40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..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65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probability: 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0.15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scenarioFactory: sp =&gt;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new 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ScenarioBuilder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(sp)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AddConditionOnset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FhirCode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.Conditions.DiabetesType2, severity: </a:t>
            </a:r>
            <a:r>
              <a:rPr lang="en-US" sz="1000" b="0" dirty="0">
                <a:solidFill>
                  <a:srgbClr val="F0B760"/>
                </a:solidFill>
                <a:latin typeface="Consolas"/>
                <a:cs typeface="Consolas"/>
              </a:rPr>
              <a:t>2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            .</a:t>
            </a:r>
            <a:r>
              <a:rPr lang="en-US" sz="1000" b="0" dirty="0">
                <a:solidFill>
                  <a:srgbClr val="6FC9EA"/>
                </a:solidFill>
                <a:latin typeface="Consolas"/>
                <a:cs typeface="Consolas"/>
              </a:rPr>
              <a:t>AddMedicationOrder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(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FhirCode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.Medications.Metformin500mg, isChronic: </a:t>
            </a:r>
            <a:r>
              <a:rPr lang="en-US" sz="1000" b="0" dirty="0">
                <a:solidFill>
                  <a:srgbClr val="A78BF5"/>
                </a:solidFill>
                <a:latin typeface="Consolas"/>
                <a:cs typeface="Consolas"/>
              </a:rPr>
              <a:t>true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 frequency: </a:t>
            </a:r>
            <a:r>
              <a:rPr lang="en-US" sz="1000" b="0" dirty="0">
                <a:solidFill>
                  <a:srgbClr val="8FD98B"/>
                </a:solidFill>
                <a:latin typeface="Consolas"/>
                <a:cs typeface="Consolas"/>
              </a:rPr>
              <a:t>"BID"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, reasonCode: </a:t>
            </a:r>
            <a:r>
              <a:rPr lang="en-US" sz="1000" b="0" dirty="0">
                <a:solidFill>
                  <a:srgbClr val="3FD9C4"/>
                </a:solidFill>
                <a:latin typeface="Consolas"/>
                <a:cs typeface="Consolas"/>
              </a:rPr>
              <a:t>FhirCode</a:t>
            </a:r>
            <a:r>
              <a:rPr lang="en-US" sz="1000" b="0" dirty="0">
                <a:solidFill>
                  <a:srgbClr val="E6EDF3"/>
                </a:solidFill>
                <a:latin typeface="Consolas"/>
                <a:cs typeface="Consolas"/>
              </a:rPr>
              <a:t>.Conditions.DiabetesType2))</a:t>
            </a:r>
          </a:p>
        </p:txBody>
      </p:sp>
    </p:spTree>
    <p:extLst>
      <p:ext uri="{BB962C8B-B14F-4D97-AF65-F5344CB8AC3E}">
        <p14:creationId xmlns:p14="http://schemas.microsoft.com/office/powerpoint/2010/main" val="827490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581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8A6BF0"/>
                </a:solidFill>
                <a:latin typeface="Trebuchet MS"/>
                <a:cs typeface="Trebuchet MS"/>
              </a:rPr>
              <a:t>LAYER 4 · POPULATIONS</a:t>
            </a:r>
          </a:p>
        </p:txBody>
      </p:sp>
      <p:sp>
        <p:nvSpPr>
          <p:cNvPr id="584" name="t58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Model populations at scale.</a:t>
            </a:r>
          </a:p>
        </p:txBody>
      </p:sp>
      <p:sp>
        <p:nvSpPr>
          <p:cNvPr id="586" name="t585"/>
          <p:cNvSpPr txBox="1"/>
          <p:nvPr/>
        </p:nvSpPr>
        <p:spPr>
          <a:xfrm>
            <a:off x="566928" y="1874520"/>
            <a:ext cx="5669280" cy="457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74320" indent="-274320" algn="l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PopulationGenerator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large-scale cohort creation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11 cities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—2020 demographics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EthnicNameGenerator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culturally appropriate names via Bogus locales</a:t>
            </a:r>
          </a:p>
          <a:p>
            <a:pPr marL="274320" indent="-274320" algn="l">
              <a:lnSpc>
                <a:spcPct val="124000"/>
              </a:lnSpc>
              <a:spcBef>
                <a:spcPts val="1300"/>
              </a:spcBef>
              <a:buNone/>
            </a:pPr>
            <a:r>
              <a:rPr lang="en-US" sz="1450" b="1" dirty="0">
                <a:solidFill>
                  <a:srgbClr val="8A6BF0"/>
                </a:solidFill>
                <a:latin typeface="Calibri"/>
                <a:cs typeface="Calibri"/>
              </a:rPr>
              <a:t>▸  </a:t>
            </a:r>
            <a:r>
              <a:rPr lang="en-US" sz="1450" b="1" dirty="0">
                <a:solidFill>
                  <a:srgbClr val="0B1F33"/>
                </a:solidFill>
                <a:latin typeface="Calibri"/>
                <a:cs typeface="Calibri"/>
              </a:rPr>
              <a:t>Full history per patient</a:t>
            </a:r>
            <a:r>
              <a:rPr lang="en-US" sz="1450" b="0" dirty="0">
                <a:solidFill>
                  <a:srgbClr val="33485A"/>
                </a:solidFill>
                <a:latin typeface="Calibri"/>
                <a:cs typeface="Calibri"/>
              </a:rPr>
              <a:t> — birth to current age</a:t>
            </a:r>
          </a:p>
        </p:txBody>
      </p:sp>
      <p:sp>
        <p:nvSpPr>
          <p:cNvPr id="588" name="r587"/>
          <p:cNvSpPr/>
          <p:nvPr/>
        </p:nvSpPr>
        <p:spPr>
          <a:xfrm>
            <a:off x="566928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EAFB"/>
          </a:solidFill>
        </p:spPr>
        <p:txBody>
          <a:bodyPr/>
          <a:lstStyle/>
          <a:p>
            <a:endParaRPr/>
          </a:p>
        </p:txBody>
      </p:sp>
      <p:sp>
        <p:nvSpPr>
          <p:cNvPr id="590" name="t589"/>
          <p:cNvSpPr txBox="1"/>
          <p:nvPr/>
        </p:nvSpPr>
        <p:spPr>
          <a:xfrm>
            <a:off x="841248" y="5138928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6000"/>
              </a:lnSpc>
            </a:pPr>
            <a:r>
              <a:rPr lang="en-US" sz="1400" b="1" dirty="0">
                <a:solidFill>
                  <a:srgbClr val="6D49E0"/>
                </a:solidFill>
                <a:latin typeface="Trebuchet MS"/>
                <a:cs typeface="Trebuchet MS"/>
              </a:rPr>
              <a:t>Boston ≠ Seattle ≠ Amsterdam</a:t>
            </a:r>
          </a:p>
          <a:p>
            <a:pPr algn="l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1150" b="0" dirty="0">
                <a:solidFill>
                  <a:srgbClr val="33485A"/>
                </a:solidFill>
                <a:latin typeface="Calibri"/>
                <a:cs typeface="Calibri"/>
              </a:rPr>
              <a:t>different age, race &amp; disease prevalence — the risk model is demographically aware</a:t>
            </a:r>
          </a:p>
        </p:txBody>
      </p:sp>
      <p:sp>
        <p:nvSpPr>
          <p:cNvPr id="592" name="r591"/>
          <p:cNvSpPr/>
          <p:nvPr/>
        </p:nvSpPr>
        <p:spPr>
          <a:xfrm>
            <a:off x="6647688" y="1874520"/>
            <a:ext cx="4983480" cy="4069080"/>
          </a:xfrm>
          <a:prstGeom prst="roundRect">
            <a:avLst>
              <a:gd name="adj" fmla="val 1123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94" name="t593"/>
          <p:cNvSpPr txBox="1"/>
          <p:nvPr/>
        </p:nvSpPr>
        <p:spPr>
          <a:xfrm>
            <a:off x="6958584" y="2084832"/>
            <a:ext cx="4434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6D49E0"/>
                </a:solidFill>
                <a:latin typeface="Trebuchet MS"/>
                <a:cs typeface="Trebuchet MS"/>
              </a:rPr>
              <a:t>CityDemographics</a:t>
            </a:r>
          </a:p>
        </p:txBody>
      </p:sp>
      <p:sp>
        <p:nvSpPr>
          <p:cNvPr id="596" name="r595"/>
          <p:cNvSpPr/>
          <p:nvPr/>
        </p:nvSpPr>
        <p:spPr>
          <a:xfrm>
            <a:off x="6922008" y="2505456"/>
            <a:ext cx="4434840" cy="420624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598" name="t597"/>
          <p:cNvSpPr txBox="1"/>
          <p:nvPr/>
        </p:nvSpPr>
        <p:spPr>
          <a:xfrm>
            <a:off x="6986016" y="2505456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City</a:t>
            </a:r>
          </a:p>
        </p:txBody>
      </p:sp>
      <p:sp>
        <p:nvSpPr>
          <p:cNvPr id="600" name="t599"/>
          <p:cNvSpPr txBox="1"/>
          <p:nvPr/>
        </p:nvSpPr>
        <p:spPr>
          <a:xfrm>
            <a:off x="8769096" y="2505456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Pop.</a:t>
            </a:r>
          </a:p>
        </p:txBody>
      </p:sp>
      <p:sp>
        <p:nvSpPr>
          <p:cNvPr id="602" name="t601"/>
          <p:cNvSpPr txBox="1"/>
          <p:nvPr/>
        </p:nvSpPr>
        <p:spPr>
          <a:xfrm>
            <a:off x="9729216" y="2505456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0–17</a:t>
            </a:r>
          </a:p>
        </p:txBody>
      </p:sp>
      <p:sp>
        <p:nvSpPr>
          <p:cNvPr id="604" name="t603"/>
          <p:cNvSpPr txBox="1"/>
          <p:nvPr/>
        </p:nvSpPr>
        <p:spPr>
          <a:xfrm>
            <a:off x="10597896" y="2505456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65+</a:t>
            </a:r>
          </a:p>
        </p:txBody>
      </p:sp>
      <p:sp>
        <p:nvSpPr>
          <p:cNvPr id="606" name="t605"/>
          <p:cNvSpPr txBox="1"/>
          <p:nvPr/>
        </p:nvSpPr>
        <p:spPr>
          <a:xfrm>
            <a:off x="6986016" y="2926080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New York</a:t>
            </a:r>
          </a:p>
        </p:txBody>
      </p:sp>
      <p:sp>
        <p:nvSpPr>
          <p:cNvPr id="608" name="t607"/>
          <p:cNvSpPr txBox="1"/>
          <p:nvPr/>
        </p:nvSpPr>
        <p:spPr>
          <a:xfrm>
            <a:off x="8769096" y="2926080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8.3M</a:t>
            </a:r>
          </a:p>
        </p:txBody>
      </p:sp>
      <p:sp>
        <p:nvSpPr>
          <p:cNvPr id="610" name="t609"/>
          <p:cNvSpPr txBox="1"/>
          <p:nvPr/>
        </p:nvSpPr>
        <p:spPr>
          <a:xfrm>
            <a:off x="9729216" y="2926080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21%</a:t>
            </a:r>
          </a:p>
        </p:txBody>
      </p:sp>
      <p:sp>
        <p:nvSpPr>
          <p:cNvPr id="612" name="t611"/>
          <p:cNvSpPr txBox="1"/>
          <p:nvPr/>
        </p:nvSpPr>
        <p:spPr>
          <a:xfrm>
            <a:off x="10597896" y="2926080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10%</a:t>
            </a:r>
          </a:p>
        </p:txBody>
      </p:sp>
      <p:sp>
        <p:nvSpPr>
          <p:cNvPr id="614" name="r613"/>
          <p:cNvSpPr/>
          <p:nvPr/>
        </p:nvSpPr>
        <p:spPr>
          <a:xfrm>
            <a:off x="6922008" y="3346704"/>
            <a:ext cx="4434840" cy="420624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616" name="t615"/>
          <p:cNvSpPr txBox="1"/>
          <p:nvPr/>
        </p:nvSpPr>
        <p:spPr>
          <a:xfrm>
            <a:off x="6986016" y="3346704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Chicago</a:t>
            </a:r>
          </a:p>
        </p:txBody>
      </p:sp>
      <p:sp>
        <p:nvSpPr>
          <p:cNvPr id="618" name="t617"/>
          <p:cNvSpPr txBox="1"/>
          <p:nvPr/>
        </p:nvSpPr>
        <p:spPr>
          <a:xfrm>
            <a:off x="8769096" y="3346704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2.7M</a:t>
            </a:r>
          </a:p>
        </p:txBody>
      </p:sp>
      <p:sp>
        <p:nvSpPr>
          <p:cNvPr id="620" name="t619"/>
          <p:cNvSpPr txBox="1"/>
          <p:nvPr/>
        </p:nvSpPr>
        <p:spPr>
          <a:xfrm>
            <a:off x="9729216" y="3346704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21%</a:t>
            </a:r>
          </a:p>
        </p:txBody>
      </p:sp>
      <p:sp>
        <p:nvSpPr>
          <p:cNvPr id="622" name="t621"/>
          <p:cNvSpPr txBox="1"/>
          <p:nvPr/>
        </p:nvSpPr>
        <p:spPr>
          <a:xfrm>
            <a:off x="10597896" y="3346704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9%</a:t>
            </a:r>
          </a:p>
        </p:txBody>
      </p:sp>
      <p:sp>
        <p:nvSpPr>
          <p:cNvPr id="624" name="t623"/>
          <p:cNvSpPr txBox="1"/>
          <p:nvPr/>
        </p:nvSpPr>
        <p:spPr>
          <a:xfrm>
            <a:off x="6986016" y="3767328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Boston</a:t>
            </a:r>
          </a:p>
        </p:txBody>
      </p:sp>
      <p:sp>
        <p:nvSpPr>
          <p:cNvPr id="626" name="t625"/>
          <p:cNvSpPr txBox="1"/>
          <p:nvPr/>
        </p:nvSpPr>
        <p:spPr>
          <a:xfrm>
            <a:off x="8769096" y="3767328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676K</a:t>
            </a:r>
          </a:p>
        </p:txBody>
      </p:sp>
      <p:sp>
        <p:nvSpPr>
          <p:cNvPr id="628" name="t627"/>
          <p:cNvSpPr txBox="1"/>
          <p:nvPr/>
        </p:nvSpPr>
        <p:spPr>
          <a:xfrm>
            <a:off x="9729216" y="3767328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17%</a:t>
            </a:r>
          </a:p>
        </p:txBody>
      </p:sp>
      <p:sp>
        <p:nvSpPr>
          <p:cNvPr id="630" name="t629"/>
          <p:cNvSpPr txBox="1"/>
          <p:nvPr/>
        </p:nvSpPr>
        <p:spPr>
          <a:xfrm>
            <a:off x="10597896" y="3767328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12%</a:t>
            </a:r>
          </a:p>
        </p:txBody>
      </p:sp>
      <p:sp>
        <p:nvSpPr>
          <p:cNvPr id="632" name="r631"/>
          <p:cNvSpPr/>
          <p:nvPr/>
        </p:nvSpPr>
        <p:spPr>
          <a:xfrm>
            <a:off x="6922008" y="4187952"/>
            <a:ext cx="4434840" cy="420624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634" name="t633"/>
          <p:cNvSpPr txBox="1"/>
          <p:nvPr/>
        </p:nvSpPr>
        <p:spPr>
          <a:xfrm>
            <a:off x="6986016" y="4187952"/>
            <a:ext cx="17830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Seattle</a:t>
            </a:r>
          </a:p>
        </p:txBody>
      </p:sp>
      <p:sp>
        <p:nvSpPr>
          <p:cNvPr id="636" name="t635"/>
          <p:cNvSpPr txBox="1"/>
          <p:nvPr/>
        </p:nvSpPr>
        <p:spPr>
          <a:xfrm>
            <a:off x="8769096" y="4187952"/>
            <a:ext cx="9601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737K</a:t>
            </a:r>
          </a:p>
        </p:txBody>
      </p:sp>
      <p:sp>
        <p:nvSpPr>
          <p:cNvPr id="638" name="t637"/>
          <p:cNvSpPr txBox="1"/>
          <p:nvPr/>
        </p:nvSpPr>
        <p:spPr>
          <a:xfrm>
            <a:off x="9729216" y="4187952"/>
            <a:ext cx="86868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16%</a:t>
            </a:r>
          </a:p>
        </p:txBody>
      </p:sp>
      <p:sp>
        <p:nvSpPr>
          <p:cNvPr id="640" name="t639"/>
          <p:cNvSpPr txBox="1"/>
          <p:nvPr/>
        </p:nvSpPr>
        <p:spPr>
          <a:xfrm>
            <a:off x="10597896" y="4187952"/>
            <a:ext cx="77724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100" b="0" dirty="0">
                <a:solidFill>
                  <a:srgbClr val="0B1F33"/>
                </a:solidFill>
                <a:latin typeface="Calibri"/>
                <a:cs typeface="Calibri"/>
              </a:rPr>
              <a:t>12%</a:t>
            </a:r>
          </a:p>
        </p:txBody>
      </p:sp>
      <p:sp>
        <p:nvSpPr>
          <p:cNvPr id="642" name="t641"/>
          <p:cNvSpPr txBox="1"/>
          <p:nvPr/>
        </p:nvSpPr>
        <p:spPr>
          <a:xfrm>
            <a:off x="6958584" y="4773168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6000"/>
              </a:lnSpc>
              <a:buNone/>
            </a:pPr>
            <a:r>
              <a:rPr lang="en-US" sz="1150" b="1" dirty="0">
                <a:solidFill>
                  <a:srgbClr val="0B1F33"/>
                </a:solidFill>
                <a:latin typeface="Calibri"/>
                <a:cs typeface="Calibri"/>
              </a:rPr>
              <a:t>Boston race split: </a:t>
            </a:r>
            <a:r>
              <a:rPr lang="en-US" sz="1150" b="0" dirty="0">
                <a:solidFill>
                  <a:srgbClr val="33485A"/>
                </a:solidFill>
                <a:latin typeface="Calibri"/>
                <a:cs typeface="Calibri"/>
              </a:rPr>
              <a:t>53% White · 25% Black · 19% Hispanic · 9% Asian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r711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714" name="r713"/>
          <p:cNvSpPr/>
          <p:nvPr/>
        </p:nvSpPr>
        <p:spPr>
          <a:xfrm>
            <a:off x="566928" y="1417320"/>
            <a:ext cx="1783080" cy="566928"/>
          </a:xfrm>
          <a:prstGeom prst="roundRect">
            <a:avLst>
              <a:gd name="adj" fmla="val 19354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716" name="t715"/>
          <p:cNvSpPr txBox="1"/>
          <p:nvPr/>
        </p:nvSpPr>
        <p:spPr>
          <a:xfrm>
            <a:off x="566928" y="1431036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900" b="1" dirty="0">
                <a:solidFill>
                  <a:srgbClr val="0E1B2E"/>
                </a:solidFill>
                <a:latin typeface="Trebuchet MS"/>
                <a:cs typeface="Trebuchet MS"/>
              </a:rPr>
              <a:t>DEMO 1</a:t>
            </a:r>
          </a:p>
        </p:txBody>
      </p:sp>
      <p:sp>
        <p:nvSpPr>
          <p:cNvPr id="718" name="t717"/>
          <p:cNvSpPr txBox="1"/>
          <p:nvPr/>
        </p:nvSpPr>
        <p:spPr>
          <a:xfrm>
            <a:off x="566928" y="2331720"/>
            <a:ext cx="1060704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/>
                <a:cs typeface="Trebuchet MS"/>
              </a:rPr>
              <a:t>Let’s generate some patients.</a:t>
            </a:r>
          </a:p>
        </p:txBody>
      </p:sp>
      <p:sp>
        <p:nvSpPr>
          <p:cNvPr id="720" name="t719"/>
          <p:cNvSpPr txBox="1"/>
          <p:nvPr/>
        </p:nvSpPr>
        <p:spPr>
          <a:xfrm>
            <a:off x="566928" y="345643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16C2AC"/>
                </a:solidFill>
                <a:latin typeface="Calibri"/>
                <a:cs typeface="Calibri"/>
              </a:rPr>
              <a:t>resource  →  scenario  →  population</a:t>
            </a:r>
          </a:p>
        </p:txBody>
      </p:sp>
      <p:sp>
        <p:nvSpPr>
          <p:cNvPr id="722" name="r721"/>
          <p:cNvSpPr/>
          <p:nvPr/>
        </p:nvSpPr>
        <p:spPr>
          <a:xfrm>
            <a:off x="566928" y="4370832"/>
            <a:ext cx="11064240" cy="841248"/>
          </a:xfrm>
          <a:prstGeom prst="roundRect">
            <a:avLst>
              <a:gd name="adj" fmla="val 6521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24" name="t723"/>
          <p:cNvSpPr txBox="1"/>
          <p:nvPr/>
        </p:nvSpPr>
        <p:spPr>
          <a:xfrm>
            <a:off x="932688" y="4608576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400" b="0" dirty="0">
                <a:solidFill>
                  <a:srgbClr val="E6EDF3"/>
                </a:solidFill>
                <a:latin typeface="Consolas"/>
                <a:cs typeface="Consolas"/>
              </a:rPr>
              <a:t>ignixa-fakes r4 population --from Seattle --count 50 --ndjson --out ./output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t725"/>
          <p:cNvSpPr txBox="1"/>
          <p:nvPr/>
        </p:nvSpPr>
        <p:spPr>
          <a:xfrm>
            <a:off x="566928" y="71323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1" spc="260" dirty="0">
                <a:solidFill>
                  <a:srgbClr val="16C2AC"/>
                </a:solidFill>
                <a:latin typeface="Trebuchet MS"/>
                <a:cs typeface="Trebuchet MS"/>
              </a:rPr>
              <a:t>CLI REFERENCE</a:t>
            </a:r>
          </a:p>
        </p:txBody>
      </p:sp>
      <p:sp>
        <p:nvSpPr>
          <p:cNvPr id="728" name="t727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One tool, every shape of data.</a:t>
            </a:r>
          </a:p>
        </p:txBody>
      </p:sp>
      <p:sp>
        <p:nvSpPr>
          <p:cNvPr id="730" name="r729"/>
          <p:cNvSpPr/>
          <p:nvPr/>
        </p:nvSpPr>
        <p:spPr>
          <a:xfrm>
            <a:off x="566928" y="1828800"/>
            <a:ext cx="11064240" cy="493776"/>
          </a:xfrm>
          <a:prstGeom prst="rect">
            <a:avLst/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732" name="t731"/>
          <p:cNvSpPr txBox="1"/>
          <p:nvPr/>
        </p:nvSpPr>
        <p:spPr>
          <a:xfrm>
            <a:off x="841248" y="1828800"/>
            <a:ext cx="6400800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/>
                <a:cs typeface="Trebuchet MS"/>
              </a:rPr>
              <a:t>Command</a:t>
            </a:r>
          </a:p>
        </p:txBody>
      </p:sp>
      <p:sp>
        <p:nvSpPr>
          <p:cNvPr id="734" name="t733"/>
          <p:cNvSpPr txBox="1"/>
          <p:nvPr/>
        </p:nvSpPr>
        <p:spPr>
          <a:xfrm>
            <a:off x="7333488" y="1828800"/>
            <a:ext cx="4114800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/>
                <a:cs typeface="Trebuchet MS"/>
              </a:rPr>
              <a:t>Output</a:t>
            </a:r>
          </a:p>
        </p:txBody>
      </p:sp>
      <p:sp>
        <p:nvSpPr>
          <p:cNvPr id="736" name="t735"/>
          <p:cNvSpPr txBox="1"/>
          <p:nvPr/>
        </p:nvSpPr>
        <p:spPr>
          <a:xfrm>
            <a:off x="841248" y="2322576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resource Patient</a:t>
            </a:r>
          </a:p>
        </p:txBody>
      </p:sp>
      <p:sp>
        <p:nvSpPr>
          <p:cNvPr id="738" name="t737"/>
          <p:cNvSpPr txBox="1"/>
          <p:nvPr/>
        </p:nvSpPr>
        <p:spPr>
          <a:xfrm>
            <a:off x="7333488" y="2322576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Single Patient JSON</a:t>
            </a:r>
          </a:p>
        </p:txBody>
      </p:sp>
      <p:sp>
        <p:nvSpPr>
          <p:cNvPr id="740" name="r739"/>
          <p:cNvSpPr/>
          <p:nvPr/>
        </p:nvSpPr>
        <p:spPr>
          <a:xfrm>
            <a:off x="566928" y="2830068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42" name="t741"/>
          <p:cNvSpPr txBox="1"/>
          <p:nvPr/>
        </p:nvSpPr>
        <p:spPr>
          <a:xfrm>
            <a:off x="841248" y="2830068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resource Observation BloodGlucose</a:t>
            </a:r>
          </a:p>
        </p:txBody>
      </p:sp>
      <p:sp>
        <p:nvSpPr>
          <p:cNvPr id="744" name="t743"/>
          <p:cNvSpPr txBox="1"/>
          <p:nvPr/>
        </p:nvSpPr>
        <p:spPr>
          <a:xfrm>
            <a:off x="7333488" y="2830068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Observation with predefined state</a:t>
            </a:r>
          </a:p>
        </p:txBody>
      </p:sp>
      <p:sp>
        <p:nvSpPr>
          <p:cNvPr id="746" name="t745"/>
          <p:cNvSpPr txBox="1"/>
          <p:nvPr/>
        </p:nvSpPr>
        <p:spPr>
          <a:xfrm>
            <a:off x="841248" y="3337560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scenario DiabeticPatient</a:t>
            </a:r>
          </a:p>
        </p:txBody>
      </p:sp>
      <p:sp>
        <p:nvSpPr>
          <p:cNvPr id="748" name="t747"/>
          <p:cNvSpPr txBox="1"/>
          <p:nvPr/>
        </p:nvSpPr>
        <p:spPr>
          <a:xfrm>
            <a:off x="7333488" y="3337560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Bundle with full clinical scenario</a:t>
            </a:r>
          </a:p>
        </p:txBody>
      </p:sp>
      <p:sp>
        <p:nvSpPr>
          <p:cNvPr id="750" name="r749"/>
          <p:cNvSpPr/>
          <p:nvPr/>
        </p:nvSpPr>
        <p:spPr>
          <a:xfrm>
            <a:off x="566928" y="3845052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52" name="t751"/>
          <p:cNvSpPr txBox="1"/>
          <p:nvPr/>
        </p:nvSpPr>
        <p:spPr>
          <a:xfrm>
            <a:off x="841248" y="3845052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--from Seattle --count 100</a:t>
            </a:r>
          </a:p>
        </p:txBody>
      </p:sp>
      <p:sp>
        <p:nvSpPr>
          <p:cNvPr id="754" name="t753"/>
          <p:cNvSpPr txBox="1"/>
          <p:nvPr/>
        </p:nvSpPr>
        <p:spPr>
          <a:xfrm>
            <a:off x="7333488" y="3845052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Transaction bundle — temp urn:uuid refs</a:t>
            </a:r>
          </a:p>
        </p:txBody>
      </p:sp>
      <p:sp>
        <p:nvSpPr>
          <p:cNvPr id="756" name="t755"/>
          <p:cNvSpPr txBox="1"/>
          <p:nvPr/>
        </p:nvSpPr>
        <p:spPr>
          <a:xfrm>
            <a:off x="841248" y="4352544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--count 100 </a:t>
            </a:r>
            <a:r>
              <a:rPr lang="en-US" sz="1200" b="0" dirty="0">
                <a:solidFill>
                  <a:srgbClr val="FF0000"/>
                </a:solidFill>
                <a:latin typeface="Consolas"/>
                <a:cs typeface="Consolas"/>
              </a:rPr>
              <a:t>--resolved-references</a:t>
            </a:r>
          </a:p>
        </p:txBody>
      </p:sp>
      <p:sp>
        <p:nvSpPr>
          <p:cNvPr id="758" name="t757"/>
          <p:cNvSpPr txBox="1"/>
          <p:nvPr/>
        </p:nvSpPr>
        <p:spPr>
          <a:xfrm>
            <a:off x="7333488" y="4352544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Resolved batch bundle — real IDs</a:t>
            </a:r>
          </a:p>
        </p:txBody>
      </p:sp>
      <p:sp>
        <p:nvSpPr>
          <p:cNvPr id="760" name="r759"/>
          <p:cNvSpPr/>
          <p:nvPr/>
        </p:nvSpPr>
        <p:spPr>
          <a:xfrm>
            <a:off x="566928" y="4860036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762" name="t761"/>
          <p:cNvSpPr txBox="1"/>
          <p:nvPr/>
        </p:nvSpPr>
        <p:spPr>
          <a:xfrm>
            <a:off x="841248" y="4860036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r4 population --count 100 </a:t>
            </a:r>
            <a:r>
              <a:rPr lang="en-US" sz="1200" b="0" dirty="0">
                <a:solidFill>
                  <a:srgbClr val="FF0000"/>
                </a:solidFill>
                <a:latin typeface="Consolas"/>
                <a:cs typeface="Consolas"/>
              </a:rPr>
              <a:t>--ndjson</a:t>
            </a:r>
          </a:p>
        </p:txBody>
      </p:sp>
      <p:sp>
        <p:nvSpPr>
          <p:cNvPr id="764" name="t763"/>
          <p:cNvSpPr txBox="1"/>
          <p:nvPr/>
        </p:nvSpPr>
        <p:spPr>
          <a:xfrm>
            <a:off x="7333488" y="4860036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NDJSON — ready to test $import</a:t>
            </a:r>
          </a:p>
        </p:txBody>
      </p:sp>
      <p:sp>
        <p:nvSpPr>
          <p:cNvPr id="766" name="t765"/>
          <p:cNvSpPr txBox="1"/>
          <p:nvPr/>
        </p:nvSpPr>
        <p:spPr>
          <a:xfrm>
            <a:off x="841248" y="5367528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help scenarios</a:t>
            </a:r>
          </a:p>
        </p:txBody>
      </p:sp>
      <p:sp>
        <p:nvSpPr>
          <p:cNvPr id="768" name="t767"/>
          <p:cNvSpPr txBox="1"/>
          <p:nvPr/>
        </p:nvSpPr>
        <p:spPr>
          <a:xfrm>
            <a:off x="7333488" y="5367528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List all available scenarios</a:t>
            </a:r>
          </a:p>
        </p:txBody>
      </p:sp>
      <p:sp>
        <p:nvSpPr>
          <p:cNvPr id="770" name="r769"/>
          <p:cNvSpPr/>
          <p:nvPr/>
        </p:nvSpPr>
        <p:spPr>
          <a:xfrm>
            <a:off x="566928" y="1828800"/>
            <a:ext cx="11064240" cy="4553712"/>
          </a:xfrm>
          <a:prstGeom prst="rect">
            <a:avLst/>
          </a:prstGeom>
          <a:noFill/>
          <a:ln w="12700">
            <a:solidFill>
              <a:srgbClr val="DCE3E8"/>
            </a:solidFill>
          </a:ln>
        </p:spPr>
        <p:txBody>
          <a:bodyPr/>
          <a:lstStyle/>
          <a:p>
            <a:endParaRPr/>
          </a:p>
        </p:txBody>
      </p:sp>
      <p:cxnSp>
        <p:nvCxnSpPr>
          <p:cNvPr id="772" name="l771"/>
          <p:cNvCxnSpPr/>
          <p:nvPr/>
        </p:nvCxnSpPr>
        <p:spPr>
          <a:xfrm>
            <a:off x="7242048" y="1828800"/>
            <a:ext cx="0" cy="4553712"/>
          </a:xfrm>
          <a:prstGeom prst="line">
            <a:avLst/>
          </a:prstGeom>
          <a:ln w="12700" cap="rnd">
            <a:solidFill>
              <a:srgbClr val="DCE3E8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774" name="t773"/>
          <p:cNvSpPr txBox="1"/>
          <p:nvPr/>
        </p:nvSpPr>
        <p:spPr>
          <a:xfrm>
            <a:off x="566928" y="645160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E7382"/>
                </a:solidFill>
                <a:latin typeface="Calibri"/>
                <a:cs typeface="Calibri"/>
              </a:rPr>
              <a:t>Always: &lt;version&gt; &lt;command&gt; --out &lt;folder&gt; [options]</a:t>
            </a:r>
          </a:p>
        </p:txBody>
      </p:sp>
      <p:sp>
        <p:nvSpPr>
          <p:cNvPr id="900" name="r759"/>
          <p:cNvSpPr/>
          <p:nvPr/>
        </p:nvSpPr>
        <p:spPr>
          <a:xfrm>
            <a:off x="566928" y="5875020"/>
            <a:ext cx="11064240" cy="507492"/>
          </a:xfrm>
          <a:prstGeom prst="rect">
            <a:avLst/>
          </a:prstGeom>
          <a:solidFill>
            <a:srgbClr val="F4F7F9"/>
          </a:solidFill>
        </p:spPr>
        <p:txBody>
          <a:bodyPr/>
          <a:lstStyle/>
          <a:p>
            <a:endParaRPr/>
          </a:p>
        </p:txBody>
      </p:sp>
      <p:sp>
        <p:nvSpPr>
          <p:cNvPr id="901" name="t765"/>
          <p:cNvSpPr txBox="1"/>
          <p:nvPr/>
        </p:nvSpPr>
        <p:spPr>
          <a:xfrm>
            <a:off x="841248" y="5875020"/>
            <a:ext cx="6400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1A4A6E"/>
                </a:solidFill>
                <a:latin typeface="Consolas"/>
                <a:cs typeface="Consolas"/>
              </a:rPr>
              <a:t>ignixa-fakes help cities</a:t>
            </a:r>
          </a:p>
        </p:txBody>
      </p:sp>
      <p:sp>
        <p:nvSpPr>
          <p:cNvPr id="902" name="t767"/>
          <p:cNvSpPr txBox="1"/>
          <p:nvPr/>
        </p:nvSpPr>
        <p:spPr>
          <a:xfrm>
            <a:off x="7333488" y="5875020"/>
            <a:ext cx="4114800" cy="5074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50" b="0" dirty="0">
                <a:solidFill>
                  <a:srgbClr val="33485A"/>
                </a:solidFill>
                <a:latin typeface="Calibri"/>
                <a:cs typeface="Calibri"/>
              </a:rPr>
              <a:t>List cities + demographics</a:t>
            </a:r>
          </a:p>
        </p:txBody>
      </p:sp>
    </p:spTree>
    <p:extLst>
      <p:ext uri="{BB962C8B-B14F-4D97-AF65-F5344CB8AC3E}">
        <p14:creationId xmlns:p14="http://schemas.microsoft.com/office/powerpoint/2010/main" val="118742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413"/>
          <p:cNvSpPr txBox="1"/>
          <p:nvPr/>
        </p:nvSpPr>
        <p:spPr>
          <a:xfrm>
            <a:off x="566928" y="950976"/>
            <a:ext cx="11064240" cy="841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091B9"/>
                </a:solidFill>
                <a:latin typeface="Trebuchet MS"/>
                <a:cs typeface="Trebuchet MS"/>
              </a:rPr>
              <a:t>Known limits &amp; roadmap.</a:t>
            </a:r>
          </a:p>
        </p:txBody>
      </p:sp>
      <p:sp>
        <p:nvSpPr>
          <p:cNvPr id="416" name="r415"/>
          <p:cNvSpPr/>
          <p:nvPr/>
        </p:nvSpPr>
        <p:spPr>
          <a:xfrm>
            <a:off x="566928" y="5141976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8" name="r417"/>
          <p:cNvSpPr/>
          <p:nvPr/>
        </p:nvSpPr>
        <p:spPr>
          <a:xfrm>
            <a:off x="566928" y="5141976"/>
            <a:ext cx="786384" cy="969264"/>
          </a:xfrm>
          <a:prstGeom prst="roundRect">
            <a:avLst>
              <a:gd name="adj" fmla="val 5232"/>
            </a:avLst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0" name="r419"/>
          <p:cNvSpPr/>
          <p:nvPr/>
        </p:nvSpPr>
        <p:spPr>
          <a:xfrm>
            <a:off x="1280160" y="5141976"/>
            <a:ext cx="91440" cy="969264"/>
          </a:xfrm>
          <a:prstGeom prst="rect">
            <a:avLst/>
          </a:prstGeom>
          <a:solidFill>
            <a:srgbClr val="6D49E0"/>
          </a:solidFill>
        </p:spPr>
        <p:txBody>
          <a:bodyPr/>
          <a:lstStyle/>
          <a:p>
            <a:endParaRPr/>
          </a:p>
        </p:txBody>
      </p:sp>
      <p:sp>
        <p:nvSpPr>
          <p:cNvPr id="422" name="t421"/>
          <p:cNvSpPr txBox="1"/>
          <p:nvPr/>
        </p:nvSpPr>
        <p:spPr>
          <a:xfrm>
            <a:off x="566928" y="5141976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4</a:t>
            </a:r>
          </a:p>
        </p:txBody>
      </p:sp>
      <p:sp>
        <p:nvSpPr>
          <p:cNvPr id="424" name="t423"/>
          <p:cNvSpPr txBox="1"/>
          <p:nvPr/>
        </p:nvSpPr>
        <p:spPr>
          <a:xfrm>
            <a:off x="1554480" y="5292852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Testing &amp; scenarios</a:t>
            </a:r>
          </a:p>
        </p:txBody>
      </p:sp>
      <p:sp>
        <p:nvSpPr>
          <p:cNvPr id="426" name="t425"/>
          <p:cNvSpPr txBox="1"/>
          <p:nvPr/>
        </p:nvSpPr>
        <p:spPr>
          <a:xfrm>
            <a:off x="1554480" y="5686044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Deep setup / teardown nesting</a:t>
            </a:r>
          </a:p>
        </p:txBody>
      </p:sp>
      <p:cxnSp>
        <p:nvCxnSpPr>
          <p:cNvPr id="428" name="l427"/>
          <p:cNvCxnSpPr/>
          <p:nvPr/>
        </p:nvCxnSpPr>
        <p:spPr>
          <a:xfrm>
            <a:off x="6007608" y="5343144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30" name="t429"/>
          <p:cNvSpPr txBox="1"/>
          <p:nvPr/>
        </p:nvSpPr>
        <p:spPr>
          <a:xfrm>
            <a:off x="6236208" y="5141976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TestScript · TestReport · Questionnaire</a:t>
            </a:r>
          </a:p>
        </p:txBody>
      </p:sp>
      <p:sp>
        <p:nvSpPr>
          <p:cNvPr id="432" name="r431"/>
          <p:cNvSpPr/>
          <p:nvPr/>
        </p:nvSpPr>
        <p:spPr>
          <a:xfrm>
            <a:off x="566928" y="4050283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4" name="r433"/>
          <p:cNvSpPr/>
          <p:nvPr/>
        </p:nvSpPr>
        <p:spPr>
          <a:xfrm>
            <a:off x="566928" y="4050283"/>
            <a:ext cx="786384" cy="969264"/>
          </a:xfrm>
          <a:prstGeom prst="roundRect">
            <a:avLst>
              <a:gd name="adj" fmla="val 5232"/>
            </a:avLst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6" name="r435"/>
          <p:cNvSpPr/>
          <p:nvPr/>
        </p:nvSpPr>
        <p:spPr>
          <a:xfrm>
            <a:off x="1280160" y="4050283"/>
            <a:ext cx="91440" cy="969264"/>
          </a:xfrm>
          <a:prstGeom prst="rect">
            <a:avLst/>
          </a:prstGeom>
          <a:solidFill>
            <a:srgbClr val="3B82C4"/>
          </a:solidFill>
        </p:spPr>
        <p:txBody>
          <a:bodyPr/>
          <a:lstStyle/>
          <a:p>
            <a:endParaRPr/>
          </a:p>
        </p:txBody>
      </p:sp>
      <p:sp>
        <p:nvSpPr>
          <p:cNvPr id="438" name="t437"/>
          <p:cNvSpPr txBox="1"/>
          <p:nvPr/>
        </p:nvSpPr>
        <p:spPr>
          <a:xfrm>
            <a:off x="566928" y="4050283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3</a:t>
            </a:r>
          </a:p>
        </p:txBody>
      </p:sp>
      <p:sp>
        <p:nvSpPr>
          <p:cNvPr id="440" name="t439"/>
          <p:cNvSpPr txBox="1"/>
          <p:nvPr/>
        </p:nvSpPr>
        <p:spPr>
          <a:xfrm>
            <a:off x="1554480" y="4201160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Financial &amp; billing</a:t>
            </a:r>
          </a:p>
        </p:txBody>
      </p:sp>
      <p:sp>
        <p:nvSpPr>
          <p:cNvPr id="442" name="t441"/>
          <p:cNvSpPr txBox="1"/>
          <p:nvPr/>
        </p:nvSpPr>
        <p:spPr>
          <a:xfrm>
            <a:off x="1554480" y="4594352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Nested Money-type cardinality</a:t>
            </a:r>
          </a:p>
        </p:txBody>
      </p:sp>
      <p:cxnSp>
        <p:nvCxnSpPr>
          <p:cNvPr id="444" name="l443"/>
          <p:cNvCxnSpPr/>
          <p:nvPr/>
        </p:nvCxnSpPr>
        <p:spPr>
          <a:xfrm>
            <a:off x="6007608" y="4251452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46" name="t445"/>
          <p:cNvSpPr txBox="1"/>
          <p:nvPr/>
        </p:nvSpPr>
        <p:spPr>
          <a:xfrm>
            <a:off x="6236208" y="4050283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ClaimResponse · ExplanationOfBenefit · PaymentNotice</a:t>
            </a:r>
          </a:p>
        </p:txBody>
      </p:sp>
      <p:sp>
        <p:nvSpPr>
          <p:cNvPr id="448" name="r447"/>
          <p:cNvSpPr/>
          <p:nvPr/>
        </p:nvSpPr>
        <p:spPr>
          <a:xfrm>
            <a:off x="566928" y="2958591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0" name="r449"/>
          <p:cNvSpPr/>
          <p:nvPr/>
        </p:nvSpPr>
        <p:spPr>
          <a:xfrm>
            <a:off x="566928" y="2958591"/>
            <a:ext cx="786384" cy="969264"/>
          </a:xfrm>
          <a:prstGeom prst="roundRect">
            <a:avLst>
              <a:gd name="adj" fmla="val 5232"/>
            </a:avLst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2" name="r451"/>
          <p:cNvSpPr/>
          <p:nvPr/>
        </p:nvSpPr>
        <p:spPr>
          <a:xfrm>
            <a:off x="1280160" y="2958591"/>
            <a:ext cx="91440" cy="969264"/>
          </a:xfrm>
          <a:prstGeom prst="rect">
            <a:avLst/>
          </a:prstGeom>
          <a:solidFill>
            <a:srgbClr val="0E9C8A"/>
          </a:solidFill>
        </p:spPr>
        <p:txBody>
          <a:bodyPr/>
          <a:lstStyle/>
          <a:p>
            <a:endParaRPr/>
          </a:p>
        </p:txBody>
      </p:sp>
      <p:sp>
        <p:nvSpPr>
          <p:cNvPr id="454" name="t453"/>
          <p:cNvSpPr txBox="1"/>
          <p:nvPr/>
        </p:nvSpPr>
        <p:spPr>
          <a:xfrm>
            <a:off x="566928" y="2958591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2</a:t>
            </a:r>
          </a:p>
        </p:txBody>
      </p:sp>
      <p:sp>
        <p:nvSpPr>
          <p:cNvPr id="456" name="t455"/>
          <p:cNvSpPr txBox="1"/>
          <p:nvPr/>
        </p:nvSpPr>
        <p:spPr>
          <a:xfrm>
            <a:off x="1554480" y="3109467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Workflow &amp; decision support</a:t>
            </a:r>
          </a:p>
        </p:txBody>
      </p:sp>
      <p:sp>
        <p:nvSpPr>
          <p:cNvPr id="458" name="t457"/>
          <p:cNvSpPr txBox="1"/>
          <p:nvPr/>
        </p:nvSpPr>
        <p:spPr>
          <a:xfrm>
            <a:off x="1554480" y="3502660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Plan / measure / action structures</a:t>
            </a:r>
          </a:p>
        </p:txBody>
      </p:sp>
      <p:cxnSp>
        <p:nvCxnSpPr>
          <p:cNvPr id="460" name="l459"/>
          <p:cNvCxnSpPr/>
          <p:nvPr/>
        </p:nvCxnSpPr>
        <p:spPr>
          <a:xfrm>
            <a:off x="6007608" y="3159760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62" name="t461"/>
          <p:cNvSpPr txBox="1"/>
          <p:nvPr/>
        </p:nvSpPr>
        <p:spPr>
          <a:xfrm>
            <a:off x="6236208" y="2958591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PlanDefinition · Measure · ActivityDefinition</a:t>
            </a:r>
          </a:p>
        </p:txBody>
      </p:sp>
      <p:sp>
        <p:nvSpPr>
          <p:cNvPr id="464" name="r463"/>
          <p:cNvSpPr/>
          <p:nvPr/>
        </p:nvSpPr>
        <p:spPr>
          <a:xfrm>
            <a:off x="566928" y="1866900"/>
            <a:ext cx="8732520" cy="969264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3E8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66" name="r465"/>
          <p:cNvSpPr/>
          <p:nvPr/>
        </p:nvSpPr>
        <p:spPr>
          <a:xfrm>
            <a:off x="566928" y="1866900"/>
            <a:ext cx="786384" cy="969264"/>
          </a:xfrm>
          <a:prstGeom prst="roundRect">
            <a:avLst>
              <a:gd name="adj" fmla="val 5232"/>
            </a:avLst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68" name="r467"/>
          <p:cNvSpPr/>
          <p:nvPr/>
        </p:nvSpPr>
        <p:spPr>
          <a:xfrm>
            <a:off x="1280160" y="1866900"/>
            <a:ext cx="91440" cy="969264"/>
          </a:xfrm>
          <a:prstGeom prst="rect">
            <a:avLst/>
          </a:prstGeom>
          <a:solidFill>
            <a:srgbClr val="C97A0E"/>
          </a:solidFill>
        </p:spPr>
        <p:txBody>
          <a:bodyPr/>
          <a:lstStyle/>
          <a:p>
            <a:endParaRPr/>
          </a:p>
        </p:txBody>
      </p:sp>
      <p:sp>
        <p:nvSpPr>
          <p:cNvPr id="470" name="t469"/>
          <p:cNvSpPr txBox="1"/>
          <p:nvPr/>
        </p:nvSpPr>
        <p:spPr>
          <a:xfrm>
            <a:off x="566928" y="1866900"/>
            <a:ext cx="786384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/>
                <a:cs typeface="Trebuchet MS"/>
              </a:rPr>
              <a:t>1</a:t>
            </a:r>
          </a:p>
        </p:txBody>
      </p:sp>
      <p:sp>
        <p:nvSpPr>
          <p:cNvPr id="472" name="t471"/>
          <p:cNvSpPr txBox="1"/>
          <p:nvPr/>
        </p:nvSpPr>
        <p:spPr>
          <a:xfrm>
            <a:off x="1554480" y="2017776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700" b="1" dirty="0">
                <a:solidFill>
                  <a:srgbClr val="0B1F33"/>
                </a:solidFill>
                <a:latin typeface="Trebuchet MS"/>
                <a:cs typeface="Trebuchet MS"/>
              </a:rPr>
              <a:t>Infrastructure &amp; metadata</a:t>
            </a:r>
          </a:p>
        </p:txBody>
      </p:sp>
      <p:sp>
        <p:nvSpPr>
          <p:cNvPr id="474" name="t473"/>
          <p:cNvSpPr txBox="1"/>
          <p:nvPr/>
        </p:nvSpPr>
        <p:spPr>
          <a:xfrm>
            <a:off x="1554480" y="2410967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250" b="0" dirty="0">
                <a:solidFill>
                  <a:srgbClr val="5E7382"/>
                </a:solidFill>
                <a:latin typeface="Calibri"/>
                <a:cs typeface="Calibri"/>
              </a:rPr>
              <a:t>Conformance &amp; definition resources</a:t>
            </a:r>
          </a:p>
        </p:txBody>
      </p:sp>
      <p:cxnSp>
        <p:nvCxnSpPr>
          <p:cNvPr id="476" name="l475"/>
          <p:cNvCxnSpPr/>
          <p:nvPr/>
        </p:nvCxnSpPr>
        <p:spPr>
          <a:xfrm>
            <a:off x="6007608" y="2068067"/>
            <a:ext cx="0" cy="566928"/>
          </a:xfrm>
          <a:prstGeom prst="line">
            <a:avLst/>
          </a:prstGeom>
          <a:ln w="12700" cap="rnd">
            <a:solidFill>
              <a:srgbClr val="E2E8ED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478" name="t477"/>
          <p:cNvSpPr txBox="1"/>
          <p:nvPr/>
        </p:nvSpPr>
        <p:spPr>
          <a:xfrm>
            <a:off x="6236208" y="1866900"/>
            <a:ext cx="2926080" cy="9692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200" b="0" dirty="0">
                <a:solidFill>
                  <a:srgbClr val="33485A"/>
                </a:solidFill>
                <a:latin typeface="Consolas"/>
                <a:cs typeface="Consolas"/>
              </a:rPr>
              <a:t>CapabilityStatement · StructureDefinition · SearchParameter</a:t>
            </a:r>
          </a:p>
        </p:txBody>
      </p:sp>
      <p:sp>
        <p:nvSpPr>
          <p:cNvPr id="480" name="r479"/>
          <p:cNvSpPr/>
          <p:nvPr/>
        </p:nvSpPr>
        <p:spPr>
          <a:xfrm>
            <a:off x="9610344" y="1865376"/>
            <a:ext cx="2020824" cy="4288536"/>
          </a:xfrm>
          <a:prstGeom prst="roundRect">
            <a:avLst>
              <a:gd name="adj" fmla="val 2262"/>
            </a:avLst>
          </a:prstGeom>
          <a:solidFill>
            <a:srgbClr val="0B1F33"/>
          </a:solidFill>
        </p:spPr>
        <p:txBody>
          <a:bodyPr/>
          <a:lstStyle/>
          <a:p>
            <a:endParaRPr/>
          </a:p>
        </p:txBody>
      </p:sp>
      <p:sp>
        <p:nvSpPr>
          <p:cNvPr id="482" name="t481"/>
          <p:cNvSpPr txBox="1"/>
          <p:nvPr/>
        </p:nvSpPr>
        <p:spPr>
          <a:xfrm>
            <a:off x="9866376" y="2103120"/>
            <a:ext cx="15636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/>
                <a:cs typeface="Trebuchet MS"/>
              </a:rPr>
              <a:t>STILL COVERED</a:t>
            </a:r>
          </a:p>
        </p:txBody>
      </p:sp>
      <p:sp>
        <p:nvSpPr>
          <p:cNvPr id="484" name="t483"/>
          <p:cNvSpPr txBox="1"/>
          <p:nvPr/>
        </p:nvSpPr>
        <p:spPr>
          <a:xfrm>
            <a:off x="9866376" y="3017520"/>
            <a:ext cx="1563624" cy="1828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en-US" sz="1250" b="0" dirty="0">
                <a:solidFill>
                  <a:srgbClr val="9DB2C7"/>
                </a:solidFill>
                <a:latin typeface="Calibri"/>
                <a:cs typeface="Calibri"/>
              </a:rPr>
              <a:t>Patient, Observation, Encounter — unaffected.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  <a:buNone/>
            </a:pPr>
            <a:r>
              <a:rPr lang="en-US" sz="1250" b="1" dirty="0">
                <a:solidFill>
                  <a:srgbClr val="16C2AC"/>
                </a:solidFill>
                <a:latin typeface="Calibri"/>
                <a:cs typeface="Calibri"/>
              </a:rPr>
              <a:t>Validated STU3–R6. Money &amp; ElementDefinition next. #119</a:t>
            </a:r>
          </a:p>
        </p:txBody>
      </p:sp>
    </p:spTree>
    <p:extLst>
      <p:ext uri="{BB962C8B-B14F-4D97-AF65-F5344CB8AC3E}">
        <p14:creationId xmlns:p14="http://schemas.microsoft.com/office/powerpoint/2010/main" val="782846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r835"/>
          <p:cNvSpPr/>
          <p:nvPr/>
        </p:nvSpPr>
        <p:spPr>
          <a:xfrm>
            <a:off x="0" y="566928"/>
            <a:ext cx="12191695" cy="5760720"/>
          </a:xfrm>
          <a:prstGeom prst="rect">
            <a:avLst/>
          </a:prstGeom>
          <a:solidFill>
            <a:srgbClr val="0E1B2E"/>
          </a:solidFill>
        </p:spPr>
        <p:txBody>
          <a:bodyPr/>
          <a:lstStyle/>
          <a:p>
            <a:endParaRPr/>
          </a:p>
        </p:txBody>
      </p:sp>
      <p:sp>
        <p:nvSpPr>
          <p:cNvPr id="838" name="t837"/>
          <p:cNvSpPr txBox="1"/>
          <p:nvPr/>
        </p:nvSpPr>
        <p:spPr>
          <a:xfrm>
            <a:off x="566928" y="841248"/>
            <a:ext cx="11064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spc="280" dirty="0">
                <a:solidFill>
                  <a:srgbClr val="16C2AC"/>
                </a:solidFill>
                <a:latin typeface="Trebuchet MS"/>
                <a:cs typeface="Trebuchet MS"/>
              </a:rPr>
              <a:t>GET STARTED</a:t>
            </a:r>
          </a:p>
        </p:txBody>
      </p:sp>
      <p:sp>
        <p:nvSpPr>
          <p:cNvPr id="840" name="t839"/>
          <p:cNvSpPr txBox="1"/>
          <p:nvPr/>
        </p:nvSpPr>
        <p:spPr>
          <a:xfrm>
            <a:off x="566928" y="1133856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/>
                <a:cs typeface="Trebuchet MS"/>
              </a:rPr>
              <a:t>Try it.</a:t>
            </a:r>
          </a:p>
        </p:txBody>
      </p:sp>
      <p:sp>
        <p:nvSpPr>
          <p:cNvPr id="842" name="r841"/>
          <p:cNvSpPr/>
          <p:nvPr/>
        </p:nvSpPr>
        <p:spPr>
          <a:xfrm>
            <a:off x="566928" y="2240280"/>
            <a:ext cx="11064240" cy="1874520"/>
          </a:xfrm>
          <a:prstGeom prst="roundRect">
            <a:avLst>
              <a:gd name="adj" fmla="val 2195"/>
            </a:avLst>
          </a:prstGeom>
          <a:solidFill>
            <a:srgbClr val="0A1422"/>
          </a:solidFill>
          <a:ln w="12700">
            <a:solidFill>
              <a:srgbClr val="32507A"/>
            </a:solidFill>
          </a:ln>
          <a:effectLst>
            <a:outerShdw blurRad="90000" dist="38100" dir="5400000" rotWithShape="0">
              <a:srgbClr val="0B1F33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44" name="t843"/>
          <p:cNvSpPr txBox="1"/>
          <p:nvPr/>
        </p:nvSpPr>
        <p:spPr>
          <a:xfrm>
            <a:off x="950976" y="244144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library</a:t>
            </a:r>
          </a:p>
        </p:txBody>
      </p:sp>
      <p:sp>
        <p:nvSpPr>
          <p:cNvPr id="846" name="t845"/>
          <p:cNvSpPr txBox="1"/>
          <p:nvPr/>
        </p:nvSpPr>
        <p:spPr>
          <a:xfrm>
            <a:off x="950976" y="271576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dotnet add package Ignixa.FhirFakes</a:t>
            </a:r>
          </a:p>
        </p:txBody>
      </p:sp>
      <p:sp>
        <p:nvSpPr>
          <p:cNvPr id="848" name="t847"/>
          <p:cNvSpPr txBox="1"/>
          <p:nvPr/>
        </p:nvSpPr>
        <p:spPr>
          <a:xfrm>
            <a:off x="950976" y="3008376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CLI</a:t>
            </a:r>
          </a:p>
        </p:txBody>
      </p:sp>
      <p:sp>
        <p:nvSpPr>
          <p:cNvPr id="850" name="t849"/>
          <p:cNvSpPr txBox="1"/>
          <p:nvPr/>
        </p:nvSpPr>
        <p:spPr>
          <a:xfrm>
            <a:off x="950976" y="3282696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dotnet tool install -g Ignixa.FhirFakes.Cli</a:t>
            </a:r>
          </a:p>
        </p:txBody>
      </p:sp>
      <p:sp>
        <p:nvSpPr>
          <p:cNvPr id="852" name="t851"/>
          <p:cNvSpPr txBox="1"/>
          <p:nvPr/>
        </p:nvSpPr>
        <p:spPr>
          <a:xfrm>
            <a:off x="950976" y="3575304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0" dirty="0">
                <a:solidFill>
                  <a:srgbClr val="5C7488"/>
                </a:solidFill>
                <a:latin typeface="Consolas"/>
                <a:cs typeface="Consolas"/>
              </a:rPr>
              <a:t># generate your first patient</a:t>
            </a:r>
          </a:p>
        </p:txBody>
      </p:sp>
      <p:sp>
        <p:nvSpPr>
          <p:cNvPr id="854" name="t853"/>
          <p:cNvSpPr txBox="1"/>
          <p:nvPr/>
        </p:nvSpPr>
        <p:spPr>
          <a:xfrm>
            <a:off x="950976" y="3849624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16C2AC"/>
                </a:solidFill>
                <a:latin typeface="Consolas"/>
                <a:cs typeface="Consolas"/>
              </a:rPr>
              <a:t>$ </a:t>
            </a:r>
            <a:r>
              <a:rPr lang="en-US" sz="1300" b="0" dirty="0">
                <a:solidFill>
                  <a:srgbClr val="E6EDF3"/>
                </a:solidFill>
                <a:latin typeface="Consolas"/>
                <a:cs typeface="Consolas"/>
              </a:rPr>
              <a:t>ignixa-fakes r4 resource Patient --from Seattle --out ./output</a:t>
            </a:r>
          </a:p>
        </p:txBody>
      </p:sp>
      <p:sp>
        <p:nvSpPr>
          <p:cNvPr id="856" name="r855"/>
          <p:cNvSpPr/>
          <p:nvPr/>
        </p:nvSpPr>
        <p:spPr>
          <a:xfrm>
            <a:off x="56692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58" name="r857"/>
          <p:cNvSpPr/>
          <p:nvPr/>
        </p:nvSpPr>
        <p:spPr>
          <a:xfrm>
            <a:off x="56692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16C2AC"/>
          </a:solidFill>
        </p:spPr>
        <p:txBody>
          <a:bodyPr/>
          <a:lstStyle/>
          <a:p>
            <a:endParaRPr/>
          </a:p>
        </p:txBody>
      </p:sp>
      <p:sp>
        <p:nvSpPr>
          <p:cNvPr id="860" name="t859"/>
          <p:cNvSpPr txBox="1"/>
          <p:nvPr/>
        </p:nvSpPr>
        <p:spPr>
          <a:xfrm>
            <a:off x="84124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GitHub</a:t>
            </a:r>
          </a:p>
        </p:txBody>
      </p:sp>
      <p:sp>
        <p:nvSpPr>
          <p:cNvPr id="862" name="t861"/>
          <p:cNvSpPr txBox="1"/>
          <p:nvPr/>
        </p:nvSpPr>
        <p:spPr>
          <a:xfrm>
            <a:off x="84124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github.com/brendankowitz/ignixa-fhir</a:t>
            </a:r>
          </a:p>
        </p:txBody>
      </p:sp>
      <p:sp>
        <p:nvSpPr>
          <p:cNvPr id="864" name="r863"/>
          <p:cNvSpPr/>
          <p:nvPr/>
        </p:nvSpPr>
        <p:spPr>
          <a:xfrm>
            <a:off x="434644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6" name="r865"/>
          <p:cNvSpPr/>
          <p:nvPr/>
        </p:nvSpPr>
        <p:spPr>
          <a:xfrm>
            <a:off x="434644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8A6BF0"/>
          </a:solidFill>
        </p:spPr>
        <p:txBody>
          <a:bodyPr/>
          <a:lstStyle/>
          <a:p>
            <a:endParaRPr/>
          </a:p>
        </p:txBody>
      </p:sp>
      <p:sp>
        <p:nvSpPr>
          <p:cNvPr id="868" name="t867"/>
          <p:cNvSpPr txBox="1"/>
          <p:nvPr/>
        </p:nvSpPr>
        <p:spPr>
          <a:xfrm>
            <a:off x="462076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Docs</a:t>
            </a:r>
          </a:p>
        </p:txBody>
      </p:sp>
      <p:sp>
        <p:nvSpPr>
          <p:cNvPr id="870" name="t869"/>
          <p:cNvSpPr txBox="1"/>
          <p:nvPr/>
        </p:nvSpPr>
        <p:spPr>
          <a:xfrm>
            <a:off x="462076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  <a:hlinkClick r:id="rId2"/>
              </a:rPr>
              <a:t>brendankowitz.github.io/ignixa-fhir</a:t>
            </a:r>
            <a:endParaRPr lang="en-US" sz="1150" b="0" dirty="0">
              <a:solidFill>
                <a:srgbClr val="9DB2C7"/>
              </a:solidFill>
              <a:latin typeface="Calibri"/>
              <a:cs typeface="Calibri"/>
            </a:endParaRPr>
          </a:p>
        </p:txBody>
      </p:sp>
      <p:sp>
        <p:nvSpPr>
          <p:cNvPr id="872" name="r871"/>
          <p:cNvSpPr/>
          <p:nvPr/>
        </p:nvSpPr>
        <p:spPr>
          <a:xfrm>
            <a:off x="8125968" y="4389120"/>
            <a:ext cx="3505200" cy="1078992"/>
          </a:xfrm>
          <a:prstGeom prst="roundRect">
            <a:avLst>
              <a:gd name="adj" fmla="val 5932"/>
            </a:avLst>
          </a:prstGeom>
          <a:solidFill>
            <a:srgbClr val="16263E"/>
          </a:solidFill>
          <a:ln w="12700">
            <a:solidFill>
              <a:srgbClr val="32507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4" name="r873"/>
          <p:cNvSpPr/>
          <p:nvPr/>
        </p:nvSpPr>
        <p:spPr>
          <a:xfrm>
            <a:off x="8125968" y="4389120"/>
            <a:ext cx="68580" cy="1078992"/>
          </a:xfrm>
          <a:prstGeom prst="roundRect">
            <a:avLst>
              <a:gd name="adj" fmla="val 50000"/>
            </a:avLst>
          </a:prstGeom>
          <a:solidFill>
            <a:srgbClr val="F2A93B"/>
          </a:solidFill>
        </p:spPr>
        <p:txBody>
          <a:bodyPr/>
          <a:lstStyle/>
          <a:p>
            <a:endParaRPr/>
          </a:p>
        </p:txBody>
      </p:sp>
      <p:sp>
        <p:nvSpPr>
          <p:cNvPr id="876" name="t875"/>
          <p:cNvSpPr txBox="1"/>
          <p:nvPr/>
        </p:nvSpPr>
        <p:spPr>
          <a:xfrm>
            <a:off x="8400288" y="4590288"/>
            <a:ext cx="3093720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/>
                <a:cs typeface="Trebuchet MS"/>
              </a:rPr>
              <a:t>License</a:t>
            </a:r>
          </a:p>
        </p:txBody>
      </p:sp>
      <p:sp>
        <p:nvSpPr>
          <p:cNvPr id="878" name="t877"/>
          <p:cNvSpPr txBox="1"/>
          <p:nvPr/>
        </p:nvSpPr>
        <p:spPr>
          <a:xfrm>
            <a:off x="8400288" y="4974336"/>
            <a:ext cx="309372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</a:pPr>
            <a:r>
              <a:rPr lang="en-US" sz="1150" b="0" dirty="0">
                <a:solidFill>
                  <a:srgbClr val="9DB2C7"/>
                </a:solidFill>
                <a:latin typeface="Calibri"/>
                <a:cs typeface="Calibri"/>
              </a:rPr>
              <a:t>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841320" y="1043640"/>
            <a:ext cx="10515240" cy="886320"/>
          </a:xfrm>
          <a:prstGeom prst="rect">
            <a:avLst/>
          </a:prstGeom>
          <a:noFill/>
          <a:ln w="0">
            <a:noFill/>
          </a:ln>
        </p:spPr>
        <p:txBody>
          <a:bodyPr lIns="0" tIns="45000" rIns="90000" bIns="45000" anchor="t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600" b="0" strike="noStrike" spc="-1">
                <a:solidFill>
                  <a:srgbClr val="0091B9"/>
                </a:solidFill>
                <a:latin typeface="Calibri"/>
                <a:ea typeface="Calibri"/>
              </a:rPr>
              <a:t>Contact</a:t>
            </a:r>
            <a:endParaRPr lang="en-US" sz="36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986C1D-2F4D-6C4D-1948-D4732F423D6C}"/>
              </a:ext>
            </a:extLst>
          </p:cNvPr>
          <p:cNvSpPr/>
          <p:nvPr/>
        </p:nvSpPr>
        <p:spPr>
          <a:xfrm>
            <a:off x="841320" y="2194560"/>
            <a:ext cx="731484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600" b="0" strike="noStrike" spc="-1">
                <a:solidFill>
                  <a:srgbClr val="444A4D"/>
                </a:solidFill>
                <a:latin typeface="Calibri"/>
              </a:rPr>
              <a:t>You can find / reach me here: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1CE07328-5C89-6FDD-900B-63533338704B}"/>
              </a:ext>
            </a:extLst>
          </p:cNvPr>
          <p:cNvSpPr/>
          <p:nvPr/>
        </p:nvSpPr>
        <p:spPr>
          <a:xfrm>
            <a:off x="841320" y="54737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AA6B97F-7E63-774A-3FD2-5D3D467CAA82}"/>
              </a:ext>
            </a:extLst>
          </p:cNvPr>
          <p:cNvSpPr/>
          <p:nvPr/>
        </p:nvSpPr>
        <p:spPr>
          <a:xfrm>
            <a:off x="841320" y="55372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" name="Picture 5" descr="github.png">
            <a:extLst>
              <a:ext uri="{FF2B5EF4-FFF2-40B4-BE49-F238E27FC236}">
                <a16:creationId xmlns:a16="http://schemas.microsoft.com/office/drawing/2014/main" id="{766B1BAE-8CD6-A7D8-705A-0962C0DBAA3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1115640" y="5676900"/>
            <a:ext cx="456840" cy="456840"/>
          </a:xfrm>
          <a:prstGeom prst="rect">
            <a:avLst/>
          </a:prstGeom>
          <a:ln w="0">
            <a:noFill/>
          </a:ln>
        </p:spPr>
      </p:pic>
      <p:sp>
        <p:nvSpPr>
          <p:cNvPr id="11" name="TextBox 6">
            <a:extLst>
              <a:ext uri="{FF2B5EF4-FFF2-40B4-BE49-F238E27FC236}">
                <a16:creationId xmlns:a16="http://schemas.microsoft.com/office/drawing/2014/main" id="{06C1A22D-45A1-4C8B-715C-DA8821A1F535}"/>
              </a:ext>
            </a:extLst>
          </p:cNvPr>
          <p:cNvSpPr/>
          <p:nvPr/>
        </p:nvSpPr>
        <p:spPr>
          <a:xfrm>
            <a:off x="1801440" y="56261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</a:rPr>
              <a:t>GitHub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22DB453B-53B7-3501-6836-6602DB235298}"/>
              </a:ext>
            </a:extLst>
          </p:cNvPr>
          <p:cNvSpPr/>
          <p:nvPr/>
        </p:nvSpPr>
        <p:spPr>
          <a:xfrm>
            <a:off x="1801440" y="59563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b="0" strike="noStrike" spc="-1">
                <a:solidFill>
                  <a:srgbClr val="006E8C"/>
                </a:solidFill>
                <a:latin typeface="Consolas"/>
              </a:rPr>
              <a:t>github.com/brendankowitz/ignixa-fhir</a:t>
            </a:r>
            <a:endParaRPr lang="en-US" sz="12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73D4D013-B4FA-07AA-06D2-5540B48A230C}"/>
              </a:ext>
            </a:extLst>
          </p:cNvPr>
          <p:cNvSpPr/>
          <p:nvPr/>
        </p:nvSpPr>
        <p:spPr>
          <a:xfrm>
            <a:off x="841320" y="25400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E93FAF09-3EE8-E65B-04BC-D016E0F88DAD}"/>
              </a:ext>
            </a:extLst>
          </p:cNvPr>
          <p:cNvSpPr/>
          <p:nvPr/>
        </p:nvSpPr>
        <p:spPr>
          <a:xfrm>
            <a:off x="841320" y="25908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FA9E4395-8E0A-1555-0EC9-3625323B1B4A}"/>
              </a:ext>
            </a:extLst>
          </p:cNvPr>
          <p:cNvSpPr/>
          <p:nvPr/>
        </p:nvSpPr>
        <p:spPr>
          <a:xfrm>
            <a:off x="1801440" y="26797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Speaker's Gallery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705D5A98-A206-AC50-7F73-1DB20B181157}"/>
              </a:ext>
            </a:extLst>
          </p:cNvPr>
          <p:cNvSpPr/>
          <p:nvPr/>
        </p:nvSpPr>
        <p:spPr>
          <a:xfrm>
            <a:off x="1801440" y="30099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strike="noStrike" spc="-1">
                <a:solidFill>
                  <a:srgbClr val="006E8C"/>
                </a:solidFill>
                <a:latin typeface="Calibri"/>
                <a:ea typeface="Calibri"/>
                <a:cs typeface="Calibri"/>
              </a:rPr>
              <a:t>Via the DevDays app</a:t>
            </a:r>
          </a:p>
        </p:txBody>
      </p:sp>
      <p:sp>
        <p:nvSpPr>
          <p:cNvPr id="23" name="Rounded Rectangle 13">
            <a:extLst>
              <a:ext uri="{FF2B5EF4-FFF2-40B4-BE49-F238E27FC236}">
                <a16:creationId xmlns:a16="http://schemas.microsoft.com/office/drawing/2014/main" id="{7C151271-B6E0-0229-60AD-303AA0CDEC4E}"/>
              </a:ext>
            </a:extLst>
          </p:cNvPr>
          <p:cNvSpPr/>
          <p:nvPr/>
        </p:nvSpPr>
        <p:spPr>
          <a:xfrm>
            <a:off x="841320" y="3517900"/>
            <a:ext cx="7680600" cy="868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1"/>
            </a:solidFill>
          </a:ln>
          <a:effectLst>
            <a:outerShdw blurRad="90000" dist="38160" dir="5400000" rotWithShape="0">
              <a:srgbClr val="1B2A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7C52DF00-B5AD-5A83-62AC-49A734A15CD7}"/>
              </a:ext>
            </a:extLst>
          </p:cNvPr>
          <p:cNvSpPr/>
          <p:nvPr/>
        </p:nvSpPr>
        <p:spPr>
          <a:xfrm>
            <a:off x="841320" y="3568700"/>
            <a:ext cx="63720" cy="758520"/>
          </a:xfrm>
          <a:prstGeom prst="rect">
            <a:avLst/>
          </a:prstGeom>
          <a:solidFill>
            <a:srgbClr val="00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BDD7DB1D-5D8B-727F-468A-73C3FAEBA0F4}"/>
              </a:ext>
            </a:extLst>
          </p:cNvPr>
          <p:cNvSpPr/>
          <p:nvPr/>
        </p:nvSpPr>
        <p:spPr>
          <a:xfrm>
            <a:off x="1801440" y="3657600"/>
            <a:ext cx="640044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500" b="1" strike="noStrike" spc="-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Email</a:t>
            </a:r>
          </a:p>
        </p:txBody>
      </p:sp>
      <p:sp>
        <p:nvSpPr>
          <p:cNvPr id="29" name="TextBox 17">
            <a:extLst>
              <a:ext uri="{FF2B5EF4-FFF2-40B4-BE49-F238E27FC236}">
                <a16:creationId xmlns:a16="http://schemas.microsoft.com/office/drawing/2014/main" id="{918BF176-7706-1F57-F633-22F772A55B85}"/>
              </a:ext>
            </a:extLst>
          </p:cNvPr>
          <p:cNvSpPr/>
          <p:nvPr/>
        </p:nvSpPr>
        <p:spPr>
          <a:xfrm>
            <a:off x="1801440" y="3987800"/>
            <a:ext cx="6400440" cy="19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914400">
              <a:lnSpc>
                <a:spcPct val="100000"/>
              </a:lnSpc>
              <a:spcAft>
                <a:spcPts val="201"/>
              </a:spcAft>
            </a:pPr>
            <a:r>
              <a:rPr lang="en-US" sz="1250" strike="noStrike" spc="-1" dirty="0">
                <a:solidFill>
                  <a:srgbClr val="006E8C"/>
                </a:solidFill>
                <a:latin typeface="Consolas"/>
              </a:rPr>
              <a:t>bkowitz@microsoft.com</a:t>
            </a:r>
          </a:p>
        </p:txBody>
      </p:sp>
      <p:sp>
        <p:nvSpPr>
          <p:cNvPr id="31" name="BskyCard">
            <a:extLst>
              <a:ext uri="{FF2B5EF4-FFF2-40B4-BE49-F238E27FC236}">
                <a16:creationId xmlns:a16="http://schemas.microsoft.com/office/drawing/2014/main" id="{F00CC6C9-94F1-638F-CC46-3F9AB6A2D8CC}"/>
              </a:ext>
            </a:extLst>
          </p:cNvPr>
          <p:cNvSpPr/>
          <p:nvPr/>
        </p:nvSpPr>
        <p:spPr>
          <a:xfrm>
            <a:off x="838200" y="4495800"/>
            <a:ext cx="7683500" cy="8636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BskyBar">
            <a:extLst>
              <a:ext uri="{FF2B5EF4-FFF2-40B4-BE49-F238E27FC236}">
                <a16:creationId xmlns:a16="http://schemas.microsoft.com/office/drawing/2014/main" id="{6CB31C10-0A21-988F-5647-7A048937F602}"/>
              </a:ext>
            </a:extLst>
          </p:cNvPr>
          <p:cNvSpPr/>
          <p:nvPr/>
        </p:nvSpPr>
        <p:spPr>
          <a:xfrm>
            <a:off x="838200" y="4559300"/>
            <a:ext cx="63500" cy="762000"/>
          </a:xfrm>
          <a:prstGeom prst="rect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5" name="BskyTitle">
            <a:extLst>
              <a:ext uri="{FF2B5EF4-FFF2-40B4-BE49-F238E27FC236}">
                <a16:creationId xmlns:a16="http://schemas.microsoft.com/office/drawing/2014/main" id="{B2FE08B8-4A42-A26E-C89C-98B67D900CE5}"/>
              </a:ext>
            </a:extLst>
          </p:cNvPr>
          <p:cNvSpPr txBox="1"/>
          <p:nvPr/>
        </p:nvSpPr>
        <p:spPr>
          <a:xfrm>
            <a:off x="1803400" y="4648200"/>
            <a:ext cx="6400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500" b="1">
                <a:solidFill>
                  <a:srgbClr val="222A2E"/>
                </a:solidFill>
                <a:latin typeface="Calibri"/>
                <a:ea typeface="Calibri"/>
                <a:cs typeface="Calibri"/>
              </a:rPr>
              <a:t>Bluesky</a:t>
            </a:r>
          </a:p>
        </p:txBody>
      </p:sp>
      <p:sp>
        <p:nvSpPr>
          <p:cNvPr id="37" name="BskySub">
            <a:extLst>
              <a:ext uri="{FF2B5EF4-FFF2-40B4-BE49-F238E27FC236}">
                <a16:creationId xmlns:a16="http://schemas.microsoft.com/office/drawing/2014/main" id="{2D5CBABA-8FC5-0A21-CB85-AF515814D3CC}"/>
              </a:ext>
            </a:extLst>
          </p:cNvPr>
          <p:cNvSpPr txBox="1"/>
          <p:nvPr/>
        </p:nvSpPr>
        <p:spPr>
          <a:xfrm>
            <a:off x="1803400" y="4978400"/>
            <a:ext cx="6400800" cy="190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250">
                <a:solidFill>
                  <a:srgbClr val="006E8C"/>
                </a:solidFill>
                <a:latin typeface="Consolas"/>
              </a:rPr>
              <a:t>@brendankowitz.bsky.social</a:t>
            </a:r>
          </a:p>
        </p:txBody>
      </p:sp>
      <p:pic>
        <p:nvPicPr>
          <p:cNvPr id="39" name="Graphic 378" descr="Email icon">
            <a:extLst>
              <a:ext uri="{FF2B5EF4-FFF2-40B4-BE49-F238E27FC236}">
                <a16:creationId xmlns:a16="http://schemas.microsoft.com/office/drawing/2014/main" id="{4856917A-E0AC-30AB-D07F-2C41713E9A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7600" y="3721100"/>
            <a:ext cx="457200" cy="457200"/>
          </a:xfrm>
          <a:prstGeom prst="rect">
            <a:avLst/>
          </a:prstGeom>
        </p:spPr>
      </p:pic>
      <p:pic>
        <p:nvPicPr>
          <p:cNvPr id="41" name="BlueskyLogo">
            <a:extLst>
              <a:ext uri="{FF2B5EF4-FFF2-40B4-BE49-F238E27FC236}">
                <a16:creationId xmlns:a16="http://schemas.microsoft.com/office/drawing/2014/main" id="{2582AF19-3FF5-0879-11E7-75655E002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00" y="4724400"/>
            <a:ext cx="482600" cy="419100"/>
          </a:xfrm>
          <a:prstGeom prst="rect">
            <a:avLst/>
          </a:prstGeom>
        </p:spPr>
      </p:pic>
      <p:sp>
        <p:nvSpPr>
          <p:cNvPr id="43" name="HeadCircle">
            <a:extLst>
              <a:ext uri="{FF2B5EF4-FFF2-40B4-BE49-F238E27FC236}">
                <a16:creationId xmlns:a16="http://schemas.microsoft.com/office/drawing/2014/main" id="{02BB85DA-2110-E8AD-BE40-3C8713C8DFD9}"/>
              </a:ext>
            </a:extLst>
          </p:cNvPr>
          <p:cNvSpPr/>
          <p:nvPr/>
        </p:nvSpPr>
        <p:spPr>
          <a:xfrm>
            <a:off x="1257300" y="2743200"/>
            <a:ext cx="190500" cy="190500"/>
          </a:xfrm>
          <a:prstGeom prst="ellipse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5" name="HeadBody">
            <a:extLst>
              <a:ext uri="{FF2B5EF4-FFF2-40B4-BE49-F238E27FC236}">
                <a16:creationId xmlns:a16="http://schemas.microsoft.com/office/drawing/2014/main" id="{446873C3-DA27-77AA-11CB-C01F6BBBBE64}"/>
              </a:ext>
            </a:extLst>
          </p:cNvPr>
          <p:cNvSpPr/>
          <p:nvPr/>
        </p:nvSpPr>
        <p:spPr>
          <a:xfrm>
            <a:off x="1155700" y="2933700"/>
            <a:ext cx="393700" cy="228600"/>
          </a:xfrm>
          <a:prstGeom prst="trapezoid">
            <a:avLst/>
          </a:prstGeom>
          <a:solidFill>
            <a:srgbClr val="0091B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406A7-423D-897B-9C01-5B9B07CB8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E3342-DCF0-4B89-A727-A52A53BE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DCD59B-DB00-D6F4-ADF7-D046A34F2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11020426" cy="4225143"/>
          </a:xfrm>
        </p:spPr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6533335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80914-D3A0-C488-B986-BC1E8D95E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FD873-805E-0520-5D5B-98A361E08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Feedback</a:t>
            </a:r>
            <a:endParaRPr lang="en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5B61A-DD9A-93C6-67EB-5421DB8A38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199" y="1997236"/>
            <a:ext cx="6515101" cy="4225143"/>
          </a:xfrm>
        </p:spPr>
        <p:txBody>
          <a:bodyPr/>
          <a:lstStyle/>
          <a:p>
            <a:r>
              <a:rPr lang="en-US" dirty="0"/>
              <a:t>Enjoyed this talk? I’d love your feedback — it genuinely helps. </a:t>
            </a:r>
            <a:br>
              <a:rPr lang="en-US" dirty="0"/>
            </a:br>
            <a:r>
              <a:rPr lang="en-US" dirty="0"/>
              <a:t>Scan the QR code, or visit:</a:t>
            </a:r>
          </a:p>
          <a:p>
            <a:r>
              <a:rPr lang="nl-NL" dirty="0">
                <a:hlinkClick r:id="rId2"/>
              </a:rPr>
              <a:t>https://www.devdays.com/feedback/</a:t>
            </a:r>
            <a:endParaRPr lang="nl-NL" sz="2400" dirty="0"/>
          </a:p>
          <a:p>
            <a:endParaRPr lang="en-NL" dirty="0"/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1F0A7CE0-A52B-A41A-FD5C-ABB2F7373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651" y="1022040"/>
            <a:ext cx="4304149" cy="5200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427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8123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>
          <a:defRPr sz="3000" b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34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3861DC-D99A-477D-8AEC-B48AA375F768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2a74753-ae63-4947-b5e1-20dfae39778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17106</TotalTime>
  <Words>1926</Words>
  <Application>Microsoft Office PowerPoint</Application>
  <PresentationFormat>Widescreen</PresentationFormat>
  <Paragraphs>330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Arial</vt:lpstr>
      <vt:lpstr>Calibri</vt:lpstr>
      <vt:lpstr>Consolas</vt:lpstr>
      <vt:lpstr>Open Sans</vt:lpstr>
      <vt:lpstr>Open Sans Semibold</vt:lpstr>
      <vt:lpstr>Roboto</vt:lpstr>
      <vt:lpstr>Times New Roman</vt:lpstr>
      <vt:lpstr>Trebuchet MS</vt:lpstr>
      <vt:lpstr>Office Theme</vt:lpstr>
      <vt:lpstr>Brendan Kowitz, Microsoft</vt:lpstr>
      <vt:lpstr>Who am I?</vt:lpstr>
      <vt:lpstr>PowerPoint Presentation</vt:lpstr>
      <vt:lpstr>PowerPoint Presentation</vt:lpstr>
      <vt:lpstr>PowerPoint Presentation</vt:lpstr>
      <vt:lpstr>What is “Ignixa”</vt:lpstr>
      <vt:lpstr>Modular. Pick what you need.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Contact</vt:lpstr>
      <vt:lpstr>Q&amp;A</vt:lpstr>
      <vt:lpstr>Feedback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Marita</dc:creator>
  <cp:keywords/>
  <dc:description/>
  <cp:lastModifiedBy>Brendan Kowitz</cp:lastModifiedBy>
  <cp:revision>278</cp:revision>
  <dcterms:created xsi:type="dcterms:W3CDTF">2017-07-13T07:33:22Z</dcterms:created>
  <dcterms:modified xsi:type="dcterms:W3CDTF">2026-06-17T12:50:12Z</dcterms:modified>
  <cp:category/>
</cp:coreProperties>
</file>